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33"/>
  </p:notesMasterIdLst>
  <p:handoutMasterIdLst>
    <p:handoutMasterId r:id="rId34"/>
  </p:handoutMasterIdLst>
  <p:sldIdLst>
    <p:sldId id="256" r:id="rId2"/>
    <p:sldId id="267" r:id="rId3"/>
    <p:sldId id="257" r:id="rId4"/>
    <p:sldId id="258" r:id="rId5"/>
    <p:sldId id="260" r:id="rId6"/>
    <p:sldId id="262" r:id="rId7"/>
    <p:sldId id="261" r:id="rId8"/>
    <p:sldId id="263" r:id="rId9"/>
    <p:sldId id="264" r:id="rId10"/>
    <p:sldId id="266" r:id="rId11"/>
    <p:sldId id="265" r:id="rId12"/>
    <p:sldId id="259"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074"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Gill Sans MT" pitchFamily="34" charset="0"/>
              </a:defRPr>
            </a:lvl1pPr>
          </a:lstStyle>
          <a:p>
            <a:pPr>
              <a:defRPr/>
            </a:pPr>
            <a:endParaRPr lang="en-US"/>
          </a:p>
        </p:txBody>
      </p:sp>
      <p:sp>
        <p:nvSpPr>
          <p:cNvPr id="307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Gill Sans MT" pitchFamily="34" charset="0"/>
              </a:defRPr>
            </a:lvl1pPr>
          </a:lstStyle>
          <a:p>
            <a:pPr>
              <a:defRPr/>
            </a:pPr>
            <a:fld id="{0EDD6634-A4A6-4E08-8B81-3F33C45DCACB}" type="datetimeFigureOut">
              <a:rPr lang="en-US"/>
              <a:pPr>
                <a:defRPr/>
              </a:pPr>
              <a:t>2/27/2012</a:t>
            </a:fld>
            <a:endParaRPr lang="en-US"/>
          </a:p>
        </p:txBody>
      </p:sp>
      <p:sp>
        <p:nvSpPr>
          <p:cNvPr id="307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ill Sans MT" pitchFamily="34" charset="0"/>
              </a:defRPr>
            </a:lvl1pPr>
          </a:lstStyle>
          <a:p>
            <a:pPr>
              <a:defRPr/>
            </a:pPr>
            <a:endParaRPr lang="en-US"/>
          </a:p>
        </p:txBody>
      </p:sp>
      <p:sp>
        <p:nvSpPr>
          <p:cNvPr id="307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ill Sans MT" pitchFamily="34" charset="0"/>
              </a:defRPr>
            </a:lvl1pPr>
          </a:lstStyle>
          <a:p>
            <a:pPr>
              <a:defRPr/>
            </a:pPr>
            <a:fld id="{AE64A5A3-9C26-4156-880F-3CAD2C5BCEC8}"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73989DF-CFAB-4010-8906-9F6B24723CED}" type="datetimeFigureOut">
              <a:rPr lang="en-US"/>
              <a:pPr>
                <a:defRPr/>
              </a:pPr>
              <a:t>2/27/2012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1BAB1CC4-7639-4590-8A5D-B4753BC7338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D0C369F-8B07-4275-941A-A71E10637040}" type="slidenum">
              <a:rPr lang="en-US" smtClean="0"/>
              <a:pPr/>
              <a:t>14</a:t>
            </a:fld>
            <a:endParaRPr lang="en-US" smtClean="0"/>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58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Brief intro on my background and where I fit in the generational spectrum</a:t>
            </a:r>
          </a:p>
          <a:p>
            <a:pPr eaLnBrk="1" hangingPunct="1">
              <a:spcBef>
                <a:spcPct val="0"/>
              </a:spcBef>
            </a:pPr>
            <a:r>
              <a:rPr lang="en-US" smtClean="0"/>
              <a:t>Why I was asked to participate in this conference</a:t>
            </a:r>
          </a:p>
          <a:p>
            <a:pPr eaLnBrk="1" hangingPunct="1">
              <a:spcBef>
                <a:spcPct val="0"/>
              </a:spcBef>
            </a:pPr>
            <a:r>
              <a:rPr lang="en-US" smtClean="0"/>
              <a:t>Explain who I am referring to when I say “they” during this talk – Despite not being a true Gen Y-er myself, I’m going to weight that reference towards the younger residents and soon-to-be residents - the Gen Y.</a:t>
            </a:r>
          </a:p>
          <a:p>
            <a:pPr eaLnBrk="1" hangingPunct="1">
              <a:spcBef>
                <a:spcPct val="0"/>
              </a:spcBef>
            </a:pPr>
            <a:endParaRPr lang="en-US" smtClean="0"/>
          </a:p>
          <a:p>
            <a:pPr eaLnBrk="1" hangingPunct="1">
              <a:spcBef>
                <a:spcPct val="0"/>
              </a:spcBef>
            </a:pPr>
            <a:r>
              <a:rPr lang="en-US" smtClean="0"/>
              <a:t>Through this presentation, our hope is that you will reflect on where you fit in the generational spectrum and gain an appreciation of the issues affected by generational differences.</a:t>
            </a:r>
          </a:p>
          <a:p>
            <a:pPr eaLnBrk="1" hangingPunct="1">
              <a:spcBef>
                <a:spcPct val="0"/>
              </a:spcBef>
            </a:pPr>
            <a:r>
              <a:rPr lang="en-US" smtClean="0"/>
              <a:t>While we most certainly share interests in common goals, style differences can create gaps.  </a:t>
            </a:r>
          </a:p>
          <a:p>
            <a:pPr eaLnBrk="1" hangingPunct="1">
              <a:spcBef>
                <a:spcPct val="0"/>
              </a:spcBef>
            </a:pPr>
            <a:endParaRPr lang="en-US" sz="900" smtClean="0"/>
          </a:p>
          <a:p>
            <a:pPr eaLnBrk="1" hangingPunct="1">
              <a:spcBef>
                <a:spcPct val="0"/>
              </a:spcBef>
            </a:pPr>
            <a:r>
              <a:rPr lang="en-US" sz="900" smtClean="0"/>
              <a:t>I want to talk through how some of these gaps play out in the daily life of a resident.</a:t>
            </a:r>
            <a:endParaRPr lang="en-US" smtClean="0"/>
          </a:p>
          <a:p>
            <a:pPr eaLnBrk="1" hangingPunct="1">
              <a:spcBef>
                <a:spcPct val="0"/>
              </a:spcBef>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44CF1B4-1F80-4004-A650-92A158262411}" type="slidenum">
              <a:rPr lang="en-US" smtClean="0"/>
              <a:pPr/>
              <a:t>15</a:t>
            </a:fld>
            <a:endParaRPr lang="en-US" smtClean="0"/>
          </a:p>
        </p:txBody>
      </p:sp>
      <p:sp>
        <p:nvSpPr>
          <p:cNvPr id="368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68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Let’s talk about the resident experience with regard to these five categories of resident activity.</a:t>
            </a:r>
          </a:p>
          <a:p>
            <a:pPr eaLnBrk="1" hangingPunct="1">
              <a:spcBef>
                <a:spcPct val="0"/>
              </a:spcBef>
            </a:pPr>
            <a:endParaRPr lang="en-US" smtClean="0"/>
          </a:p>
          <a:p>
            <a:pPr eaLnBrk="1" hangingPunct="1">
              <a:spcBef>
                <a:spcPct val="0"/>
              </a:spcBef>
            </a:pPr>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B265A9F-1454-45BF-B427-3A2AD841F5D4}" type="slidenum">
              <a:rPr lang="en-US" smtClean="0"/>
              <a:pPr/>
              <a:t>16</a:t>
            </a:fld>
            <a:endParaRPr lang="en-US" smtClean="0"/>
          </a:p>
        </p:txBody>
      </p:sp>
      <p:sp>
        <p:nvSpPr>
          <p:cNvPr id="37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7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In order to understand how the new generation of physicians will learn best, we have to look at the qualities of their education up until now.  How have younger residents been learning before they enter residency?  What are the unique factors in how this generation learns compared to previous generations?</a:t>
            </a:r>
          </a:p>
          <a:p>
            <a:pPr eaLnBrk="1" hangingPunct="1">
              <a:spcBef>
                <a:spcPct val="0"/>
              </a:spcBef>
            </a:pPr>
            <a:endParaRPr lang="en-US" smtClean="0"/>
          </a:p>
          <a:p>
            <a:pPr eaLnBrk="1" hangingPunct="1">
              <a:spcBef>
                <a:spcPct val="0"/>
              </a:spcBef>
            </a:pPr>
            <a:r>
              <a:rPr lang="en-US" smtClean="0"/>
              <a:t>1. Multitasking is a given – the era of studying quietly in the library or passively acquiring knowledge through hours of PowerPoint-delivered didactic material is passed.  Most Y-ers are accustomed to doing their work while listening to music, intermittently carrying on multiple conversations via email or text, and often working on multiple projects at one time.</a:t>
            </a:r>
          </a:p>
          <a:p>
            <a:pPr eaLnBrk="1" hangingPunct="1">
              <a:spcBef>
                <a:spcPct val="0"/>
              </a:spcBef>
            </a:pPr>
            <a:r>
              <a:rPr lang="en-US" smtClean="0"/>
              <a:t>Time will tell if this is sustainable or if productivity is compromised, but for now the younger residents will expect to work and learn in an environment that allows them to continue this multifaceted approach to tasks of the day.</a:t>
            </a:r>
          </a:p>
          <a:p>
            <a:pPr eaLnBrk="1" hangingPunct="1">
              <a:spcBef>
                <a:spcPct val="0"/>
              </a:spcBef>
            </a:pPr>
            <a:r>
              <a:rPr lang="en-US" smtClean="0"/>
              <a:t>2. Visually oriented.  Maybe we can blame it on the video games, but this generation is most highly engaged by learning sessions that include visual interest.  The entertainment factor is weighted much more heavily by this group.</a:t>
            </a:r>
          </a:p>
          <a:p>
            <a:pPr eaLnBrk="1" hangingPunct="1">
              <a:spcBef>
                <a:spcPct val="0"/>
              </a:spcBef>
            </a:pPr>
            <a:r>
              <a:rPr lang="en-US" smtClean="0"/>
              <a:t>3. Want to be approached more as partners or as part of a collaborative group - more conversation/discussion and less formal presentation.  They say ‘show me how you use this info and let’s talk about it’ rather than ‘just tell me how to think about this topic’.</a:t>
            </a:r>
          </a:p>
          <a:p>
            <a:pPr eaLnBrk="1" hangingPunct="1">
              <a:spcBef>
                <a:spcPct val="0"/>
              </a:spcBef>
            </a:pPr>
            <a:r>
              <a:rPr lang="en-US" smtClean="0"/>
              <a:t>4. Generally do not learn well under pressure; do not see value in micromanagement; and will actually choose to avoid environments (i.e. not show up) if this is the tone</a:t>
            </a:r>
          </a:p>
          <a:p>
            <a:pPr eaLnBrk="1" hangingPunct="1">
              <a:spcBef>
                <a:spcPct val="0"/>
              </a:spcBef>
            </a:pPr>
            <a:r>
              <a:rPr lang="en-US" smtClean="0"/>
              <a:t>5. Research has shown that, partly because they were raised by doting – and often overprotective - parents who attended to their needs and tried to cushion the challenges they encountered, Generation Y learners are less introspective and resourceful, requiring more external structuring to be successful.</a:t>
            </a:r>
          </a:p>
          <a:p>
            <a:pPr eaLnBrk="1" hangingPunct="1">
              <a:spcBef>
                <a:spcPct val="0"/>
              </a:spcBef>
            </a:pPr>
            <a:r>
              <a:rPr lang="en-US" smtClean="0"/>
              <a:t>At the same time, once the structure is provided, they yearn for flexibility in how the task is accomplished and autonomy to learn in their preferred format.</a:t>
            </a:r>
          </a:p>
          <a:p>
            <a:pPr eaLnBrk="1" hangingPunct="1">
              <a:spcBef>
                <a:spcPct val="0"/>
              </a:spcBef>
            </a:pPr>
            <a:r>
              <a:rPr lang="en-US" smtClean="0"/>
              <a:t> </a:t>
            </a:r>
          </a:p>
          <a:p>
            <a:pPr eaLnBrk="1" hangingPunct="1">
              <a:spcBef>
                <a:spcPct val="0"/>
              </a:spcBef>
            </a:pPr>
            <a:r>
              <a:rPr lang="en-US" smtClean="0"/>
              <a:t>How does this play out when these preferences for learning are brought into the current academic setting for structured learning?  </a:t>
            </a:r>
          </a:p>
          <a:p>
            <a:pPr eaLnBrk="1" hangingPunct="1">
              <a:spcBef>
                <a:spcPct val="0"/>
              </a:spcBef>
            </a:pPr>
            <a:r>
              <a:rPr lang="en-US" smtClean="0"/>
              <a:t>There tends to be tension for both instructors and students.  Often there becomes need for ‘punishment’ to force compliance with our current structure while we try to hold on to the older paradigms.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C7CA7260-EDE9-4059-A3FE-83642A2DBFE6}" type="slidenum">
              <a:rPr lang="en-US" smtClean="0"/>
              <a:pPr/>
              <a:t>17</a:t>
            </a:fld>
            <a:endParaRPr lang="en-US" smtClean="0"/>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The clinical setting is often an area where there are both shared frustrations across the generations as well as the most noticeable clashes in interpersonal styles.</a:t>
            </a:r>
          </a:p>
          <a:p>
            <a:pPr eaLnBrk="1" hangingPunct="1">
              <a:spcBef>
                <a:spcPct val="0"/>
              </a:spcBef>
            </a:pPr>
            <a:endParaRPr lang="en-US" smtClean="0"/>
          </a:p>
          <a:p>
            <a:pPr eaLnBrk="1" hangingPunct="1">
              <a:spcBef>
                <a:spcPct val="0"/>
              </a:spcBef>
            </a:pPr>
            <a:r>
              <a:rPr lang="en-US" smtClean="0"/>
              <a:t>The pressures of excessive documentation and less direct patient care availability are shared by Generation Y as well as the Generation X and Boomer Attending Physicians.  They, too, yearn for streamlining of the documentation and more availability for person-to-person time and teaching.</a:t>
            </a:r>
          </a:p>
          <a:p>
            <a:pPr eaLnBrk="1" hangingPunct="1">
              <a:spcBef>
                <a:spcPct val="0"/>
              </a:spcBef>
            </a:pPr>
            <a:endParaRPr lang="en-US" smtClean="0"/>
          </a:p>
          <a:p>
            <a:pPr eaLnBrk="1" hangingPunct="1">
              <a:spcBef>
                <a:spcPct val="0"/>
              </a:spcBef>
            </a:pPr>
            <a:r>
              <a:rPr lang="en-US" smtClean="0"/>
              <a:t>Research conducted by </a:t>
            </a:r>
            <a:r>
              <a:rPr lang="en-US" sz="900" smtClean="0"/>
              <a:t>Borges, et al. ( Academic Medicine, June 2006 article on personality traits) reveals that current Gen Y med students and residents have significant strengths in traits like:  </a:t>
            </a:r>
            <a:r>
              <a:rPr lang="en-US" sz="700" smtClean="0"/>
              <a:t>Warmth, Sensitivity, Emotional stability, Perfectionism, Rule-Consciousness, Openness to Change.  These traits provide them with</a:t>
            </a:r>
            <a:r>
              <a:rPr lang="en-US" smtClean="0"/>
              <a:t> strengths in relationship building, but the current clinical workflow often provides them with less opportunity to apply them in direct patient and teacher interactions. </a:t>
            </a:r>
          </a:p>
          <a:p>
            <a:pPr eaLnBrk="1" hangingPunct="1">
              <a:spcBef>
                <a:spcPct val="0"/>
              </a:spcBef>
            </a:pPr>
            <a:r>
              <a:rPr lang="en-US" smtClean="0"/>
              <a:t>We need to encourage this generation to invest those skills into their relationships with patients.</a:t>
            </a:r>
          </a:p>
          <a:p>
            <a:pPr eaLnBrk="1" hangingPunct="1">
              <a:spcBef>
                <a:spcPct val="0"/>
              </a:spcBef>
            </a:pPr>
            <a:endParaRPr lang="en-US" smtClean="0"/>
          </a:p>
          <a:p>
            <a:pPr eaLnBrk="1" hangingPunct="1">
              <a:spcBef>
                <a:spcPct val="0"/>
              </a:spcBef>
            </a:pPr>
            <a:r>
              <a:rPr lang="en-US" smtClean="0"/>
              <a:t>In terms of interpersonal style in forming the doctor-patient and working relationships, this is frequently a point of conflict as attendings often prefer a more formal approach and young residents are more casual.  We will discuss this further in the second portion of this course with a case that highlights this issue.</a:t>
            </a:r>
          </a:p>
          <a:p>
            <a:pPr eaLnBrk="1" hangingPunct="1">
              <a:spcBef>
                <a:spcPct val="0"/>
              </a:spcBef>
            </a:pPr>
            <a:endParaRPr lang="en-US" smtClean="0"/>
          </a:p>
          <a:p>
            <a:pPr eaLnBrk="1" hangingPunct="1">
              <a:spcBef>
                <a:spcPct val="0"/>
              </a:spcBef>
            </a:pPr>
            <a:r>
              <a:rPr lang="en-US" smtClean="0"/>
              <a:t>Let’s talk a bit more now about who the Teachers are…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93554A7F-0400-487A-95B2-2F9EFEC5535E}" type="slidenum">
              <a:rPr lang="en-US" smtClean="0"/>
              <a:pPr/>
              <a:t>18</a:t>
            </a:fld>
            <a:endParaRPr lang="en-US" smtClean="0"/>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This is a collection of teachers who have experienced dramatic shifts in their day-to-day workflow over the past 20 years.  </a:t>
            </a:r>
          </a:p>
          <a:p>
            <a:pPr eaLnBrk="1" hangingPunct="1">
              <a:spcBef>
                <a:spcPct val="0"/>
              </a:spcBef>
            </a:pPr>
            <a:r>
              <a:rPr lang="en-US" smtClean="0"/>
              <a:t>They have witnessed the unraveling of “The Promise” in Medicine.  Early in their training and practices, they were molded to believe that, “If you just work hard and devote yourself to the practice of medicine, not only will you become a better person just for having worked so hard, but you will ultimately have assured financial security and the ability to design a practice that meets your needs.”</a:t>
            </a:r>
          </a:p>
          <a:p>
            <a:pPr eaLnBrk="1" hangingPunct="1">
              <a:spcBef>
                <a:spcPct val="0"/>
              </a:spcBef>
            </a:pPr>
            <a:r>
              <a:rPr lang="en-US" smtClean="0"/>
              <a:t>But the past two decades have changed this paradigm, for sure.</a:t>
            </a:r>
          </a:p>
          <a:p>
            <a:pPr eaLnBrk="1" hangingPunct="1">
              <a:spcBef>
                <a:spcPct val="0"/>
              </a:spcBef>
            </a:pPr>
            <a:r>
              <a:rPr lang="en-US" smtClean="0"/>
              <a:t>(see bullets 2-4)</a:t>
            </a:r>
          </a:p>
          <a:p>
            <a:pPr eaLnBrk="1" hangingPunct="1">
              <a:spcBef>
                <a:spcPct val="0"/>
              </a:spcBef>
            </a:pPr>
            <a:r>
              <a:rPr lang="en-US" smtClean="0"/>
              <a:t>At the same time, the younger generation favors discussion and mentoring which takes more time…and adds to the teacher’s burden.</a:t>
            </a:r>
          </a:p>
          <a:p>
            <a:pPr eaLnBrk="1" hangingPunct="1">
              <a:spcBef>
                <a:spcPct val="0"/>
              </a:spcBef>
            </a:pPr>
            <a:endParaRPr lang="en-US" smtClean="0"/>
          </a:p>
          <a:p>
            <a:pPr eaLnBrk="1" hangingPunct="1">
              <a:spcBef>
                <a:spcPct val="0"/>
              </a:spcBef>
            </a:pPr>
            <a:r>
              <a:rPr lang="en-US" smtClean="0"/>
              <a:t>Most younger residents are keenly aware of how these burdens impact their teachers.  </a:t>
            </a:r>
          </a:p>
          <a:p>
            <a:pPr eaLnBrk="1" hangingPunct="1">
              <a:spcBef>
                <a:spcPct val="0"/>
              </a:spcBef>
            </a:pPr>
            <a:r>
              <a:rPr lang="en-US" smtClean="0"/>
              <a:t>In fact, many millenial residents and student doctors often hear about these difficulties directly from the teachers who, generally, are very comfortable talking about their disillusionment. </a:t>
            </a:r>
          </a:p>
          <a:p>
            <a:pPr eaLnBrk="1" hangingPunct="1">
              <a:spcBef>
                <a:spcPct val="0"/>
              </a:spcBef>
            </a:pPr>
            <a:r>
              <a:rPr lang="en-US" smtClean="0"/>
              <a:t>Generational Researchers found that the Gen X-ers, in particular, are more cynical and pessimistic than other generations.  They are often freely vocal about the aspects of current medical practice that chip away at autonomy and force unwanted restrictions on delivery of patient care.</a:t>
            </a:r>
          </a:p>
          <a:p>
            <a:pPr eaLnBrk="1" hangingPunct="1">
              <a:spcBef>
                <a:spcPct val="0"/>
              </a:spcBef>
            </a:pPr>
            <a:endParaRPr lang="en-US" smtClean="0"/>
          </a:p>
          <a:p>
            <a:pPr eaLnBrk="1" hangingPunct="1">
              <a:spcBef>
                <a:spcPct val="0"/>
              </a:spcBef>
            </a:pPr>
            <a:r>
              <a:rPr lang="en-US" smtClean="0"/>
              <a:t>You can see, then, how a Gen Y resident, who already has a priority placed on work/life balance and having control over their time, hears this and becomes even more determined to “not make this my whole life”.  It tends to create a chasm between the Gen X teachers and the Generation Y-ers, who tend to be very optimistic by nature.</a:t>
            </a:r>
          </a:p>
          <a:p>
            <a:pPr eaLnBrk="1" hangingPunct="1">
              <a:spcBef>
                <a:spcPct val="0"/>
              </a:spcBef>
            </a:pPr>
            <a:endParaRPr lang="en-US" smtClean="0"/>
          </a:p>
          <a:p>
            <a:pPr eaLnBrk="1" hangingPunct="1">
              <a:spcBef>
                <a:spcPct val="0"/>
              </a:spcBef>
            </a:pP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9F36738-555C-47EA-81BD-ED2488DF56D9}" type="slidenum">
              <a:rPr lang="en-US" smtClean="0"/>
              <a:pPr/>
              <a:t>19</a:t>
            </a:fld>
            <a:endParaRPr lang="en-US" smtClean="0"/>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Technology is a second language for this generation. </a:t>
            </a:r>
          </a:p>
          <a:p>
            <a:pPr eaLnBrk="1" hangingPunct="1">
              <a:spcBef>
                <a:spcPct val="0"/>
              </a:spcBef>
            </a:pPr>
            <a:r>
              <a:rPr lang="en-US" smtClean="0"/>
              <a:t>They process info very rapidly, are excellent at streamlining processes, and can perform online research with great ease.  Keeping up with the latest technology is a hobby and often the topic of casual discussion among friends/peers.</a:t>
            </a:r>
          </a:p>
          <a:p>
            <a:pPr eaLnBrk="1" hangingPunct="1">
              <a:spcBef>
                <a:spcPct val="0"/>
              </a:spcBef>
            </a:pPr>
            <a:r>
              <a:rPr lang="en-US" smtClean="0"/>
              <a:t>  </a:t>
            </a:r>
          </a:p>
          <a:p>
            <a:pPr eaLnBrk="1" hangingPunct="1">
              <a:spcBef>
                <a:spcPct val="0"/>
              </a:spcBef>
            </a:pPr>
            <a:r>
              <a:rPr lang="en-US" smtClean="0"/>
              <a:t>Because the use of technology is so automatic for the Gen-Y-ers, they often think that their older colleagues are just not moving fast enough.  The X-ers and Boomers don’t possess the same degree of visual processing skills that are so strong in this younger generation.  Though many of the Gen X-ers were responsible for ushering the use of electronic records and online search tools into medical practice, they ease with which the Gen Y-ers incorporate these tools is exceptional.</a:t>
            </a:r>
          </a:p>
          <a:p>
            <a:pPr eaLnBrk="1" hangingPunct="1">
              <a:spcBef>
                <a:spcPct val="0"/>
              </a:spcBef>
            </a:pPr>
            <a:endParaRPr lang="en-US" smtClean="0"/>
          </a:p>
          <a:p>
            <a:pPr eaLnBrk="1" hangingPunct="1">
              <a:spcBef>
                <a:spcPct val="0"/>
              </a:spcBef>
            </a:pPr>
            <a:r>
              <a:rPr lang="en-US" smtClean="0"/>
              <a:t>This aspect of day-to-day workflow creates encounters in which the students often become the teacher!  Each of us has, surely, had experiences when we had to call upon a junior physician/student to help us figure out a new piece of technology.  </a:t>
            </a:r>
          </a:p>
          <a:p>
            <a:pPr eaLnBrk="1" hangingPunct="1">
              <a:spcBef>
                <a:spcPct val="0"/>
              </a:spcBef>
            </a:pPr>
            <a:r>
              <a:rPr lang="en-US" smtClean="0"/>
              <a:t>It can be humbling to have to learn from a younger generation.  This challenges the revered hierarchy of prior generations, when seniority commanded more respect. </a:t>
            </a:r>
          </a:p>
          <a:p>
            <a:pPr eaLnBrk="1" hangingPunct="1">
              <a:spcBef>
                <a:spcPct val="0"/>
              </a:spcBef>
            </a:pPr>
            <a:r>
              <a:rPr lang="en-US" smtClean="0"/>
              <a:t>In his speech at the PA Medical Society Annual Meeting in August 2009, Dr. Richard Corlin stated this best with the following statement:  </a:t>
            </a:r>
          </a:p>
          <a:p>
            <a:pPr eaLnBrk="1" hangingPunct="1">
              <a:spcBef>
                <a:spcPct val="0"/>
              </a:spcBef>
            </a:pPr>
            <a:r>
              <a:rPr lang="en-US" smtClean="0"/>
              <a:t>“The generation raised in the environment in which the 13 year-old is called on to fix the home computer because his or her parents can’t figure it out, will not hold the tribal elders in awe the way that we did.”</a:t>
            </a:r>
          </a:p>
          <a:p>
            <a:pPr eaLnBrk="1" hangingPunct="1">
              <a:spcBef>
                <a:spcPct val="0"/>
              </a:spcBef>
            </a:pPr>
            <a:endParaRPr lang="en-US" smtClean="0"/>
          </a:p>
          <a:p>
            <a:pPr eaLnBrk="1" hangingPunct="1">
              <a:spcBef>
                <a:spcPct val="0"/>
              </a:spcBef>
            </a:pPr>
            <a:r>
              <a:rPr lang="en-US" smtClean="0"/>
              <a:t>Another aspect of the intergenerational conflict around technology use centers around how Gen Y-ers often readily switch back and forth between professional and social uses of the same technology while at work.</a:t>
            </a:r>
          </a:p>
          <a:p>
            <a:pPr eaLnBrk="1" hangingPunct="1">
              <a:spcBef>
                <a:spcPct val="0"/>
              </a:spcBef>
            </a:pPr>
            <a:r>
              <a:rPr lang="en-US" smtClean="0"/>
              <a:t>There is a perception of them being “easily distracted” or having a “lack of focus.” </a:t>
            </a:r>
          </a:p>
          <a:p>
            <a:pPr eaLnBrk="1" hangingPunct="1">
              <a:spcBef>
                <a:spcPct val="0"/>
              </a:spcBef>
            </a:pPr>
            <a:r>
              <a:rPr lang="en-US" smtClean="0"/>
              <a:t>Is this true?  </a:t>
            </a:r>
          </a:p>
          <a:p>
            <a:pPr eaLnBrk="1" hangingPunct="1">
              <a:spcBef>
                <a:spcPct val="0"/>
              </a:spcBef>
            </a:pPr>
            <a:r>
              <a:rPr lang="en-US" smtClean="0"/>
              <a:t>This leads us into a discussion about life priorities and perspective for the new physician generation.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2095698-F34D-49C4-B665-E802515AC1EE}" type="slidenum">
              <a:rPr lang="en-US" smtClean="0"/>
              <a:pPr/>
              <a:t>20</a:t>
            </a:fld>
            <a:endParaRPr lang="en-US" smtClean="0"/>
          </a:p>
        </p:txBody>
      </p:sp>
      <p:sp>
        <p:nvSpPr>
          <p:cNvPr id="419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In the same way that professional and social use of technology is intertwined,</a:t>
            </a:r>
          </a:p>
          <a:p>
            <a:pPr eaLnBrk="1" hangingPunct="1">
              <a:spcBef>
                <a:spcPct val="0"/>
              </a:spcBef>
            </a:pPr>
            <a:r>
              <a:rPr lang="en-US" smtClean="0"/>
              <a:t>There are also blurred boundaries between work and personal availability in other regards.</a:t>
            </a:r>
          </a:p>
          <a:p>
            <a:pPr eaLnBrk="1" hangingPunct="1">
              <a:spcBef>
                <a:spcPct val="0"/>
              </a:spcBef>
            </a:pPr>
            <a:endParaRPr lang="en-US" smtClean="0"/>
          </a:p>
          <a:p>
            <a:pPr eaLnBrk="1" hangingPunct="1">
              <a:spcBef>
                <a:spcPct val="0"/>
              </a:spcBef>
            </a:pPr>
            <a:r>
              <a:rPr lang="en-US" smtClean="0"/>
              <a:t>Where does this come from?  It it arrogance?  Is it lack of commitment?  Is it lack of focus?</a:t>
            </a:r>
          </a:p>
          <a:p>
            <a:pPr eaLnBrk="1" hangingPunct="1">
              <a:spcBef>
                <a:spcPct val="0"/>
              </a:spcBef>
            </a:pPr>
            <a:r>
              <a:rPr lang="en-US" smtClean="0"/>
              <a:t>I would argue that it is actually the natural product of what we’ve learned/taught over the past 10-20 years about personal health.</a:t>
            </a:r>
          </a:p>
          <a:p>
            <a:pPr eaLnBrk="1" hangingPunct="1">
              <a:spcBef>
                <a:spcPct val="0"/>
              </a:spcBef>
            </a:pPr>
            <a:endParaRPr lang="en-US" smtClean="0"/>
          </a:p>
          <a:p>
            <a:pPr eaLnBrk="1" hangingPunct="1">
              <a:spcBef>
                <a:spcPct val="0"/>
              </a:spcBef>
            </a:pPr>
            <a:r>
              <a:rPr lang="en-US" smtClean="0"/>
              <a:t>In the past two decades we’ve learned that physical health is in many ways dependent on mental, social, spiritual and emotional health.  We are also more and more aware of the need for preventive health and adequate rest.</a:t>
            </a:r>
          </a:p>
          <a:p>
            <a:pPr eaLnBrk="1" hangingPunct="1">
              <a:spcBef>
                <a:spcPct val="0"/>
              </a:spcBef>
            </a:pPr>
            <a:r>
              <a:rPr lang="en-US" smtClean="0"/>
              <a:t>So, from the time of their early Health Education courses in elementary school through their perusal of both lay press and study of current-day medical literature, this generation of doctors has been educated in the importance of this balance.  </a:t>
            </a:r>
          </a:p>
          <a:p>
            <a:pPr eaLnBrk="1" hangingPunct="1">
              <a:spcBef>
                <a:spcPct val="0"/>
              </a:spcBef>
            </a:pPr>
            <a:r>
              <a:rPr lang="en-US" smtClean="0"/>
              <a:t>It is only reasonable, then, that they would grow up seeing the value of this balance and expecting to have it in their own life - for the sake of their own health and happiness.  </a:t>
            </a:r>
          </a:p>
          <a:p>
            <a:pPr eaLnBrk="1" hangingPunct="1">
              <a:spcBef>
                <a:spcPct val="0"/>
              </a:spcBef>
            </a:pPr>
            <a:r>
              <a:rPr lang="en-US" smtClean="0"/>
              <a:t>In fact, many of them feel that part of being a good physician is being able to model work/life balance for their patients.</a:t>
            </a:r>
          </a:p>
          <a:p>
            <a:pPr eaLnBrk="1" hangingPunct="1">
              <a:spcBef>
                <a:spcPct val="0"/>
              </a:spcBef>
            </a:pPr>
            <a:endParaRPr lang="en-US" smtClean="0"/>
          </a:p>
          <a:p>
            <a:pPr eaLnBrk="1" hangingPunct="1">
              <a:spcBef>
                <a:spcPct val="0"/>
              </a:spcBef>
            </a:pPr>
            <a:r>
              <a:rPr lang="en-US" smtClean="0"/>
              <a:t>They do not compartmentalize work, home life, and social life the way prior generations did, and they will seek opportunities in training and practice that allow them to attend to all aspects of their daily life.  </a:t>
            </a:r>
          </a:p>
          <a:p>
            <a:pPr eaLnBrk="1" hangingPunct="1">
              <a:spcBef>
                <a:spcPct val="0"/>
              </a:spcBef>
            </a:pPr>
            <a:endParaRPr lang="en-US" smtClean="0"/>
          </a:p>
          <a:p>
            <a:pPr eaLnBrk="1" hangingPunct="1">
              <a:spcBef>
                <a:spcPct val="0"/>
              </a:spcBef>
            </a:pPr>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CF01451-5110-4BA6-BFA4-456FB20F8161}" type="slidenum">
              <a:rPr lang="en-US" smtClean="0"/>
              <a:pPr/>
              <a:t>21</a:t>
            </a:fld>
            <a:endParaRPr lang="en-US" smtClean="0"/>
          </a:p>
        </p:txBody>
      </p:sp>
      <p:sp>
        <p:nvSpPr>
          <p:cNvPr id="430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Encourage reflection on where each conference attendee finds themselves in this spectrum.</a:t>
            </a:r>
          </a:p>
          <a:p>
            <a:pPr eaLnBrk="1" hangingPunct="1">
              <a:spcBef>
                <a:spcPct val="0"/>
              </a:spcBef>
            </a:pPr>
            <a:endParaRPr lang="en-US" smtClean="0"/>
          </a:p>
          <a:p>
            <a:pPr eaLnBrk="1" hangingPunct="1">
              <a:spcBef>
                <a:spcPct val="0"/>
              </a:spcBef>
            </a:pPr>
            <a:r>
              <a:rPr lang="en-US" smtClean="0"/>
              <a:t>Carry this awareness into the next section of the course where we present and discuss different scenarios that highlight generational differences as they relate to the ACGME core competencies.  </a:t>
            </a:r>
          </a:p>
          <a:p>
            <a:pPr eaLnBrk="1" hangingPunct="1">
              <a:spcBef>
                <a:spcPct val="0"/>
              </a:spcBef>
            </a:pPr>
            <a:endParaRPr lang="en-US" smtClean="0"/>
          </a:p>
          <a:p>
            <a:pPr eaLnBrk="1" hangingPunct="1">
              <a:spcBef>
                <a:spcPct val="0"/>
              </a:spcBef>
            </a:pPr>
            <a:r>
              <a:rPr lang="en-US" smtClean="0"/>
              <a:t>Developing an understanding of the perspective/strengths/priorities of the Generation Y physicians will allow use to adapt our programs and educational approaches to be relevant for the future.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3200400" y="1447800"/>
            <a:ext cx="5257800" cy="1755775"/>
          </a:xfrm>
        </p:spPr>
        <p:txBody>
          <a:bodyPr/>
          <a:lstStyle>
            <a:lvl1pPr algn="r">
              <a:defRPr sz="4400"/>
            </a:lvl1pPr>
          </a:lstStyle>
          <a:p>
            <a:r>
              <a:rPr lang="en-US" smtClean="0"/>
              <a:t>Click to edit Master title style</a:t>
            </a:r>
            <a:endParaRPr lang="en-US"/>
          </a:p>
        </p:txBody>
      </p:sp>
      <p:sp>
        <p:nvSpPr>
          <p:cNvPr id="9219" name="Rectangle 3"/>
          <p:cNvSpPr>
            <a:spLocks noGrp="1" noChangeArrowheads="1"/>
          </p:cNvSpPr>
          <p:nvPr>
            <p:ph type="subTitle" idx="1"/>
          </p:nvPr>
        </p:nvSpPr>
        <p:spPr>
          <a:xfrm>
            <a:off x="3200400" y="3581400"/>
            <a:ext cx="5257800" cy="1522413"/>
          </a:xfrm>
        </p:spPr>
        <p:txBody>
          <a:bodyPr/>
          <a:lstStyle>
            <a:lvl1pPr marL="0" indent="0" algn="r">
              <a:buFontTx/>
              <a:buNone/>
              <a:defRPr/>
            </a:lvl1pPr>
          </a:lstStyle>
          <a:p>
            <a:r>
              <a:rPr lang="en-US" smtClean="0"/>
              <a:t>Click to edit Master subtitle style</a:t>
            </a:r>
            <a:endParaRPr lang="en-US"/>
          </a:p>
        </p:txBody>
      </p:sp>
      <p:sp>
        <p:nvSpPr>
          <p:cNvPr id="4" name="Rectangle 4"/>
          <p:cNvSpPr>
            <a:spLocks noGrp="1" noChangeArrowheads="1"/>
          </p:cNvSpPr>
          <p:nvPr>
            <p:ph type="ftr" sz="quarter" idx="10"/>
          </p:nvPr>
        </p:nvSpPr>
        <p:spPr/>
        <p:txBody>
          <a:bodyPr/>
          <a:lstStyle>
            <a:lvl1pPr>
              <a:defRPr/>
            </a:lvl1pPr>
          </a:lstStyle>
          <a:p>
            <a:pPr>
              <a:defRPr/>
            </a:pPr>
            <a:endParaRPr lang="en-US"/>
          </a:p>
        </p:txBody>
      </p:sp>
      <p:sp>
        <p:nvSpPr>
          <p:cNvPr id="5" name="Rectangle 5"/>
          <p:cNvSpPr>
            <a:spLocks noGrp="1" noChangeArrowheads="1"/>
          </p:cNvSpPr>
          <p:nvPr>
            <p:ph type="sldNum" sz="quarter" idx="11"/>
          </p:nvPr>
        </p:nvSpPr>
        <p:spPr/>
        <p:txBody>
          <a:bodyPr/>
          <a:lstStyle>
            <a:lvl1pPr>
              <a:defRPr/>
            </a:lvl1pPr>
          </a:lstStyle>
          <a:p>
            <a:pPr>
              <a:defRPr/>
            </a:pPr>
            <a:fld id="{DAAC98EF-F4E2-47A1-9F90-62BAA30BF5FF}" type="slidenum">
              <a:rPr lang="en-US"/>
              <a:pPr>
                <a:defRPr/>
              </a:pPr>
              <a:t>‹#›</a:t>
            </a:fld>
            <a:endParaRPr lang="en-US"/>
          </a:p>
        </p:txBody>
      </p:sp>
      <p:sp>
        <p:nvSpPr>
          <p:cNvPr id="6" name="Rectangle 6"/>
          <p:cNvSpPr>
            <a:spLocks noGrp="1" noChangeArrowheads="1"/>
          </p:cNvSpPr>
          <p:nvPr>
            <p:ph type="dt" sz="half" idx="12"/>
          </p:nvPr>
        </p:nvSpPr>
        <p:spPr/>
        <p:txBody>
          <a:bodyPr/>
          <a:lstStyle>
            <a:lvl1pPr>
              <a:defRPr/>
            </a:lvl1pPr>
          </a:lstStyle>
          <a:p>
            <a:pPr>
              <a:defRPr/>
            </a:pPr>
            <a:fld id="{1D81DADE-6D0D-4B79-AC60-C9771AE4C682}" type="datetimeFigureOut">
              <a:rPr lang="en-US"/>
              <a:pPr>
                <a:defRPr/>
              </a:pPr>
              <a:t>2/27/2012</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CB13A728-494A-4843-A351-8E636AB0FC0B}" type="slidenum">
              <a:rPr lang="en-US"/>
              <a:pPr>
                <a:defRPr/>
              </a:pPr>
              <a:t>‹#›</a:t>
            </a:fld>
            <a:endParaRPr lang="en-US"/>
          </a:p>
        </p:txBody>
      </p:sp>
      <p:sp>
        <p:nvSpPr>
          <p:cNvPr id="6" name="Rectangle 6"/>
          <p:cNvSpPr>
            <a:spLocks noGrp="1" noChangeArrowheads="1"/>
          </p:cNvSpPr>
          <p:nvPr>
            <p:ph type="dt" sz="half" idx="12"/>
          </p:nvPr>
        </p:nvSpPr>
        <p:spPr>
          <a:ln/>
        </p:spPr>
        <p:txBody>
          <a:bodyPr/>
          <a:lstStyle>
            <a:lvl1pPr>
              <a:defRPr/>
            </a:lvl1pPr>
          </a:lstStyle>
          <a:p>
            <a:pPr>
              <a:defRPr/>
            </a:pPr>
            <a:fld id="{394F384B-C5EA-43E7-88BD-98DF34EC92E6}" type="datetimeFigureOut">
              <a:rPr lang="en-US"/>
              <a:pPr>
                <a:defRPr/>
              </a:pPr>
              <a:t>2/27/2012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C5263962-A9DD-4D4F-9C70-8CDA404B1E8A}" type="slidenum">
              <a:rPr lang="en-US"/>
              <a:pPr>
                <a:defRPr/>
              </a:pPr>
              <a:t>‹#›</a:t>
            </a:fld>
            <a:endParaRPr lang="en-US"/>
          </a:p>
        </p:txBody>
      </p:sp>
      <p:sp>
        <p:nvSpPr>
          <p:cNvPr id="6" name="Rectangle 6"/>
          <p:cNvSpPr>
            <a:spLocks noGrp="1" noChangeArrowheads="1"/>
          </p:cNvSpPr>
          <p:nvPr>
            <p:ph type="dt" sz="half" idx="12"/>
          </p:nvPr>
        </p:nvSpPr>
        <p:spPr>
          <a:ln/>
        </p:spPr>
        <p:txBody>
          <a:bodyPr/>
          <a:lstStyle>
            <a:lvl1pPr>
              <a:defRPr/>
            </a:lvl1pPr>
          </a:lstStyle>
          <a:p>
            <a:pPr>
              <a:defRPr/>
            </a:pPr>
            <a:fld id="{43E60360-9C32-4BDD-BC3E-75FF405D8F7D}" type="datetimeFigureOut">
              <a:rPr lang="en-US"/>
              <a:pPr>
                <a:defRPr/>
              </a:pPr>
              <a:t>2/27/2012</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84338"/>
            <a:ext cx="35052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343400" y="1684338"/>
            <a:ext cx="35052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4B323C33-469F-42BB-8B20-301C50A53E50}" type="slidenum">
              <a:rPr lang="en-US"/>
              <a:pPr>
                <a:defRPr/>
              </a:pPr>
              <a:t>‹#›</a:t>
            </a:fld>
            <a:endParaRPr lang="en-US"/>
          </a:p>
        </p:txBody>
      </p:sp>
      <p:sp>
        <p:nvSpPr>
          <p:cNvPr id="7" name="Rectangle 6"/>
          <p:cNvSpPr>
            <a:spLocks noGrp="1" noChangeArrowheads="1"/>
          </p:cNvSpPr>
          <p:nvPr>
            <p:ph type="dt" sz="half" idx="12"/>
          </p:nvPr>
        </p:nvSpPr>
        <p:spPr>
          <a:ln/>
        </p:spPr>
        <p:txBody>
          <a:bodyPr/>
          <a:lstStyle>
            <a:lvl1pPr>
              <a:defRPr/>
            </a:lvl1pPr>
          </a:lstStyle>
          <a:p>
            <a:pPr>
              <a:defRPr/>
            </a:pPr>
            <a:fld id="{D3E95790-0017-455B-9528-0DA821073958}" type="datetimeFigureOut">
              <a:rPr lang="en-US"/>
              <a:pPr>
                <a:defRPr/>
              </a:pPr>
              <a:t>2/27/2012</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A46C846F-C661-4F0F-AA26-5BE4D1ABC239}" type="slidenum">
              <a:rPr lang="en-US"/>
              <a:pPr>
                <a:defRPr/>
              </a:pPr>
              <a:t>‹#›</a:t>
            </a:fld>
            <a:endParaRPr lang="en-US"/>
          </a:p>
        </p:txBody>
      </p:sp>
      <p:sp>
        <p:nvSpPr>
          <p:cNvPr id="9" name="Rectangle 6"/>
          <p:cNvSpPr>
            <a:spLocks noGrp="1" noChangeArrowheads="1"/>
          </p:cNvSpPr>
          <p:nvPr>
            <p:ph type="dt" sz="half" idx="12"/>
          </p:nvPr>
        </p:nvSpPr>
        <p:spPr>
          <a:ln/>
        </p:spPr>
        <p:txBody>
          <a:bodyPr/>
          <a:lstStyle>
            <a:lvl1pPr>
              <a:defRPr/>
            </a:lvl1pPr>
          </a:lstStyle>
          <a:p>
            <a:pPr>
              <a:defRPr/>
            </a:pPr>
            <a:fld id="{0D044A1E-75CE-408F-AAE3-3677C3F0BA17}" type="datetimeFigureOut">
              <a:rPr lang="en-US"/>
              <a:pPr>
                <a:defRPr/>
              </a:pPr>
              <a:t>2/27/2012</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5607BE79-219C-4B06-B8A9-D7BE8A08EF7E}" type="slidenum">
              <a:rPr lang="en-US"/>
              <a:pPr>
                <a:defRPr/>
              </a:pPr>
              <a:t>‹#›</a:t>
            </a:fld>
            <a:endParaRPr lang="en-US"/>
          </a:p>
        </p:txBody>
      </p:sp>
      <p:sp>
        <p:nvSpPr>
          <p:cNvPr id="5" name="Rectangle 6"/>
          <p:cNvSpPr>
            <a:spLocks noGrp="1" noChangeArrowheads="1"/>
          </p:cNvSpPr>
          <p:nvPr>
            <p:ph type="dt" sz="half" idx="12"/>
          </p:nvPr>
        </p:nvSpPr>
        <p:spPr>
          <a:ln/>
        </p:spPr>
        <p:txBody>
          <a:bodyPr/>
          <a:lstStyle>
            <a:lvl1pPr>
              <a:defRPr/>
            </a:lvl1pPr>
          </a:lstStyle>
          <a:p>
            <a:pPr>
              <a:defRPr/>
            </a:pPr>
            <a:fld id="{D7F04968-C51E-41DC-8365-CABA1E9E1F98}" type="datetimeFigureOut">
              <a:rPr lang="en-US"/>
              <a:pPr>
                <a:defRPr/>
              </a:pPr>
              <a:t>2/27/2012</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6C38E662-ABBD-44BA-BAC1-CEE88FB41472}" type="slidenum">
              <a:rPr lang="en-US"/>
              <a:pPr>
                <a:defRPr/>
              </a:pPr>
              <a:t>‹#›</a:t>
            </a:fld>
            <a:endParaRPr lang="en-US"/>
          </a:p>
        </p:txBody>
      </p:sp>
      <p:sp>
        <p:nvSpPr>
          <p:cNvPr id="4" name="Rectangle 6"/>
          <p:cNvSpPr>
            <a:spLocks noGrp="1" noChangeArrowheads="1"/>
          </p:cNvSpPr>
          <p:nvPr>
            <p:ph type="dt" sz="half" idx="12"/>
          </p:nvPr>
        </p:nvSpPr>
        <p:spPr>
          <a:ln/>
        </p:spPr>
        <p:txBody>
          <a:bodyPr/>
          <a:lstStyle>
            <a:lvl1pPr>
              <a:defRPr/>
            </a:lvl1pPr>
          </a:lstStyle>
          <a:p>
            <a:pPr>
              <a:defRPr/>
            </a:pPr>
            <a:fld id="{5A79A1AF-709E-4153-B558-8D384120C342}" type="datetimeFigureOut">
              <a:rPr lang="en-US"/>
              <a:pPr>
                <a:defRPr/>
              </a:pPr>
              <a:t>2/27/2012</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53B8F960-5ED4-4CF1-AB79-B3B877D0C65B}" type="slidenum">
              <a:rPr lang="en-US"/>
              <a:pPr>
                <a:defRPr/>
              </a:pPr>
              <a:t>‹#›</a:t>
            </a:fld>
            <a:endParaRPr lang="en-US"/>
          </a:p>
        </p:txBody>
      </p:sp>
      <p:sp>
        <p:nvSpPr>
          <p:cNvPr id="7" name="Rectangle 6"/>
          <p:cNvSpPr>
            <a:spLocks noGrp="1" noChangeArrowheads="1"/>
          </p:cNvSpPr>
          <p:nvPr>
            <p:ph type="dt" sz="half" idx="12"/>
          </p:nvPr>
        </p:nvSpPr>
        <p:spPr>
          <a:ln/>
        </p:spPr>
        <p:txBody>
          <a:bodyPr/>
          <a:lstStyle>
            <a:lvl1pPr>
              <a:defRPr/>
            </a:lvl1pPr>
          </a:lstStyle>
          <a:p>
            <a:pPr>
              <a:defRPr/>
            </a:pPr>
            <a:fld id="{E51536C6-583D-4C61-8DBF-1C8C84FE7E71}" type="datetimeFigureOut">
              <a:rPr lang="en-US"/>
              <a:pPr>
                <a:defRPr/>
              </a:pPr>
              <a:t>2/27/2012</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FAF2D8F2-0657-479A-8CBF-3A7577772002}" type="slidenum">
              <a:rPr lang="en-US"/>
              <a:pPr>
                <a:defRPr/>
              </a:pPr>
              <a:t>‹#›</a:t>
            </a:fld>
            <a:endParaRPr lang="en-US"/>
          </a:p>
        </p:txBody>
      </p:sp>
      <p:sp>
        <p:nvSpPr>
          <p:cNvPr id="7" name="Rectangle 6"/>
          <p:cNvSpPr>
            <a:spLocks noGrp="1" noChangeArrowheads="1"/>
          </p:cNvSpPr>
          <p:nvPr>
            <p:ph type="dt" sz="half" idx="12"/>
          </p:nvPr>
        </p:nvSpPr>
        <p:spPr>
          <a:ln/>
        </p:spPr>
        <p:txBody>
          <a:bodyPr/>
          <a:lstStyle>
            <a:lvl1pPr>
              <a:defRPr/>
            </a:lvl1pPr>
          </a:lstStyle>
          <a:p>
            <a:pPr>
              <a:defRPr/>
            </a:pPr>
            <a:fld id="{0CBB7657-2128-4FC5-BAFE-7257202436A9}" type="datetimeFigureOut">
              <a:rPr lang="en-US"/>
              <a:pPr>
                <a:defRPr/>
              </a:pPr>
              <a:t>2/27/2012</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D27F5DE2-0958-4BDD-AFF4-62E46FB00A41}" type="slidenum">
              <a:rPr lang="en-US"/>
              <a:pPr>
                <a:defRPr/>
              </a:pPr>
              <a:t>‹#›</a:t>
            </a:fld>
            <a:endParaRPr lang="en-US"/>
          </a:p>
        </p:txBody>
      </p:sp>
      <p:sp>
        <p:nvSpPr>
          <p:cNvPr id="6" name="Rectangle 6"/>
          <p:cNvSpPr>
            <a:spLocks noGrp="1" noChangeArrowheads="1"/>
          </p:cNvSpPr>
          <p:nvPr>
            <p:ph type="dt" sz="half" idx="12"/>
          </p:nvPr>
        </p:nvSpPr>
        <p:spPr>
          <a:ln/>
        </p:spPr>
        <p:txBody>
          <a:bodyPr/>
          <a:lstStyle>
            <a:lvl1pPr>
              <a:defRPr/>
            </a:lvl1pPr>
          </a:lstStyle>
          <a:p>
            <a:pPr>
              <a:defRPr/>
            </a:pPr>
            <a:fld id="{358DE4F3-3518-4425-A4F4-0215735B80C1}" type="datetimeFigureOut">
              <a:rPr lang="en-US"/>
              <a:pPr>
                <a:defRPr/>
              </a:pPr>
              <a:t>2/27/2012</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444500"/>
            <a:ext cx="1981200" cy="5694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444500"/>
            <a:ext cx="5791200" cy="56943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77595B75-8DF1-49C0-AF09-2CBD731887BF}" type="slidenum">
              <a:rPr lang="en-US"/>
              <a:pPr>
                <a:defRPr/>
              </a:pPr>
              <a:t>‹#›</a:t>
            </a:fld>
            <a:endParaRPr lang="en-US"/>
          </a:p>
        </p:txBody>
      </p:sp>
      <p:sp>
        <p:nvSpPr>
          <p:cNvPr id="6" name="Rectangle 6"/>
          <p:cNvSpPr>
            <a:spLocks noGrp="1" noChangeArrowheads="1"/>
          </p:cNvSpPr>
          <p:nvPr>
            <p:ph type="dt" sz="half" idx="12"/>
          </p:nvPr>
        </p:nvSpPr>
        <p:spPr>
          <a:ln/>
        </p:spPr>
        <p:txBody>
          <a:bodyPr/>
          <a:lstStyle>
            <a:lvl1pPr>
              <a:defRPr/>
            </a:lvl1pPr>
          </a:lstStyle>
          <a:p>
            <a:pPr>
              <a:defRPr/>
            </a:pPr>
            <a:fld id="{A0E873C5-5C4C-44F8-B58B-020F7E42DCF4}" type="datetimeFigureOut">
              <a:rPr lang="en-US"/>
              <a:pPr>
                <a:defRPr/>
              </a:pPr>
              <a:t>2/27/2012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b="1"/>
            </a:lvl1pPr>
          </a:lstStyle>
          <a:p>
            <a:pPr>
              <a:defRPr/>
            </a:pPr>
            <a:endParaRPr lang="en-US"/>
          </a:p>
        </p:txBody>
      </p:sp>
      <p:sp>
        <p:nvSpPr>
          <p:cNvPr id="8195" name="Rectangle 3"/>
          <p:cNvSpPr>
            <a:spLocks noGrp="1" noChangeArrowheads="1"/>
          </p:cNvSpPr>
          <p:nvPr>
            <p:ph type="sldNum" sz="quarter" idx="4"/>
          </p:nvPr>
        </p:nvSpPr>
        <p:spPr bwMode="auto">
          <a:xfrm>
            <a:off x="7097713"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b="1"/>
            </a:lvl1pPr>
          </a:lstStyle>
          <a:p>
            <a:pPr>
              <a:defRPr/>
            </a:pPr>
            <a:fld id="{BB3E91AC-EDA9-4EDD-95A2-C152CDC8534D}" type="slidenum">
              <a:rPr lang="en-US"/>
              <a:pPr>
                <a:defRPr/>
              </a:pPr>
              <a:t>‹#›</a:t>
            </a:fld>
            <a:endParaRPr lang="en-US"/>
          </a:p>
        </p:txBody>
      </p:sp>
      <p:sp>
        <p:nvSpPr>
          <p:cNvPr id="1028" name="Rectangle 4"/>
          <p:cNvSpPr>
            <a:spLocks noGrp="1" noChangeArrowheads="1"/>
          </p:cNvSpPr>
          <p:nvPr>
            <p:ph type="body" idx="1"/>
          </p:nvPr>
        </p:nvSpPr>
        <p:spPr bwMode="auto">
          <a:xfrm>
            <a:off x="685800" y="1684338"/>
            <a:ext cx="7162800" cy="4454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5"/>
          <p:cNvSpPr>
            <a:spLocks noGrp="1" noChangeArrowheads="1"/>
          </p:cNvSpPr>
          <p:nvPr>
            <p:ph type="title"/>
          </p:nvPr>
        </p:nvSpPr>
        <p:spPr bwMode="auto">
          <a:xfrm>
            <a:off x="609600" y="444500"/>
            <a:ext cx="7924800" cy="9271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198" name="Rectangle 6"/>
          <p:cNvSpPr>
            <a:spLocks noGrp="1" noChangeArrowheads="1"/>
          </p:cNvSpPr>
          <p:nvPr>
            <p:ph type="dt" sz="half" idx="2"/>
          </p:nvPr>
        </p:nvSpPr>
        <p:spPr bwMode="auto">
          <a:xfrm>
            <a:off x="96838"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b="1"/>
            </a:lvl1pPr>
          </a:lstStyle>
          <a:p>
            <a:pPr>
              <a:defRPr/>
            </a:pPr>
            <a:fld id="{1A6EE03F-91FC-49C4-B4EF-BA7DF16D9087}" type="datetimeFigureOut">
              <a:rPr lang="en-US"/>
              <a:pPr>
                <a:defRPr/>
              </a:pPr>
              <a:t>2/27/2012</a:t>
            </a:fld>
            <a:endParaRPr lang="en-US"/>
          </a:p>
        </p:txBody>
      </p:sp>
    </p:spTree>
  </p:cSld>
  <p:clrMap bg1="lt1" tx1="dk1" bg2="lt2" tx2="dk2" accent1="accent1" accent2="accent2" accent3="accent3" accent4="accent4" accent5="accent5" accent6="accent6" hlink="hlink" folHlink="folHlink"/>
  <p:sldLayoutIdLst>
    <p:sldLayoutId id="2147483761"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rtl="0" eaLnBrk="0" fontAlgn="base" hangingPunct="0">
        <a:lnSpc>
          <a:spcPct val="90000"/>
        </a:lnSpc>
        <a:spcBef>
          <a:spcPct val="20000"/>
        </a:spcBef>
        <a:spcAft>
          <a:spcPct val="0"/>
        </a:spcAft>
        <a:defRPr sz="3800" b="1">
          <a:solidFill>
            <a:schemeClr val="tx2"/>
          </a:solidFill>
          <a:latin typeface="+mj-lt"/>
          <a:ea typeface="+mj-ea"/>
          <a:cs typeface="+mj-cs"/>
        </a:defRPr>
      </a:lvl1pPr>
      <a:lvl2pPr algn="l" rtl="0" eaLnBrk="0" fontAlgn="base" hangingPunct="0">
        <a:lnSpc>
          <a:spcPct val="90000"/>
        </a:lnSpc>
        <a:spcBef>
          <a:spcPct val="20000"/>
        </a:spcBef>
        <a:spcAft>
          <a:spcPct val="0"/>
        </a:spcAft>
        <a:defRPr sz="3800" b="1">
          <a:solidFill>
            <a:schemeClr val="tx2"/>
          </a:solidFill>
          <a:latin typeface="Arial" charset="0"/>
        </a:defRPr>
      </a:lvl2pPr>
      <a:lvl3pPr algn="l" rtl="0" eaLnBrk="0" fontAlgn="base" hangingPunct="0">
        <a:lnSpc>
          <a:spcPct val="90000"/>
        </a:lnSpc>
        <a:spcBef>
          <a:spcPct val="20000"/>
        </a:spcBef>
        <a:spcAft>
          <a:spcPct val="0"/>
        </a:spcAft>
        <a:defRPr sz="3800" b="1">
          <a:solidFill>
            <a:schemeClr val="tx2"/>
          </a:solidFill>
          <a:latin typeface="Arial" charset="0"/>
        </a:defRPr>
      </a:lvl3pPr>
      <a:lvl4pPr algn="l" rtl="0" eaLnBrk="0" fontAlgn="base" hangingPunct="0">
        <a:lnSpc>
          <a:spcPct val="90000"/>
        </a:lnSpc>
        <a:spcBef>
          <a:spcPct val="20000"/>
        </a:spcBef>
        <a:spcAft>
          <a:spcPct val="0"/>
        </a:spcAft>
        <a:defRPr sz="3800" b="1">
          <a:solidFill>
            <a:schemeClr val="tx2"/>
          </a:solidFill>
          <a:latin typeface="Arial" charset="0"/>
        </a:defRPr>
      </a:lvl4pPr>
      <a:lvl5pPr algn="l" rtl="0" eaLnBrk="0" fontAlgn="base" hangingPunct="0">
        <a:lnSpc>
          <a:spcPct val="90000"/>
        </a:lnSpc>
        <a:spcBef>
          <a:spcPct val="20000"/>
        </a:spcBef>
        <a:spcAft>
          <a:spcPct val="0"/>
        </a:spcAft>
        <a:defRPr sz="3800" b="1">
          <a:solidFill>
            <a:schemeClr val="tx2"/>
          </a:solidFill>
          <a:latin typeface="Arial" charset="0"/>
        </a:defRPr>
      </a:lvl5pPr>
      <a:lvl6pPr marL="457200" algn="l" rtl="0" eaLnBrk="1" fontAlgn="base" hangingPunct="1">
        <a:lnSpc>
          <a:spcPct val="90000"/>
        </a:lnSpc>
        <a:spcBef>
          <a:spcPct val="20000"/>
        </a:spcBef>
        <a:spcAft>
          <a:spcPct val="0"/>
        </a:spcAft>
        <a:defRPr sz="3800" b="1">
          <a:solidFill>
            <a:schemeClr val="tx2"/>
          </a:solidFill>
          <a:latin typeface="Arial" charset="0"/>
        </a:defRPr>
      </a:lvl6pPr>
      <a:lvl7pPr marL="914400" algn="l" rtl="0" eaLnBrk="1" fontAlgn="base" hangingPunct="1">
        <a:lnSpc>
          <a:spcPct val="90000"/>
        </a:lnSpc>
        <a:spcBef>
          <a:spcPct val="20000"/>
        </a:spcBef>
        <a:spcAft>
          <a:spcPct val="0"/>
        </a:spcAft>
        <a:defRPr sz="3800" b="1">
          <a:solidFill>
            <a:schemeClr val="tx2"/>
          </a:solidFill>
          <a:latin typeface="Arial" charset="0"/>
        </a:defRPr>
      </a:lvl7pPr>
      <a:lvl8pPr marL="1371600" algn="l" rtl="0" eaLnBrk="1" fontAlgn="base" hangingPunct="1">
        <a:lnSpc>
          <a:spcPct val="90000"/>
        </a:lnSpc>
        <a:spcBef>
          <a:spcPct val="20000"/>
        </a:spcBef>
        <a:spcAft>
          <a:spcPct val="0"/>
        </a:spcAft>
        <a:defRPr sz="3800" b="1">
          <a:solidFill>
            <a:schemeClr val="tx2"/>
          </a:solidFill>
          <a:latin typeface="Arial" charset="0"/>
        </a:defRPr>
      </a:lvl8pPr>
      <a:lvl9pPr marL="1828800" algn="l" rtl="0" eaLnBrk="1" fontAlgn="base" hangingPunct="1">
        <a:lnSpc>
          <a:spcPct val="90000"/>
        </a:lnSpc>
        <a:spcBef>
          <a:spcPct val="20000"/>
        </a:spcBef>
        <a:spcAft>
          <a:spcPct val="0"/>
        </a:spcAft>
        <a:defRPr sz="3800" b="1">
          <a:solidFill>
            <a:schemeClr val="tx2"/>
          </a:solidFill>
          <a:latin typeface="Arial" charset="0"/>
        </a:defRPr>
      </a:lvl9pPr>
    </p:titleStyle>
    <p:bodyStyle>
      <a:lvl1pPr marL="342900" indent="-342900" algn="l" rtl="0" eaLnBrk="0" fontAlgn="base" hangingPunct="0">
        <a:lnSpc>
          <a:spcPct val="9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90000"/>
        </a:lnSpc>
        <a:spcBef>
          <a:spcPct val="20000"/>
        </a:spcBef>
        <a:spcAft>
          <a:spcPct val="0"/>
        </a:spcAft>
        <a:buChar char="–"/>
        <a:defRPr sz="2800">
          <a:solidFill>
            <a:schemeClr val="tx1"/>
          </a:solidFill>
          <a:latin typeface="+mn-lt"/>
        </a:defRPr>
      </a:lvl2pPr>
      <a:lvl3pPr marL="1085850" indent="-228600" algn="l" rtl="0" eaLnBrk="0" fontAlgn="base" hangingPunct="0">
        <a:lnSpc>
          <a:spcPct val="90000"/>
        </a:lnSpc>
        <a:spcBef>
          <a:spcPct val="20000"/>
        </a:spcBef>
        <a:spcAft>
          <a:spcPct val="0"/>
        </a:spcAft>
        <a:buChar char="•"/>
        <a:defRPr sz="2400">
          <a:solidFill>
            <a:schemeClr val="tx1"/>
          </a:solidFill>
          <a:latin typeface="+mn-lt"/>
        </a:defRPr>
      </a:lvl3pPr>
      <a:lvl4pPr marL="1428750" indent="-228600" algn="l" rtl="0" eaLnBrk="0" fontAlgn="base" hangingPunct="0">
        <a:lnSpc>
          <a:spcPct val="90000"/>
        </a:lnSpc>
        <a:spcBef>
          <a:spcPct val="20000"/>
        </a:spcBef>
        <a:spcAft>
          <a:spcPct val="0"/>
        </a:spcAft>
        <a:buChar char="–"/>
        <a:defRPr sz="2000">
          <a:solidFill>
            <a:schemeClr val="tx1"/>
          </a:solidFill>
          <a:latin typeface="+mn-lt"/>
        </a:defRPr>
      </a:lvl4pPr>
      <a:lvl5pPr marL="1771650" indent="-228600" algn="l" rtl="0" eaLnBrk="0" fontAlgn="base" hangingPunct="0">
        <a:lnSpc>
          <a:spcPct val="90000"/>
        </a:lnSpc>
        <a:spcBef>
          <a:spcPct val="20000"/>
        </a:spcBef>
        <a:spcAft>
          <a:spcPct val="0"/>
        </a:spcAft>
        <a:buChar char="»"/>
        <a:defRPr sz="2000">
          <a:solidFill>
            <a:schemeClr val="tx1"/>
          </a:solidFill>
          <a:latin typeface="+mn-lt"/>
        </a:defRPr>
      </a:lvl5pPr>
      <a:lvl6pPr marL="2228850" indent="-228600" algn="l" rtl="0" eaLnBrk="1" fontAlgn="base" hangingPunct="1">
        <a:lnSpc>
          <a:spcPct val="90000"/>
        </a:lnSpc>
        <a:spcBef>
          <a:spcPct val="20000"/>
        </a:spcBef>
        <a:spcAft>
          <a:spcPct val="0"/>
        </a:spcAft>
        <a:buChar char="»"/>
        <a:defRPr sz="2000">
          <a:solidFill>
            <a:schemeClr val="tx1"/>
          </a:solidFill>
          <a:latin typeface="+mn-lt"/>
        </a:defRPr>
      </a:lvl6pPr>
      <a:lvl7pPr marL="2686050" indent="-228600" algn="l" rtl="0" eaLnBrk="1" fontAlgn="base" hangingPunct="1">
        <a:lnSpc>
          <a:spcPct val="90000"/>
        </a:lnSpc>
        <a:spcBef>
          <a:spcPct val="20000"/>
        </a:spcBef>
        <a:spcAft>
          <a:spcPct val="0"/>
        </a:spcAft>
        <a:buChar char="»"/>
        <a:defRPr sz="2000">
          <a:solidFill>
            <a:schemeClr val="tx1"/>
          </a:solidFill>
          <a:latin typeface="+mn-lt"/>
        </a:defRPr>
      </a:lvl7pPr>
      <a:lvl8pPr marL="3143250" indent="-228600" algn="l" rtl="0" eaLnBrk="1" fontAlgn="base" hangingPunct="1">
        <a:lnSpc>
          <a:spcPct val="90000"/>
        </a:lnSpc>
        <a:spcBef>
          <a:spcPct val="20000"/>
        </a:spcBef>
        <a:spcAft>
          <a:spcPct val="0"/>
        </a:spcAft>
        <a:buChar char="»"/>
        <a:defRPr sz="2000">
          <a:solidFill>
            <a:schemeClr val="tx1"/>
          </a:solidFill>
          <a:latin typeface="+mn-lt"/>
        </a:defRPr>
      </a:lvl8pPr>
      <a:lvl9pPr marL="3600450" indent="-228600" algn="l" rtl="0" eaLnBrk="1" fontAlgn="base" hangingPunct="1">
        <a:lnSpc>
          <a:spcPct val="90000"/>
        </a:lnSpc>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acpinternist.org/archives/2008/04/two.ht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solidFill>
                  <a:schemeClr val="tx2">
                    <a:satMod val="130000"/>
                  </a:schemeClr>
                </a:solidFill>
              </a:rPr>
              <a:t>Generational Differences</a:t>
            </a:r>
            <a:endParaRPr lang="en-US" dirty="0">
              <a:solidFill>
                <a:schemeClr val="tx2">
                  <a:satMod val="130000"/>
                </a:schemeClr>
              </a:solidFill>
            </a:endParaRPr>
          </a:p>
        </p:txBody>
      </p:sp>
      <p:sp>
        <p:nvSpPr>
          <p:cNvPr id="3075" name="Subtitle 2"/>
          <p:cNvSpPr>
            <a:spLocks noGrp="1"/>
          </p:cNvSpPr>
          <p:nvPr>
            <p:ph type="subTitle" idx="1"/>
          </p:nvPr>
        </p:nvSpPr>
        <p:spPr/>
        <p:txBody>
          <a:bodyPr/>
          <a:lstStyle/>
          <a:p>
            <a:pPr eaLnBrk="1" hangingPunct="1">
              <a:buFont typeface="Wingdings 2" pitchFamily="18" charset="2"/>
              <a:buNone/>
            </a:pPr>
            <a:r>
              <a:rPr lang="en-US" smtClean="0"/>
              <a:t>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noFill/>
        </p:spPr>
        <p:txBody>
          <a:bodyPr/>
          <a:lstStyle/>
          <a:p>
            <a:pPr eaLnBrk="1" hangingPunct="1"/>
            <a:r>
              <a:rPr lang="en-US" smtClean="0"/>
              <a:t>Objectives for Sessions</a:t>
            </a:r>
          </a:p>
        </p:txBody>
      </p:sp>
      <p:sp>
        <p:nvSpPr>
          <p:cNvPr id="4099" name="Rectangle 3"/>
          <p:cNvSpPr>
            <a:spLocks noGrp="1"/>
          </p:cNvSpPr>
          <p:nvPr>
            <p:ph idx="1"/>
          </p:nvPr>
        </p:nvSpPr>
        <p:spPr/>
        <p:txBody>
          <a:bodyPr/>
          <a:lstStyle/>
          <a:p>
            <a:pPr eaLnBrk="1" hangingPunct="1"/>
            <a:r>
              <a:rPr lang="en-US" smtClean="0"/>
              <a:t>Review generational differences of the groups within your department</a:t>
            </a:r>
          </a:p>
          <a:p>
            <a:pPr eaLnBrk="1" hangingPunct="1"/>
            <a:r>
              <a:rPr lang="en-US" smtClean="0"/>
              <a:t>Understand the implications of generational differences within your programs using the competencies</a:t>
            </a:r>
          </a:p>
          <a:p>
            <a:pPr eaLnBrk="1" hangingPunct="1"/>
            <a:r>
              <a:rPr lang="en-US" smtClean="0"/>
              <a:t>Discuss strategies/modifications to address generational differences while maintaining high standards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err="1" smtClean="0">
                <a:solidFill>
                  <a:schemeClr val="tx2">
                    <a:satMod val="130000"/>
                  </a:schemeClr>
                </a:solidFill>
              </a:rPr>
              <a:t>Talkin</a:t>
            </a:r>
            <a:r>
              <a:rPr lang="en-US" dirty="0" smtClean="0">
                <a:solidFill>
                  <a:schemeClr val="tx2">
                    <a:satMod val="130000"/>
                  </a:schemeClr>
                </a:solidFill>
              </a:rPr>
              <a:t>’ ‘Bout my Generation</a:t>
            </a:r>
            <a:endParaRPr lang="en-US" dirty="0">
              <a:solidFill>
                <a:schemeClr val="tx2">
                  <a:satMod val="130000"/>
                </a:schemeClr>
              </a:solidFill>
            </a:endParaRPr>
          </a:p>
        </p:txBody>
      </p:sp>
      <p:sp>
        <p:nvSpPr>
          <p:cNvPr id="5123" name="Content Placeholder 2"/>
          <p:cNvSpPr>
            <a:spLocks noGrp="1"/>
          </p:cNvSpPr>
          <p:nvPr>
            <p:ph idx="1"/>
          </p:nvPr>
        </p:nvSpPr>
        <p:spPr/>
        <p:txBody>
          <a:bodyPr/>
          <a:lstStyle/>
          <a:p>
            <a:pPr eaLnBrk="1" hangingPunct="1"/>
            <a:r>
              <a:rPr lang="en-US" smtClean="0"/>
              <a:t>Born before 1946	</a:t>
            </a:r>
          </a:p>
          <a:p>
            <a:pPr lvl="1" eaLnBrk="1" hangingPunct="1"/>
            <a:r>
              <a:rPr lang="en-US" smtClean="0"/>
              <a:t>Traditionalists,  Veterans or Silent Generation</a:t>
            </a:r>
          </a:p>
          <a:p>
            <a:pPr eaLnBrk="1" hangingPunct="1"/>
            <a:r>
              <a:rPr lang="en-US" smtClean="0"/>
              <a:t>Born 1946-1964</a:t>
            </a:r>
          </a:p>
          <a:p>
            <a:pPr lvl="1" eaLnBrk="1" hangingPunct="1"/>
            <a:r>
              <a:rPr lang="en-US" smtClean="0"/>
              <a:t>Baby Boomers</a:t>
            </a:r>
          </a:p>
          <a:p>
            <a:pPr eaLnBrk="1" hangingPunct="1"/>
            <a:r>
              <a:rPr lang="en-US" smtClean="0"/>
              <a:t>Born 1965-1980</a:t>
            </a:r>
          </a:p>
          <a:p>
            <a:pPr lvl="1" eaLnBrk="1" hangingPunct="1"/>
            <a:r>
              <a:rPr lang="en-US" smtClean="0"/>
              <a:t>Generation X</a:t>
            </a:r>
          </a:p>
          <a:p>
            <a:pPr eaLnBrk="1" hangingPunct="1"/>
            <a:r>
              <a:rPr lang="en-US" smtClean="0"/>
              <a:t>Born 1981-2000</a:t>
            </a:r>
          </a:p>
          <a:p>
            <a:pPr lvl="1" eaLnBrk="1" hangingPunct="1"/>
            <a:r>
              <a:rPr lang="en-US" smtClean="0"/>
              <a:t>Generation Y or Millennial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tx2">
                    <a:satMod val="130000"/>
                  </a:schemeClr>
                </a:solidFill>
              </a:rPr>
              <a:t>Each Generation has Their Own:</a:t>
            </a:r>
            <a:endParaRPr lang="en-US" dirty="0">
              <a:solidFill>
                <a:schemeClr val="tx2">
                  <a:satMod val="130000"/>
                </a:schemeClr>
              </a:solidFill>
            </a:endParaRPr>
          </a:p>
        </p:txBody>
      </p:sp>
      <p:sp>
        <p:nvSpPr>
          <p:cNvPr id="6147" name="Content Placeholder 2"/>
          <p:cNvSpPr>
            <a:spLocks noGrp="1"/>
          </p:cNvSpPr>
          <p:nvPr>
            <p:ph idx="1"/>
          </p:nvPr>
        </p:nvSpPr>
        <p:spPr/>
        <p:txBody>
          <a:bodyPr/>
          <a:lstStyle/>
          <a:p>
            <a:pPr eaLnBrk="1" hangingPunct="1"/>
            <a:r>
              <a:rPr lang="en-US" smtClean="0"/>
              <a:t>Attitudes</a:t>
            </a:r>
          </a:p>
          <a:p>
            <a:pPr eaLnBrk="1" hangingPunct="1"/>
            <a:r>
              <a:rPr lang="en-US" smtClean="0"/>
              <a:t>Behaviors</a:t>
            </a:r>
          </a:p>
          <a:p>
            <a:pPr eaLnBrk="1" hangingPunct="1"/>
            <a:r>
              <a:rPr lang="en-US" smtClean="0"/>
              <a:t>Expectations</a:t>
            </a:r>
          </a:p>
          <a:p>
            <a:pPr eaLnBrk="1" hangingPunct="1"/>
            <a:r>
              <a:rPr lang="en-US" smtClean="0"/>
              <a:t>Habits</a:t>
            </a:r>
          </a:p>
          <a:p>
            <a:pPr eaLnBrk="1" hangingPunct="1"/>
            <a:r>
              <a:rPr lang="en-US" smtClean="0"/>
              <a:t>Motivations</a:t>
            </a:r>
          </a:p>
          <a:p>
            <a:pPr eaLnBrk="1" hangingPunct="1"/>
            <a:r>
              <a:rPr lang="en-US" smtClean="0"/>
              <a:t>Ways of Communicating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tx2">
                    <a:satMod val="130000"/>
                  </a:schemeClr>
                </a:solidFill>
              </a:rPr>
              <a:t>Who are They?</a:t>
            </a:r>
            <a:endParaRPr lang="en-US" dirty="0">
              <a:solidFill>
                <a:schemeClr val="tx2">
                  <a:satMod val="130000"/>
                </a:schemeClr>
              </a:solidFill>
            </a:endParaRPr>
          </a:p>
        </p:txBody>
      </p:sp>
      <p:graphicFrame>
        <p:nvGraphicFramePr>
          <p:cNvPr id="4" name="Content Placeholder 3"/>
          <p:cNvGraphicFramePr>
            <a:graphicFrameLocks noGrp="1"/>
          </p:cNvGraphicFramePr>
          <p:nvPr>
            <p:ph idx="1"/>
          </p:nvPr>
        </p:nvGraphicFramePr>
        <p:xfrm>
          <a:off x="685800" y="1684338"/>
          <a:ext cx="7162800" cy="4191000"/>
        </p:xfrm>
        <a:graphic>
          <a:graphicData uri="http://schemas.openxmlformats.org/drawingml/2006/table">
            <a:tbl>
              <a:tblPr/>
              <a:tblGrid>
                <a:gridCol w="2388106"/>
                <a:gridCol w="2386589"/>
                <a:gridCol w="2388105"/>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FFFFFF"/>
                          </a:solidFill>
                          <a:effectLst/>
                          <a:latin typeface="Gill Sans MT" pitchFamily="34" charset="0"/>
                        </a:rPr>
                        <a:t>Generation</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5BD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FFFFFF"/>
                          </a:solidFill>
                          <a:effectLst/>
                          <a:latin typeface="Gill Sans MT" pitchFamily="34" charset="0"/>
                        </a:rPr>
                        <a:t>Values</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5BD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FFFFFF"/>
                          </a:solidFill>
                          <a:effectLst/>
                          <a:latin typeface="Gill Sans MT" pitchFamily="34" charset="0"/>
                        </a:rPr>
                        <a:t>Others say</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5BD3"/>
                    </a:solidFill>
                  </a:tcPr>
                </a:tc>
              </a:tr>
              <a:tr h="838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Traditionalists</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Hard work</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Fossilized</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r>
              <a:tr h="838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Boomers</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Loyalty</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Narcissistic</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r>
              <a:tr h="838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Generation X</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Work-life balance</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Slackers</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2EF"/>
                    </a:solidFill>
                  </a:tcPr>
                </a:tc>
              </a:tr>
              <a:tr h="838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Millennial</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Innovation</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Gill Sans MT" pitchFamily="34" charset="0"/>
                        </a:rPr>
                        <a:t>Worse than the Boomers/Gen X</a:t>
                      </a:r>
                    </a:p>
                  </a:txBody>
                  <a:tcPr marL="87336" marR="8733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7"/>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tx2">
                    <a:satMod val="130000"/>
                  </a:schemeClr>
                </a:solidFill>
              </a:rPr>
              <a:t>Values by Generation</a:t>
            </a:r>
            <a:endParaRPr lang="en-US" dirty="0">
              <a:solidFill>
                <a:schemeClr val="tx2">
                  <a:satMod val="130000"/>
                </a:schemeClr>
              </a:solidFill>
            </a:endParaRPr>
          </a:p>
        </p:txBody>
      </p:sp>
      <p:sp>
        <p:nvSpPr>
          <p:cNvPr id="8195" name="Content Placeholder 2"/>
          <p:cNvSpPr>
            <a:spLocks noGrp="1"/>
          </p:cNvSpPr>
          <p:nvPr>
            <p:ph idx="1"/>
          </p:nvPr>
        </p:nvSpPr>
        <p:spPr/>
        <p:txBody>
          <a:bodyPr/>
          <a:lstStyle/>
          <a:p>
            <a:pPr eaLnBrk="1" hangingPunct="1"/>
            <a:r>
              <a:rPr lang="en-US" b="1" smtClean="0">
                <a:solidFill>
                  <a:schemeClr val="hlink"/>
                </a:solidFill>
              </a:rPr>
              <a:t>Traditionalists:</a:t>
            </a:r>
            <a:r>
              <a:rPr lang="en-US" smtClean="0"/>
              <a:t> Respect for authority, Conformers, Discipline</a:t>
            </a:r>
          </a:p>
          <a:p>
            <a:pPr eaLnBrk="1" hangingPunct="1"/>
            <a:r>
              <a:rPr lang="en-US" b="1" smtClean="0">
                <a:solidFill>
                  <a:schemeClr val="hlink"/>
                </a:solidFill>
              </a:rPr>
              <a:t>Boomers:</a:t>
            </a:r>
            <a:r>
              <a:rPr lang="en-US" smtClean="0"/>
              <a:t> Optimism, Involvement</a:t>
            </a:r>
          </a:p>
          <a:p>
            <a:pPr eaLnBrk="1" hangingPunct="1"/>
            <a:r>
              <a:rPr lang="en-US" b="1" smtClean="0">
                <a:solidFill>
                  <a:schemeClr val="hlink"/>
                </a:solidFill>
              </a:rPr>
              <a:t>Gen X:</a:t>
            </a:r>
            <a:r>
              <a:rPr lang="en-US" smtClean="0"/>
              <a:t> Skepticism, Fun, Informality</a:t>
            </a:r>
          </a:p>
          <a:p>
            <a:pPr eaLnBrk="1" hangingPunct="1"/>
            <a:r>
              <a:rPr lang="en-US" b="1" smtClean="0">
                <a:solidFill>
                  <a:schemeClr val="hlink"/>
                </a:solidFill>
              </a:rPr>
              <a:t>Millennial:</a:t>
            </a:r>
            <a:r>
              <a:rPr lang="en-US" smtClean="0"/>
              <a:t> Realism, Confidence, Extreme fun, Social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305800" cy="927100"/>
          </a:xfrm>
        </p:spPr>
        <p:txBody>
          <a:bodyPr/>
          <a:lstStyle/>
          <a:p>
            <a:pPr eaLnBrk="1" hangingPunct="1">
              <a:defRPr/>
            </a:pPr>
            <a:r>
              <a:rPr lang="en-US" sz="3900" dirty="0" smtClean="0">
                <a:effectLst>
                  <a:outerShdw blurRad="38100" dist="38100" dir="2700000" algn="tl">
                    <a:srgbClr val="C0C0C0"/>
                  </a:outerShdw>
                </a:effectLst>
              </a:rPr>
              <a:t>Educational Views by Generation</a:t>
            </a:r>
          </a:p>
        </p:txBody>
      </p:sp>
      <p:sp>
        <p:nvSpPr>
          <p:cNvPr id="9219" name="Content Placeholder 2"/>
          <p:cNvSpPr>
            <a:spLocks noGrp="1"/>
          </p:cNvSpPr>
          <p:nvPr>
            <p:ph idx="1"/>
          </p:nvPr>
        </p:nvSpPr>
        <p:spPr/>
        <p:txBody>
          <a:bodyPr/>
          <a:lstStyle/>
          <a:p>
            <a:pPr eaLnBrk="1" hangingPunct="1"/>
            <a:r>
              <a:rPr lang="en-US" b="1" smtClean="0">
                <a:solidFill>
                  <a:schemeClr val="hlink"/>
                </a:solidFill>
              </a:rPr>
              <a:t>Traditionalists : </a:t>
            </a:r>
            <a:r>
              <a:rPr lang="en-US" smtClean="0"/>
              <a:t>A dream</a:t>
            </a:r>
          </a:p>
          <a:p>
            <a:pPr eaLnBrk="1" hangingPunct="1"/>
            <a:r>
              <a:rPr lang="en-US" b="1" smtClean="0">
                <a:solidFill>
                  <a:schemeClr val="hlink"/>
                </a:solidFill>
              </a:rPr>
              <a:t>Boomers: </a:t>
            </a:r>
            <a:r>
              <a:rPr lang="en-US" smtClean="0"/>
              <a:t>A birthright</a:t>
            </a:r>
          </a:p>
          <a:p>
            <a:pPr eaLnBrk="1" hangingPunct="1"/>
            <a:r>
              <a:rPr lang="en-US" b="1" smtClean="0">
                <a:solidFill>
                  <a:schemeClr val="hlink"/>
                </a:solidFill>
              </a:rPr>
              <a:t>Gen X: </a:t>
            </a:r>
            <a:r>
              <a:rPr lang="en-US" smtClean="0"/>
              <a:t>A way to get there</a:t>
            </a:r>
          </a:p>
          <a:p>
            <a:pPr eaLnBrk="1" hangingPunct="1"/>
            <a:r>
              <a:rPr lang="en-US" b="1" smtClean="0">
                <a:solidFill>
                  <a:schemeClr val="hlink"/>
                </a:solidFill>
              </a:rPr>
              <a:t>Millennial: </a:t>
            </a:r>
            <a:r>
              <a:rPr lang="en-US" smtClean="0"/>
              <a:t>An incredible expense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effectLst>
                  <a:outerShdw blurRad="38100" dist="38100" dir="2700000" algn="tl">
                    <a:srgbClr val="C0C0C0"/>
                  </a:outerShdw>
                </a:effectLst>
              </a:rPr>
              <a:t>“Work is” by Generation</a:t>
            </a:r>
          </a:p>
        </p:txBody>
      </p:sp>
      <p:sp>
        <p:nvSpPr>
          <p:cNvPr id="10243" name="Content Placeholder 2"/>
          <p:cNvSpPr>
            <a:spLocks noGrp="1"/>
          </p:cNvSpPr>
          <p:nvPr>
            <p:ph idx="1"/>
          </p:nvPr>
        </p:nvSpPr>
        <p:spPr/>
        <p:txBody>
          <a:bodyPr/>
          <a:lstStyle/>
          <a:p>
            <a:pPr eaLnBrk="1" hangingPunct="1"/>
            <a:r>
              <a:rPr lang="en-US" b="1" smtClean="0">
                <a:solidFill>
                  <a:schemeClr val="hlink"/>
                </a:solidFill>
              </a:rPr>
              <a:t>Traditionalists :</a:t>
            </a:r>
            <a:r>
              <a:rPr lang="en-US" smtClean="0"/>
              <a:t> An obligation</a:t>
            </a:r>
          </a:p>
          <a:p>
            <a:pPr eaLnBrk="1" hangingPunct="1"/>
            <a:r>
              <a:rPr lang="en-US" b="1" smtClean="0">
                <a:solidFill>
                  <a:schemeClr val="hlink"/>
                </a:solidFill>
              </a:rPr>
              <a:t>Boomers:</a:t>
            </a:r>
            <a:r>
              <a:rPr lang="en-US" smtClean="0"/>
              <a:t> An adventure</a:t>
            </a:r>
          </a:p>
          <a:p>
            <a:pPr eaLnBrk="1" hangingPunct="1"/>
            <a:r>
              <a:rPr lang="en-US" b="1" smtClean="0">
                <a:solidFill>
                  <a:schemeClr val="hlink"/>
                </a:solidFill>
              </a:rPr>
              <a:t>Gen X:</a:t>
            </a:r>
            <a:r>
              <a:rPr lang="en-US" smtClean="0"/>
              <a:t> A contract</a:t>
            </a:r>
          </a:p>
          <a:p>
            <a:pPr eaLnBrk="1" hangingPunct="1"/>
            <a:r>
              <a:rPr lang="en-US" b="1" smtClean="0">
                <a:solidFill>
                  <a:schemeClr val="hlink"/>
                </a:solidFill>
              </a:rPr>
              <a:t>Millennial:</a:t>
            </a:r>
            <a:r>
              <a:rPr lang="en-US" smtClean="0"/>
              <a:t> A means to an 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effectLst>
                  <a:outerShdw blurRad="38100" dist="38100" dir="2700000" algn="tl">
                    <a:srgbClr val="C0C0C0"/>
                  </a:outerShdw>
                </a:effectLst>
              </a:rPr>
              <a:t>Work vs. Family by Generation</a:t>
            </a:r>
          </a:p>
        </p:txBody>
      </p:sp>
      <p:sp>
        <p:nvSpPr>
          <p:cNvPr id="11267" name="Content Placeholder 2"/>
          <p:cNvSpPr>
            <a:spLocks noGrp="1"/>
          </p:cNvSpPr>
          <p:nvPr>
            <p:ph idx="1"/>
          </p:nvPr>
        </p:nvSpPr>
        <p:spPr/>
        <p:txBody>
          <a:bodyPr/>
          <a:lstStyle/>
          <a:p>
            <a:pPr eaLnBrk="1" hangingPunct="1"/>
            <a:r>
              <a:rPr lang="en-US" b="1" smtClean="0">
                <a:solidFill>
                  <a:schemeClr val="hlink"/>
                </a:solidFill>
              </a:rPr>
              <a:t>Traditionalists:</a:t>
            </a:r>
            <a:r>
              <a:rPr lang="en-US" smtClean="0"/>
              <a:t> Separate-do not meet</a:t>
            </a:r>
          </a:p>
          <a:p>
            <a:pPr eaLnBrk="1" hangingPunct="1"/>
            <a:r>
              <a:rPr lang="en-US" b="1" smtClean="0">
                <a:solidFill>
                  <a:schemeClr val="hlink"/>
                </a:solidFill>
              </a:rPr>
              <a:t>Boomers:</a:t>
            </a:r>
            <a:r>
              <a:rPr lang="en-US" smtClean="0"/>
              <a:t> Work to live</a:t>
            </a:r>
          </a:p>
          <a:p>
            <a:pPr eaLnBrk="1" hangingPunct="1"/>
            <a:r>
              <a:rPr lang="en-US" b="1" smtClean="0">
                <a:solidFill>
                  <a:schemeClr val="hlink"/>
                </a:solidFill>
              </a:rPr>
              <a:t>Gen X:</a:t>
            </a:r>
            <a:r>
              <a:rPr lang="en-US" smtClean="0"/>
              <a:t> Balanced</a:t>
            </a:r>
          </a:p>
          <a:p>
            <a:pPr eaLnBrk="1" hangingPunct="1"/>
            <a:r>
              <a:rPr lang="en-US" b="1" smtClean="0">
                <a:solidFill>
                  <a:schemeClr val="hlink"/>
                </a:solidFill>
              </a:rPr>
              <a:t>Millennial:</a:t>
            </a:r>
            <a:r>
              <a:rPr lang="en-US" smtClean="0"/>
              <a:t> Balanced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274638"/>
            <a:ext cx="8534400" cy="1143000"/>
          </a:xfrm>
        </p:spPr>
        <p:txBody>
          <a:bodyPr/>
          <a:lstStyle/>
          <a:p>
            <a:pPr eaLnBrk="1" hangingPunct="1">
              <a:defRPr/>
            </a:pPr>
            <a:r>
              <a:rPr lang="en-US" dirty="0" smtClean="0">
                <a:effectLst>
                  <a:outerShdw blurRad="38100" dist="38100" dir="2700000" algn="tl">
                    <a:srgbClr val="C0C0C0"/>
                  </a:outerShdw>
                </a:effectLst>
              </a:rPr>
              <a:t>“Messages that Motivate”</a:t>
            </a:r>
          </a:p>
        </p:txBody>
      </p:sp>
      <p:sp>
        <p:nvSpPr>
          <p:cNvPr id="12291" name="Content Placeholder 2"/>
          <p:cNvSpPr>
            <a:spLocks noGrp="1"/>
          </p:cNvSpPr>
          <p:nvPr>
            <p:ph idx="4294967295"/>
          </p:nvPr>
        </p:nvSpPr>
        <p:spPr>
          <a:xfrm>
            <a:off x="762000" y="1676400"/>
            <a:ext cx="7499350" cy="4800600"/>
          </a:xfrm>
        </p:spPr>
        <p:txBody>
          <a:bodyPr/>
          <a:lstStyle/>
          <a:p>
            <a:pPr eaLnBrk="1" hangingPunct="1"/>
            <a:r>
              <a:rPr lang="en-US" b="1" smtClean="0">
                <a:solidFill>
                  <a:schemeClr val="hlink"/>
                </a:solidFill>
              </a:rPr>
              <a:t>Traditionalists :</a:t>
            </a:r>
            <a:r>
              <a:rPr lang="en-US" smtClean="0"/>
              <a:t> We respect your experience</a:t>
            </a:r>
          </a:p>
          <a:p>
            <a:pPr eaLnBrk="1" hangingPunct="1"/>
            <a:r>
              <a:rPr lang="en-US" b="1" smtClean="0">
                <a:solidFill>
                  <a:schemeClr val="hlink"/>
                </a:solidFill>
              </a:rPr>
              <a:t>Boomers:</a:t>
            </a:r>
            <a:r>
              <a:rPr lang="en-US" smtClean="0"/>
              <a:t> You are valued/needed</a:t>
            </a:r>
          </a:p>
          <a:p>
            <a:pPr eaLnBrk="1" hangingPunct="1"/>
            <a:r>
              <a:rPr lang="en-US" b="1" smtClean="0">
                <a:solidFill>
                  <a:schemeClr val="hlink"/>
                </a:solidFill>
              </a:rPr>
              <a:t>Gen X:</a:t>
            </a:r>
            <a:r>
              <a:rPr lang="en-US" smtClean="0"/>
              <a:t> Do it your way/ forget rules</a:t>
            </a:r>
          </a:p>
          <a:p>
            <a:pPr eaLnBrk="1" hangingPunct="1"/>
            <a:r>
              <a:rPr lang="en-US" b="1" smtClean="0">
                <a:solidFill>
                  <a:schemeClr val="hlink"/>
                </a:solidFill>
              </a:rPr>
              <a:t>Millennial:</a:t>
            </a:r>
            <a:r>
              <a:rPr lang="en-US" smtClean="0"/>
              <a:t> You will work with other bright people</a:t>
            </a:r>
          </a:p>
        </p:txBody>
      </p:sp>
      <p:sp>
        <p:nvSpPr>
          <p:cNvPr id="12292" name="Text Box 4"/>
          <p:cNvSpPr txBox="1">
            <a:spLocks noChangeArrowheads="1"/>
          </p:cNvSpPr>
          <p:nvPr/>
        </p:nvSpPr>
        <p:spPr bwMode="auto">
          <a:xfrm>
            <a:off x="6172200" y="6361113"/>
            <a:ext cx="2667000" cy="366712"/>
          </a:xfrm>
          <a:prstGeom prst="rect">
            <a:avLst/>
          </a:prstGeom>
          <a:noFill/>
          <a:ln w="9525">
            <a:noFill/>
            <a:miter lim="800000"/>
            <a:headEnd/>
            <a:tailEnd/>
          </a:ln>
        </p:spPr>
        <p:txBody>
          <a:bodyPr>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noFill/>
        </p:spPr>
        <p:txBody>
          <a:bodyPr/>
          <a:lstStyle/>
          <a:p>
            <a:pPr eaLnBrk="1" hangingPunct="1"/>
            <a:r>
              <a:rPr lang="en-US" smtClean="0"/>
              <a:t>Generation vs. Age</a:t>
            </a:r>
          </a:p>
        </p:txBody>
      </p:sp>
      <p:sp>
        <p:nvSpPr>
          <p:cNvPr id="13315" name="Rectangle 3"/>
          <p:cNvSpPr>
            <a:spLocks noGrp="1"/>
          </p:cNvSpPr>
          <p:nvPr>
            <p:ph idx="1"/>
          </p:nvPr>
        </p:nvSpPr>
        <p:spPr/>
        <p:txBody>
          <a:bodyPr/>
          <a:lstStyle/>
          <a:p>
            <a:pPr eaLnBrk="1" hangingPunct="1"/>
            <a:r>
              <a:rPr lang="en-US" sz="2800" smtClean="0"/>
              <a:t>Guidelines, not set in stone</a:t>
            </a:r>
          </a:p>
          <a:p>
            <a:pPr eaLnBrk="1" hangingPunct="1"/>
            <a:r>
              <a:rPr lang="en-US" sz="2800" smtClean="0"/>
              <a:t>Many individuals define themselves outside of their generation</a:t>
            </a:r>
          </a:p>
          <a:p>
            <a:pPr eaLnBrk="1" hangingPunct="1"/>
            <a:r>
              <a:rPr lang="en-US" sz="2800" smtClean="0"/>
              <a:t>Individual influences may supersede generational differences</a:t>
            </a:r>
          </a:p>
          <a:p>
            <a:pPr eaLnBrk="1" hangingPunct="1"/>
            <a:r>
              <a:rPr lang="en-US" sz="2800" smtClean="0"/>
              <a:t>Despite variance in age/generation differences in attitudes/behaviors do exist</a:t>
            </a:r>
          </a:p>
          <a:p>
            <a:pPr eaLnBrk="1" hangingPunct="1"/>
            <a:r>
              <a:rPr lang="en-US" sz="2800" smtClean="0"/>
              <a:t>Taking these differences in account may help you to be successful in your pursuits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chemeClr val="tx2">
                    <a:satMod val="130000"/>
                  </a:schemeClr>
                </a:solidFill>
              </a:rPr>
              <a:t>Generations also have similarities</a:t>
            </a:r>
            <a:endParaRPr lang="en-US" dirty="0">
              <a:solidFill>
                <a:schemeClr val="tx2">
                  <a:satMod val="130000"/>
                </a:schemeClr>
              </a:solidFill>
            </a:endParaRPr>
          </a:p>
        </p:txBody>
      </p:sp>
      <p:sp>
        <p:nvSpPr>
          <p:cNvPr id="14339" name="Content Placeholder 2"/>
          <p:cNvSpPr>
            <a:spLocks noGrp="1"/>
          </p:cNvSpPr>
          <p:nvPr>
            <p:ph idx="1"/>
          </p:nvPr>
        </p:nvSpPr>
        <p:spPr/>
        <p:txBody>
          <a:bodyPr/>
          <a:lstStyle/>
          <a:p>
            <a:pPr eaLnBrk="1" hangingPunct="1"/>
            <a:r>
              <a:rPr lang="en-US" smtClean="0"/>
              <a:t>Similar values</a:t>
            </a:r>
          </a:p>
          <a:p>
            <a:pPr eaLnBrk="1" hangingPunct="1"/>
            <a:r>
              <a:rPr lang="en-US" smtClean="0"/>
              <a:t>Everyone wants respect</a:t>
            </a:r>
          </a:p>
          <a:p>
            <a:pPr eaLnBrk="1" hangingPunct="1"/>
            <a:r>
              <a:rPr lang="en-US" smtClean="0"/>
              <a:t>No one really likes change</a:t>
            </a:r>
          </a:p>
          <a:p>
            <a:pPr eaLnBrk="1" hangingPunct="1"/>
            <a:r>
              <a:rPr lang="en-US" smtClean="0"/>
              <a:t>Everyone wants to learn</a:t>
            </a:r>
          </a:p>
          <a:p>
            <a:pPr eaLnBrk="1" hangingPunct="1"/>
            <a:r>
              <a:rPr lang="en-US" smtClean="0"/>
              <a:t>Everyone likes feedback</a:t>
            </a:r>
          </a:p>
          <a:p>
            <a:pPr eaLnBrk="1" hangingPunct="1">
              <a:buFont typeface="Wingdings 2" pitchFamily="18" charset="2"/>
              <a:buNone/>
            </a:pPr>
            <a:endParaRPr lang="en-US"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dirty="0" smtClean="0">
                <a:solidFill>
                  <a:schemeClr val="tx2">
                    <a:satMod val="130000"/>
                  </a:schemeClr>
                </a:solidFill>
              </a:rPr>
              <a:t>Generational Differences</a:t>
            </a:r>
            <a:endParaRPr lang="en-US" dirty="0"/>
          </a:p>
        </p:txBody>
      </p:sp>
      <p:sp>
        <p:nvSpPr>
          <p:cNvPr id="15363" name="Rectangle 3"/>
          <p:cNvSpPr>
            <a:spLocks noGrp="1" noChangeArrowheads="1"/>
          </p:cNvSpPr>
          <p:nvPr>
            <p:ph type="subTitle" idx="1"/>
          </p:nvPr>
        </p:nvSpPr>
        <p:spPr/>
        <p:txBody>
          <a:bodyPr/>
          <a:lstStyle/>
          <a:p>
            <a:pPr eaLnBrk="1" hangingPunct="1"/>
            <a:r>
              <a:rPr lang="en-US" smtClean="0"/>
              <a:t>Residents’ Perspective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Perspective</a:t>
            </a:r>
          </a:p>
        </p:txBody>
      </p:sp>
      <p:sp>
        <p:nvSpPr>
          <p:cNvPr id="16387" name="Rectangle 3"/>
          <p:cNvSpPr>
            <a:spLocks noGrp="1" noChangeArrowheads="1"/>
          </p:cNvSpPr>
          <p:nvPr>
            <p:ph type="body" idx="1"/>
          </p:nvPr>
        </p:nvSpPr>
        <p:spPr/>
        <p:txBody>
          <a:bodyPr/>
          <a:lstStyle/>
          <a:p>
            <a:pPr eaLnBrk="1" hangingPunct="1"/>
            <a:r>
              <a:rPr lang="en-US" smtClean="0"/>
              <a:t>Who am I</a:t>
            </a:r>
          </a:p>
          <a:p>
            <a:pPr eaLnBrk="1" hangingPunct="1"/>
            <a:endParaRPr lang="en-US" smtClean="0"/>
          </a:p>
          <a:p>
            <a:pPr eaLnBrk="1" hangingPunct="1"/>
            <a:endParaRPr lang="en-US" smtClean="0"/>
          </a:p>
          <a:p>
            <a:pPr eaLnBrk="1" hangingPunct="1"/>
            <a:r>
              <a:rPr lang="en-US" smtClean="0"/>
              <a:t>Who are “They”</a:t>
            </a:r>
          </a:p>
          <a:p>
            <a:pPr lvl="1" eaLnBrk="1" hangingPunct="1"/>
            <a:endParaRPr lang="en-US" smtClean="0"/>
          </a:p>
          <a:p>
            <a:pPr eaLnBrk="1" hangingPunct="1">
              <a:buFontTx/>
              <a:buNone/>
            </a:pPr>
            <a:endParaRPr lang="en-US"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pPr eaLnBrk="1" hangingPunct="1">
              <a:defRPr/>
            </a:pPr>
            <a:r>
              <a:rPr lang="en-US" dirty="0" smtClean="0"/>
              <a:t>Components of the resident experience</a:t>
            </a:r>
          </a:p>
        </p:txBody>
      </p:sp>
      <p:sp>
        <p:nvSpPr>
          <p:cNvPr id="17411" name="Rectangle 3"/>
          <p:cNvSpPr>
            <a:spLocks noGrp="1" noChangeArrowheads="1"/>
          </p:cNvSpPr>
          <p:nvPr>
            <p:ph type="body" idx="1"/>
          </p:nvPr>
        </p:nvSpPr>
        <p:spPr/>
        <p:txBody>
          <a:bodyPr/>
          <a:lstStyle/>
          <a:p>
            <a:pPr eaLnBrk="1" hangingPunct="1"/>
            <a:r>
              <a:rPr lang="en-US" smtClean="0"/>
              <a:t>Formal, structured learning</a:t>
            </a:r>
          </a:p>
          <a:p>
            <a:pPr eaLnBrk="1" hangingPunct="1"/>
            <a:r>
              <a:rPr lang="en-US" smtClean="0"/>
              <a:t>Clinical experience</a:t>
            </a:r>
          </a:p>
          <a:p>
            <a:pPr eaLnBrk="1" hangingPunct="1"/>
            <a:r>
              <a:rPr lang="en-US" smtClean="0"/>
              <a:t>Use of technology</a:t>
            </a:r>
          </a:p>
          <a:p>
            <a:pPr eaLnBrk="1" hangingPunct="1"/>
            <a:r>
              <a:rPr lang="en-US" smtClean="0"/>
              <a:t>One-on-one interaction with our teachers</a:t>
            </a:r>
          </a:p>
          <a:p>
            <a:pPr eaLnBrk="1" hangingPunct="1"/>
            <a:r>
              <a:rPr lang="en-US" smtClean="0"/>
              <a:t>Life outside of medicine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609600"/>
            <a:ext cx="7924800" cy="533400"/>
          </a:xfrm>
        </p:spPr>
        <p:txBody>
          <a:bodyPr>
            <a:normAutofit fontScale="90000"/>
          </a:bodyPr>
          <a:lstStyle/>
          <a:p>
            <a:pPr eaLnBrk="1" hangingPunct="1">
              <a:defRPr/>
            </a:pPr>
            <a:r>
              <a:rPr lang="en-US" dirty="0" smtClean="0"/>
              <a:t>Resident experience with:</a:t>
            </a:r>
            <a:br>
              <a:rPr lang="en-US" dirty="0" smtClean="0"/>
            </a:br>
            <a:r>
              <a:rPr lang="en-US" dirty="0" smtClean="0"/>
              <a:t>Formal, Structured Learning </a:t>
            </a:r>
          </a:p>
        </p:txBody>
      </p:sp>
      <p:sp>
        <p:nvSpPr>
          <p:cNvPr id="18435" name="Rectangle 3"/>
          <p:cNvSpPr>
            <a:spLocks noGrp="1" noChangeArrowheads="1"/>
          </p:cNvSpPr>
          <p:nvPr>
            <p:ph type="body" idx="1"/>
          </p:nvPr>
        </p:nvSpPr>
        <p:spPr/>
        <p:txBody>
          <a:bodyPr/>
          <a:lstStyle/>
          <a:p>
            <a:pPr eaLnBrk="1" hangingPunct="1">
              <a:lnSpc>
                <a:spcPct val="80000"/>
              </a:lnSpc>
              <a:buFontTx/>
              <a:buNone/>
            </a:pPr>
            <a:endParaRPr lang="en-US" sz="2800" smtClean="0"/>
          </a:p>
          <a:p>
            <a:pPr eaLnBrk="1" hangingPunct="1">
              <a:lnSpc>
                <a:spcPct val="80000"/>
              </a:lnSpc>
            </a:pPr>
            <a:r>
              <a:rPr lang="en-US" sz="2800" smtClean="0"/>
              <a:t>Multitasking</a:t>
            </a:r>
          </a:p>
          <a:p>
            <a:pPr eaLnBrk="1" hangingPunct="1">
              <a:lnSpc>
                <a:spcPct val="80000"/>
              </a:lnSpc>
            </a:pPr>
            <a:r>
              <a:rPr lang="en-US" sz="2800" smtClean="0"/>
              <a:t>Visually oriented</a:t>
            </a:r>
          </a:p>
          <a:p>
            <a:pPr lvl="1" eaLnBrk="1" hangingPunct="1">
              <a:lnSpc>
                <a:spcPct val="80000"/>
              </a:lnSpc>
            </a:pPr>
            <a:r>
              <a:rPr lang="en-US" sz="2400" smtClean="0"/>
              <a:t>Entertainment factor</a:t>
            </a:r>
          </a:p>
          <a:p>
            <a:pPr eaLnBrk="1" hangingPunct="1">
              <a:lnSpc>
                <a:spcPct val="80000"/>
              </a:lnSpc>
            </a:pPr>
            <a:r>
              <a:rPr lang="en-US" sz="2800" smtClean="0"/>
              <a:t>More conversation/discussion and less formal presentation</a:t>
            </a:r>
          </a:p>
          <a:p>
            <a:pPr eaLnBrk="1" hangingPunct="1">
              <a:lnSpc>
                <a:spcPct val="80000"/>
              </a:lnSpc>
            </a:pPr>
            <a:r>
              <a:rPr lang="en-US" sz="2800" smtClean="0"/>
              <a:t>Does not learn well under pressure</a:t>
            </a:r>
          </a:p>
          <a:p>
            <a:pPr eaLnBrk="1" hangingPunct="1">
              <a:lnSpc>
                <a:spcPct val="80000"/>
              </a:lnSpc>
            </a:pPr>
            <a:r>
              <a:rPr lang="en-US" sz="2800" smtClean="0"/>
              <a:t>Structured, but with flexibility and autonomy for completion</a:t>
            </a:r>
          </a:p>
          <a:p>
            <a:pPr eaLnBrk="1" hangingPunct="1">
              <a:lnSpc>
                <a:spcPct val="80000"/>
              </a:lnSpc>
            </a:pPr>
            <a:endParaRPr lang="en-US" sz="2800" smtClean="0"/>
          </a:p>
          <a:p>
            <a:pPr eaLnBrk="1" hangingPunct="1">
              <a:lnSpc>
                <a:spcPct val="80000"/>
              </a:lnSpc>
            </a:pPr>
            <a:endParaRPr lang="en-US" sz="280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defRPr/>
            </a:pPr>
            <a:r>
              <a:rPr lang="en-US" dirty="0" smtClean="0"/>
              <a:t>Resident Experience with: Clinical Interactions</a:t>
            </a:r>
          </a:p>
        </p:txBody>
      </p:sp>
      <p:sp>
        <p:nvSpPr>
          <p:cNvPr id="19459" name="Rectangle 3"/>
          <p:cNvSpPr>
            <a:spLocks noGrp="1" noChangeArrowheads="1"/>
          </p:cNvSpPr>
          <p:nvPr>
            <p:ph type="body" idx="1"/>
          </p:nvPr>
        </p:nvSpPr>
        <p:spPr/>
        <p:txBody>
          <a:bodyPr/>
          <a:lstStyle/>
          <a:p>
            <a:pPr eaLnBrk="1" hangingPunct="1"/>
            <a:r>
              <a:rPr lang="en-US" sz="2800" smtClean="0"/>
              <a:t>Burden of documentation</a:t>
            </a:r>
          </a:p>
          <a:p>
            <a:pPr eaLnBrk="1" hangingPunct="1"/>
            <a:r>
              <a:rPr lang="en-US" sz="2800" smtClean="0"/>
              <a:t>Less time at the bedside</a:t>
            </a:r>
          </a:p>
          <a:p>
            <a:pPr eaLnBrk="1" hangingPunct="1"/>
            <a:r>
              <a:rPr lang="en-US" sz="2800" smtClean="0"/>
              <a:t>Desire for more hands-on time and bedside teaching</a:t>
            </a:r>
          </a:p>
          <a:p>
            <a:pPr eaLnBrk="1" hangingPunct="1"/>
            <a:r>
              <a:rPr lang="en-US" sz="2800" smtClean="0"/>
              <a:t>Learn better from real-life examples</a:t>
            </a:r>
          </a:p>
          <a:p>
            <a:pPr eaLnBrk="1" hangingPunct="1"/>
            <a:r>
              <a:rPr lang="en-US" sz="2800" smtClean="0"/>
              <a:t>Self-presentation plays out at the bedside</a:t>
            </a:r>
          </a:p>
          <a:p>
            <a:pPr lvl="1" eaLnBrk="1" hangingPunct="1"/>
            <a:r>
              <a:rPr lang="en-US" sz="2400" smtClean="0"/>
              <a:t>How casual is too casual?</a:t>
            </a:r>
          </a:p>
          <a:p>
            <a:pPr lvl="1" eaLnBrk="1" hangingPunct="1"/>
            <a:endParaRPr lang="en-US" sz="240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defRPr/>
            </a:pPr>
            <a:r>
              <a:rPr lang="en-US" dirty="0" smtClean="0"/>
              <a:t>Resident Experience with:</a:t>
            </a:r>
            <a:br>
              <a:rPr lang="en-US" dirty="0" smtClean="0"/>
            </a:br>
            <a:r>
              <a:rPr lang="en-US" dirty="0" smtClean="0"/>
              <a:t>The Teachers</a:t>
            </a:r>
          </a:p>
        </p:txBody>
      </p:sp>
      <p:sp>
        <p:nvSpPr>
          <p:cNvPr id="20483" name="Rectangle 3"/>
          <p:cNvSpPr>
            <a:spLocks noGrp="1" noChangeArrowheads="1"/>
          </p:cNvSpPr>
          <p:nvPr>
            <p:ph type="body" idx="1"/>
          </p:nvPr>
        </p:nvSpPr>
        <p:spPr/>
        <p:txBody>
          <a:bodyPr/>
          <a:lstStyle/>
          <a:p>
            <a:pPr eaLnBrk="1" hangingPunct="1"/>
            <a:r>
              <a:rPr lang="en-US" sz="2800" smtClean="0"/>
              <a:t>Combination of Boomers and X-ers</a:t>
            </a:r>
          </a:p>
          <a:p>
            <a:pPr eaLnBrk="1" hangingPunct="1"/>
            <a:r>
              <a:rPr lang="en-US" sz="2800" smtClean="0"/>
              <a:t>Increased demand for clinical/research productivity in a time of decreasing reimbursements</a:t>
            </a:r>
          </a:p>
          <a:p>
            <a:pPr eaLnBrk="1" hangingPunct="1"/>
            <a:r>
              <a:rPr lang="en-US" sz="2800" smtClean="0"/>
              <a:t>Increased administrative burdens</a:t>
            </a:r>
          </a:p>
          <a:p>
            <a:pPr eaLnBrk="1" hangingPunct="1"/>
            <a:r>
              <a:rPr lang="en-US" sz="2800" smtClean="0"/>
              <a:t>Less time for teaching, not less commitment to it</a:t>
            </a:r>
          </a:p>
          <a:p>
            <a:pPr eaLnBrk="1" hangingPunct="1"/>
            <a:r>
              <a:rPr lang="en-US" sz="2800" smtClean="0"/>
              <a:t>Comfortable talking about their disillusionment</a:t>
            </a:r>
          </a:p>
          <a:p>
            <a:pPr eaLnBrk="1" hangingPunct="1"/>
            <a:endParaRPr lang="en-US" sz="2800" smtClean="0"/>
          </a:p>
          <a:p>
            <a:pPr eaLnBrk="1" hangingPunct="1"/>
            <a:endParaRPr lang="en-US" sz="280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pPr eaLnBrk="1" hangingPunct="1">
              <a:defRPr/>
            </a:pPr>
            <a:r>
              <a:rPr lang="en-US" dirty="0" smtClean="0"/>
              <a:t>Resident Experience with:</a:t>
            </a:r>
            <a:br>
              <a:rPr lang="en-US" dirty="0" smtClean="0"/>
            </a:br>
            <a:r>
              <a:rPr lang="en-US" dirty="0" smtClean="0"/>
              <a:t>Technology</a:t>
            </a:r>
          </a:p>
        </p:txBody>
      </p:sp>
      <p:sp>
        <p:nvSpPr>
          <p:cNvPr id="21507" name="Rectangle 3"/>
          <p:cNvSpPr>
            <a:spLocks noGrp="1" noChangeArrowheads="1"/>
          </p:cNvSpPr>
          <p:nvPr>
            <p:ph type="body" idx="1"/>
          </p:nvPr>
        </p:nvSpPr>
        <p:spPr/>
        <p:txBody>
          <a:bodyPr/>
          <a:lstStyle/>
          <a:p>
            <a:pPr eaLnBrk="1" hangingPunct="1">
              <a:lnSpc>
                <a:spcPct val="80000"/>
              </a:lnSpc>
            </a:pPr>
            <a:endParaRPr lang="en-US" sz="2800" smtClean="0"/>
          </a:p>
          <a:p>
            <a:pPr eaLnBrk="1" hangingPunct="1">
              <a:lnSpc>
                <a:spcPct val="80000"/>
              </a:lnSpc>
            </a:pPr>
            <a:r>
              <a:rPr lang="en-US" sz="2800" smtClean="0"/>
              <a:t>Process information quickly </a:t>
            </a:r>
          </a:p>
          <a:p>
            <a:pPr eaLnBrk="1" hangingPunct="1">
              <a:lnSpc>
                <a:spcPct val="80000"/>
              </a:lnSpc>
            </a:pPr>
            <a:r>
              <a:rPr lang="en-US" sz="2800" smtClean="0"/>
              <a:t>Desire streamlining</a:t>
            </a:r>
          </a:p>
          <a:p>
            <a:pPr eaLnBrk="1" hangingPunct="1">
              <a:lnSpc>
                <a:spcPct val="80000"/>
              </a:lnSpc>
            </a:pPr>
            <a:r>
              <a:rPr lang="en-US" sz="2800" smtClean="0"/>
              <a:t>Rapid access to online research tools</a:t>
            </a:r>
          </a:p>
          <a:p>
            <a:pPr eaLnBrk="1" hangingPunct="1">
              <a:lnSpc>
                <a:spcPct val="80000"/>
              </a:lnSpc>
            </a:pPr>
            <a:r>
              <a:rPr lang="en-US" sz="2800" smtClean="0"/>
              <a:t>In many ways, students become the teachers </a:t>
            </a:r>
          </a:p>
          <a:p>
            <a:pPr eaLnBrk="1" hangingPunct="1">
              <a:lnSpc>
                <a:spcPct val="80000"/>
              </a:lnSpc>
            </a:pPr>
            <a:r>
              <a:rPr lang="en-US" sz="2800" smtClean="0"/>
              <a:t>Little-to-no separation of professional and social applications</a:t>
            </a:r>
          </a:p>
          <a:p>
            <a:pPr eaLnBrk="1" hangingPunct="1">
              <a:lnSpc>
                <a:spcPct val="80000"/>
              </a:lnSpc>
              <a:buFontTx/>
              <a:buNone/>
            </a:pPr>
            <a:endParaRPr lang="en-US" sz="280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eaLnBrk="1" hangingPunct="1">
              <a:defRPr/>
            </a:pPr>
            <a:r>
              <a:rPr lang="en-US" dirty="0" smtClean="0"/>
              <a:t>Resident Experience with:</a:t>
            </a:r>
            <a:br>
              <a:rPr lang="en-US" dirty="0" smtClean="0"/>
            </a:br>
            <a:r>
              <a:rPr lang="en-US" dirty="0" smtClean="0"/>
              <a:t>Life Outside of Medicine</a:t>
            </a:r>
          </a:p>
        </p:txBody>
      </p:sp>
      <p:sp>
        <p:nvSpPr>
          <p:cNvPr id="22531" name="Rectangle 3"/>
          <p:cNvSpPr>
            <a:spLocks noGrp="1" noChangeArrowheads="1"/>
          </p:cNvSpPr>
          <p:nvPr>
            <p:ph type="body" idx="1"/>
          </p:nvPr>
        </p:nvSpPr>
        <p:spPr/>
        <p:txBody>
          <a:bodyPr/>
          <a:lstStyle/>
          <a:p>
            <a:pPr eaLnBrk="1" hangingPunct="1"/>
            <a:r>
              <a:rPr lang="en-US" smtClean="0"/>
              <a:t>Importance of healthy lifestyles, healthy relationships and preventive care</a:t>
            </a:r>
          </a:p>
          <a:p>
            <a:pPr eaLnBrk="1" hangingPunct="1"/>
            <a:r>
              <a:rPr lang="en-US" smtClean="0"/>
              <a:t>Modeling this for our patients</a:t>
            </a:r>
          </a:p>
          <a:p>
            <a:pPr eaLnBrk="1" hangingPunct="1"/>
            <a:r>
              <a:rPr lang="en-US" smtClean="0"/>
              <a:t>Today’s learners expect to care for themselves, their relationships, their patients</a:t>
            </a:r>
          </a:p>
          <a:p>
            <a:pPr lvl="1" eaLnBrk="1" hangingPunct="1"/>
            <a:r>
              <a:rPr lang="en-US" smtClean="0"/>
              <a:t>Balance of competing loyalties</a:t>
            </a:r>
          </a:p>
          <a:p>
            <a:pPr eaLnBrk="1" hangingPunct="1">
              <a:buFontTx/>
              <a:buNone/>
            </a:pPr>
            <a:endParaRPr lang="en-US"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Going Forward	</a:t>
            </a:r>
          </a:p>
        </p:txBody>
      </p:sp>
      <p:sp>
        <p:nvSpPr>
          <p:cNvPr id="23555" name="Rectangle 3"/>
          <p:cNvSpPr>
            <a:spLocks noGrp="1" noChangeArrowheads="1"/>
          </p:cNvSpPr>
          <p:nvPr>
            <p:ph type="body" idx="1"/>
          </p:nvPr>
        </p:nvSpPr>
        <p:spPr/>
        <p:txBody>
          <a:bodyPr/>
          <a:lstStyle/>
          <a:p>
            <a:pPr eaLnBrk="1" hangingPunct="1"/>
            <a:r>
              <a:rPr lang="en-US" smtClean="0"/>
              <a:t>“Who am I”</a:t>
            </a:r>
          </a:p>
          <a:p>
            <a:pPr eaLnBrk="1" hangingPunct="1"/>
            <a:endParaRPr lang="en-US" smtClean="0"/>
          </a:p>
          <a:p>
            <a:pPr eaLnBrk="1" hangingPunct="1"/>
            <a:r>
              <a:rPr lang="en-US" smtClean="0"/>
              <a:t>Scenarios</a:t>
            </a:r>
          </a:p>
          <a:p>
            <a:pPr eaLnBrk="1" hangingPunct="1"/>
            <a:endParaRPr lang="en-US" smtClean="0"/>
          </a:p>
          <a:p>
            <a:pPr eaLnBrk="1" hangingPunct="1"/>
            <a:endParaRPr lang="en-US"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References</a:t>
            </a:r>
          </a:p>
        </p:txBody>
      </p:sp>
      <p:sp>
        <p:nvSpPr>
          <p:cNvPr id="24579" name="Rectangle 3"/>
          <p:cNvSpPr>
            <a:spLocks noGrp="1" noChangeArrowheads="1"/>
          </p:cNvSpPr>
          <p:nvPr>
            <p:ph type="body" idx="1"/>
          </p:nvPr>
        </p:nvSpPr>
        <p:spPr/>
        <p:txBody>
          <a:bodyPr/>
          <a:lstStyle/>
          <a:p>
            <a:pPr eaLnBrk="1" hangingPunct="1">
              <a:lnSpc>
                <a:spcPct val="70000"/>
              </a:lnSpc>
            </a:pPr>
            <a:r>
              <a:rPr lang="en-US" sz="2000" smtClean="0"/>
              <a:t>Borges N, et al.  Comparing Millennial and GenerationX Medical Students at One Medical School. Acad Med. 2006;81:571-76.</a:t>
            </a:r>
          </a:p>
          <a:p>
            <a:pPr eaLnBrk="1" hangingPunct="1">
              <a:lnSpc>
                <a:spcPct val="70000"/>
              </a:lnSpc>
            </a:pPr>
            <a:r>
              <a:rPr lang="en-US" sz="2000" smtClean="0"/>
              <a:t>Howell LP, Servis G, Bonham A. Multigenerational Challenges in Academic Medicine: U.C. Davis’s Responses. Acad Med. 2005;80:527-32.</a:t>
            </a:r>
          </a:p>
          <a:p>
            <a:pPr eaLnBrk="1" hangingPunct="1">
              <a:lnSpc>
                <a:spcPct val="70000"/>
              </a:lnSpc>
            </a:pPr>
            <a:r>
              <a:rPr lang="en-US" sz="2000" smtClean="0"/>
              <a:t>Bickel J, Grown AJ, Generation X: Implications for Faculty Recruitment and Development in Academic Health Centers. Acad Med. 2005;80:2003-4.</a:t>
            </a:r>
          </a:p>
          <a:p>
            <a:pPr eaLnBrk="1" hangingPunct="1">
              <a:lnSpc>
                <a:spcPct val="70000"/>
              </a:lnSpc>
            </a:pPr>
            <a:r>
              <a:rPr lang="en-US" sz="2000" smtClean="0"/>
              <a:t>Association of American Medical Colleges WebSite. AAMC facts page.  Available at: http://www.aamc.org/data/facts.  Accessed January 4, 2010.</a:t>
            </a:r>
          </a:p>
          <a:p>
            <a:pPr eaLnBrk="1" hangingPunct="1">
              <a:lnSpc>
                <a:spcPct val="70000"/>
              </a:lnSpc>
            </a:pPr>
            <a:r>
              <a:rPr lang="en-US" sz="2000" smtClean="0"/>
              <a:t>Richard Corlin, MD.  Susan Reynolds, MD, PhD.  Physician Leadership Development Program: “Learning to Lead and Succeed”.  Pennsylvania Medical Society Annual Conference.  October 23, 2009.</a:t>
            </a:r>
          </a:p>
          <a:p>
            <a:pPr eaLnBrk="1" hangingPunct="1">
              <a:lnSpc>
                <a:spcPct val="70000"/>
              </a:lnSpc>
            </a:pPr>
            <a:endParaRPr lang="en-US" sz="200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dirty="0" smtClean="0">
                <a:solidFill>
                  <a:schemeClr val="tx2">
                    <a:satMod val="130000"/>
                  </a:schemeClr>
                </a:solidFill>
              </a:rPr>
              <a:t>Generational Differences</a:t>
            </a:r>
            <a:endParaRPr lang="en-US" dirty="0"/>
          </a:p>
        </p:txBody>
      </p:sp>
      <p:sp>
        <p:nvSpPr>
          <p:cNvPr id="25603" name="Rectangle 3"/>
          <p:cNvSpPr>
            <a:spLocks noGrp="1" noChangeArrowheads="1"/>
          </p:cNvSpPr>
          <p:nvPr>
            <p:ph type="subTitle" idx="1"/>
          </p:nvPr>
        </p:nvSpPr>
        <p:spPr/>
        <p:txBody>
          <a:bodyPr/>
          <a:lstStyle/>
          <a:p>
            <a:pPr eaLnBrk="1" hangingPunct="1"/>
            <a:r>
              <a:rPr lang="en-US" smtClean="0"/>
              <a:t>Program Directors’ Perspective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457200"/>
            <a:ext cx="8229600" cy="914400"/>
          </a:xfrm>
          <a:ln>
            <a:solidFill>
              <a:schemeClr val="bg1"/>
            </a:solidFill>
          </a:ln>
        </p:spPr>
        <p:txBody>
          <a:bodyPr/>
          <a:lstStyle/>
          <a:p>
            <a:pPr eaLnBrk="1" hangingPunct="1"/>
            <a:r>
              <a:rPr lang="en-US" sz="3200" smtClean="0">
                <a:solidFill>
                  <a:schemeClr val="tx1"/>
                </a:solidFill>
              </a:rPr>
              <a:t>Feedback from PDs:</a:t>
            </a:r>
            <a:br>
              <a:rPr lang="en-US" sz="3200" smtClean="0">
                <a:solidFill>
                  <a:schemeClr val="tx1"/>
                </a:solidFill>
              </a:rPr>
            </a:br>
            <a:r>
              <a:rPr lang="en-US" sz="3200" smtClean="0">
                <a:solidFill>
                  <a:schemeClr val="tx1"/>
                </a:solidFill>
              </a:rPr>
              <a:t>Generational Impact on Training</a:t>
            </a:r>
          </a:p>
        </p:txBody>
      </p:sp>
      <p:sp>
        <p:nvSpPr>
          <p:cNvPr id="26627" name="Rectangle 3"/>
          <p:cNvSpPr>
            <a:spLocks noGrp="1" noChangeArrowheads="1"/>
          </p:cNvSpPr>
          <p:nvPr>
            <p:ph idx="1"/>
          </p:nvPr>
        </p:nvSpPr>
        <p:spPr>
          <a:xfrm>
            <a:off x="533400" y="1524000"/>
            <a:ext cx="8229600" cy="4038600"/>
          </a:xfrm>
        </p:spPr>
        <p:txBody>
          <a:bodyPr/>
          <a:lstStyle/>
          <a:p>
            <a:pPr eaLnBrk="1" hangingPunct="1">
              <a:lnSpc>
                <a:spcPct val="80000"/>
              </a:lnSpc>
            </a:pPr>
            <a:endParaRPr lang="en-US" sz="2400" smtClean="0"/>
          </a:p>
          <a:p>
            <a:pPr eaLnBrk="1" hangingPunct="1">
              <a:lnSpc>
                <a:spcPct val="80000"/>
              </a:lnSpc>
            </a:pPr>
            <a:endParaRPr lang="en-US" sz="2400" smtClean="0"/>
          </a:p>
          <a:p>
            <a:pPr eaLnBrk="1" hangingPunct="1">
              <a:lnSpc>
                <a:spcPct val="80000"/>
              </a:lnSpc>
            </a:pPr>
            <a:r>
              <a:rPr lang="en-US" sz="2400" smtClean="0"/>
              <a:t>Extensive questioning by residents: “Why do I have to learn that?”</a:t>
            </a:r>
          </a:p>
          <a:p>
            <a:pPr eaLnBrk="1" hangingPunct="1">
              <a:lnSpc>
                <a:spcPct val="80000"/>
              </a:lnSpc>
            </a:pPr>
            <a:r>
              <a:rPr lang="en-US" sz="2400" smtClean="0"/>
              <a:t>Professionalism issues: Dress, music players, cell phones, taking time off when they want it </a:t>
            </a:r>
          </a:p>
          <a:p>
            <a:pPr eaLnBrk="1" hangingPunct="1">
              <a:lnSpc>
                <a:spcPct val="80000"/>
              </a:lnSpc>
            </a:pPr>
            <a:r>
              <a:rPr lang="en-US" sz="2400" smtClean="0"/>
              <a:t>Too much reliance on technology, not thinking (i.e. cut and paste electronic records)</a:t>
            </a:r>
          </a:p>
          <a:p>
            <a:pPr eaLnBrk="1" hangingPunct="1">
              <a:lnSpc>
                <a:spcPct val="80000"/>
              </a:lnSpc>
            </a:pPr>
            <a:r>
              <a:rPr lang="en-US" sz="2400" smtClean="0"/>
              <a:t>Poor lecture attendance – residents stating it should not be required, requesting materials to be placed on-line</a:t>
            </a:r>
          </a:p>
          <a:p>
            <a:pPr eaLnBrk="1" hangingPunct="1">
              <a:lnSpc>
                <a:spcPct val="80000"/>
              </a:lnSpc>
            </a:pPr>
            <a:r>
              <a:rPr lang="en-US" sz="2400" smtClean="0"/>
              <a:t>Lack of participation in large lecture formats</a:t>
            </a:r>
          </a:p>
          <a:p>
            <a:pPr eaLnBrk="1" hangingPunct="1">
              <a:lnSpc>
                <a:spcPct val="80000"/>
              </a:lnSpc>
            </a:pPr>
            <a:r>
              <a:rPr lang="en-US" sz="2400" smtClean="0"/>
              <a:t>Increased emphasis on activities outside of work</a:t>
            </a:r>
          </a:p>
          <a:p>
            <a:pPr eaLnBrk="1" hangingPunct="1">
              <a:lnSpc>
                <a:spcPct val="80000"/>
              </a:lnSpc>
              <a:buFontTx/>
              <a:buNone/>
            </a:pPr>
            <a:endParaRPr lang="en-US" sz="2400" smtClean="0"/>
          </a:p>
          <a:p>
            <a:pPr eaLnBrk="1" hangingPunct="1">
              <a:lnSpc>
                <a:spcPct val="80000"/>
              </a:lnSpc>
            </a:pPr>
            <a:endParaRPr lang="en-US" sz="240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1000" y="228600"/>
            <a:ext cx="8229600" cy="1401763"/>
          </a:xfrm>
        </p:spPr>
        <p:txBody>
          <a:bodyPr/>
          <a:lstStyle/>
          <a:p>
            <a:pPr eaLnBrk="1" hangingPunct="1"/>
            <a:r>
              <a:rPr lang="en-US" smtClean="0">
                <a:solidFill>
                  <a:schemeClr val="accent1"/>
                </a:solidFill>
              </a:rPr>
              <a:t>  </a:t>
            </a:r>
            <a:r>
              <a:rPr lang="en-US" smtClean="0">
                <a:solidFill>
                  <a:schemeClr val="tx1"/>
                </a:solidFill>
              </a:rPr>
              <a:t>Resident Perspective</a:t>
            </a:r>
          </a:p>
        </p:txBody>
      </p:sp>
      <p:sp>
        <p:nvSpPr>
          <p:cNvPr id="27651" name="Rectangle 3"/>
          <p:cNvSpPr>
            <a:spLocks noGrp="1" noChangeArrowheads="1"/>
          </p:cNvSpPr>
          <p:nvPr>
            <p:ph idx="1"/>
          </p:nvPr>
        </p:nvSpPr>
        <p:spPr>
          <a:xfrm>
            <a:off x="457200" y="1752600"/>
            <a:ext cx="8229600" cy="4373563"/>
          </a:xfrm>
        </p:spPr>
        <p:txBody>
          <a:bodyPr/>
          <a:lstStyle/>
          <a:p>
            <a:pPr marL="609600" indent="-609600" eaLnBrk="1" hangingPunct="1">
              <a:lnSpc>
                <a:spcPct val="80000"/>
              </a:lnSpc>
            </a:pPr>
            <a:r>
              <a:rPr lang="en-US" sz="2400" smtClean="0"/>
              <a:t>Trying to strike a work/life balance and questioning helps prioritize.</a:t>
            </a:r>
          </a:p>
          <a:p>
            <a:pPr marL="609600" indent="-609600" eaLnBrk="1" hangingPunct="1">
              <a:lnSpc>
                <a:spcPct val="80000"/>
              </a:lnSpc>
            </a:pPr>
            <a:r>
              <a:rPr lang="en-US" sz="2400" smtClean="0"/>
              <a:t>More informal dress is appropriate to accomplish daily work.  Cell phones and music help with connection to outside life and with enjoyment of the work day.</a:t>
            </a:r>
          </a:p>
          <a:p>
            <a:pPr marL="609600" indent="-609600" eaLnBrk="1" hangingPunct="1">
              <a:lnSpc>
                <a:spcPct val="80000"/>
              </a:lnSpc>
            </a:pPr>
            <a:r>
              <a:rPr lang="en-US" sz="2400" smtClean="0"/>
              <a:t>Use of technology increases efficiency – why redo a document that was already created?  More documentation needed now than when faculty trained.</a:t>
            </a:r>
          </a:p>
          <a:p>
            <a:pPr marL="609600" indent="-609600" eaLnBrk="1" hangingPunct="1">
              <a:lnSpc>
                <a:spcPct val="80000"/>
              </a:lnSpc>
            </a:pPr>
            <a:r>
              <a:rPr lang="en-US" sz="2400" smtClean="0"/>
              <a:t>Residents want the option to choose what they learn – some topics do not appear relevant.</a:t>
            </a:r>
          </a:p>
          <a:p>
            <a:pPr marL="609600" indent="-609600" eaLnBrk="1" hangingPunct="1">
              <a:lnSpc>
                <a:spcPct val="80000"/>
              </a:lnSpc>
            </a:pPr>
            <a:r>
              <a:rPr lang="en-US" sz="2400" smtClean="0"/>
              <a:t>Why risk embarrassment in front of peers by speaking out on a topic?</a:t>
            </a:r>
          </a:p>
          <a:p>
            <a:pPr marL="609600" indent="-609600" eaLnBrk="1" hangingPunct="1">
              <a:lnSpc>
                <a:spcPct val="80000"/>
              </a:lnSpc>
            </a:pPr>
            <a:r>
              <a:rPr lang="en-US" sz="2400" smtClean="0"/>
              <a:t>Life/work balance is important.</a:t>
            </a:r>
          </a:p>
          <a:p>
            <a:pPr marL="609600" indent="-609600" eaLnBrk="1" hangingPunct="1">
              <a:lnSpc>
                <a:spcPct val="80000"/>
              </a:lnSpc>
            </a:pPr>
            <a:endParaRPr lang="en-US" sz="2400" smtClean="0"/>
          </a:p>
          <a:p>
            <a:pPr marL="609600" indent="-609600" eaLnBrk="1" hangingPunct="1">
              <a:lnSpc>
                <a:spcPct val="80000"/>
              </a:lnSpc>
            </a:pPr>
            <a:endParaRPr lang="en-US" sz="240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solidFill>
                  <a:schemeClr val="tx1"/>
                </a:solidFill>
              </a:rPr>
              <a:t>ACGME Competencies:</a:t>
            </a:r>
            <a:br>
              <a:rPr lang="en-US" smtClean="0">
                <a:solidFill>
                  <a:schemeClr val="tx1"/>
                </a:solidFill>
              </a:rPr>
            </a:br>
            <a:r>
              <a:rPr lang="en-US" sz="2400" smtClean="0">
                <a:solidFill>
                  <a:schemeClr val="tx1"/>
                </a:solidFill>
              </a:rPr>
              <a:t>Generational Differences</a:t>
            </a:r>
          </a:p>
        </p:txBody>
      </p:sp>
      <p:sp>
        <p:nvSpPr>
          <p:cNvPr id="28675" name="Rectangle 3"/>
          <p:cNvSpPr>
            <a:spLocks noGrp="1" noChangeArrowheads="1"/>
          </p:cNvSpPr>
          <p:nvPr>
            <p:ph idx="1"/>
          </p:nvPr>
        </p:nvSpPr>
        <p:spPr/>
        <p:txBody>
          <a:bodyPr/>
          <a:lstStyle/>
          <a:p>
            <a:pPr eaLnBrk="1" hangingPunct="1"/>
            <a:r>
              <a:rPr lang="en-US" sz="2400" smtClean="0"/>
              <a:t>Professionalism </a:t>
            </a:r>
          </a:p>
          <a:p>
            <a:pPr lvl="1" eaLnBrk="1" hangingPunct="1"/>
            <a:r>
              <a:rPr lang="en-US" sz="2000" smtClean="0"/>
              <a:t>Definition of professionalism</a:t>
            </a:r>
          </a:p>
          <a:p>
            <a:pPr eaLnBrk="1" hangingPunct="1"/>
            <a:r>
              <a:rPr lang="en-US" sz="2400" smtClean="0"/>
              <a:t>Interpersonal and Communication Skills </a:t>
            </a:r>
          </a:p>
          <a:p>
            <a:pPr lvl="1" eaLnBrk="1" hangingPunct="1"/>
            <a:r>
              <a:rPr lang="en-US" sz="2000" smtClean="0"/>
              <a:t>Formal vs. informal communication</a:t>
            </a:r>
          </a:p>
          <a:p>
            <a:pPr eaLnBrk="1" hangingPunct="1"/>
            <a:r>
              <a:rPr lang="en-US" sz="2400" smtClean="0"/>
              <a:t>Medical Knowledge</a:t>
            </a:r>
          </a:p>
          <a:p>
            <a:pPr lvl="1" eaLnBrk="1" hangingPunct="1"/>
            <a:r>
              <a:rPr lang="en-US" sz="2000" smtClean="0"/>
              <a:t>Best way to acquire knowledge</a:t>
            </a:r>
          </a:p>
          <a:p>
            <a:pPr eaLnBrk="1" hangingPunct="1"/>
            <a:r>
              <a:rPr lang="en-US" sz="2400" smtClean="0"/>
              <a:t>Systems-Based Practice	</a:t>
            </a:r>
          </a:p>
          <a:p>
            <a:pPr lvl="1" eaLnBrk="1" hangingPunct="1"/>
            <a:r>
              <a:rPr lang="en-US" sz="2000" smtClean="0"/>
              <a:t>Working within system - electronics</a:t>
            </a:r>
          </a:p>
          <a:p>
            <a:pPr eaLnBrk="1" hangingPunct="1"/>
            <a:r>
              <a:rPr lang="en-US" sz="2400" smtClean="0"/>
              <a:t>Practice-Based Learning and Improvement</a:t>
            </a:r>
          </a:p>
          <a:p>
            <a:pPr lvl="1" eaLnBrk="1" hangingPunct="1"/>
            <a:r>
              <a:rPr lang="en-US" sz="2000" smtClean="0"/>
              <a:t>Methods used</a:t>
            </a:r>
          </a:p>
          <a:p>
            <a:pPr eaLnBrk="1" hangingPunct="1"/>
            <a:r>
              <a:rPr lang="en-US" sz="2400" smtClean="0"/>
              <a:t>Patient Care</a:t>
            </a:r>
          </a:p>
          <a:p>
            <a:pPr lvl="1" eaLnBrk="1" hangingPunct="1"/>
            <a:r>
              <a:rPr lang="en-US" sz="2000" smtClean="0"/>
              <a:t>Use of electronic devices for patient care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609600"/>
            <a:ext cx="7924800" cy="609600"/>
          </a:xfrm>
        </p:spPr>
        <p:txBody>
          <a:bodyPr>
            <a:normAutofit fontScale="90000"/>
          </a:bodyPr>
          <a:lstStyle/>
          <a:p>
            <a:pPr eaLnBrk="1" hangingPunct="1">
              <a:defRPr/>
            </a:pPr>
            <a:r>
              <a:rPr lang="en-US" sz="3600" dirty="0"/>
              <a:t>Competency and the </a:t>
            </a:r>
            <a:r>
              <a:rPr lang="en-US" sz="3600" dirty="0" smtClean="0"/>
              <a:t/>
            </a:r>
            <a:br>
              <a:rPr lang="en-US" sz="3600" dirty="0" smtClean="0"/>
            </a:br>
            <a:r>
              <a:rPr lang="en-US" sz="3600" dirty="0" smtClean="0"/>
              <a:t>Generations </a:t>
            </a:r>
            <a:r>
              <a:rPr lang="en-US" sz="3600" dirty="0"/>
              <a:t>X and Y</a:t>
            </a:r>
          </a:p>
        </p:txBody>
      </p:sp>
      <p:sp>
        <p:nvSpPr>
          <p:cNvPr id="29699" name="Rectangle 3"/>
          <p:cNvSpPr>
            <a:spLocks noGrp="1" noChangeArrowheads="1"/>
          </p:cNvSpPr>
          <p:nvPr>
            <p:ph idx="1"/>
          </p:nvPr>
        </p:nvSpPr>
        <p:spPr/>
        <p:txBody>
          <a:bodyPr/>
          <a:lstStyle/>
          <a:p>
            <a:pPr eaLnBrk="1" hangingPunct="1"/>
            <a:r>
              <a:rPr lang="en-US" smtClean="0"/>
              <a:t>Program directors need to have residents meet the basic competency requirements as set by the specialty boards and ACGME.</a:t>
            </a:r>
          </a:p>
          <a:p>
            <a:pPr eaLnBrk="1" hangingPunct="1"/>
            <a:r>
              <a:rPr lang="en-US" smtClean="0"/>
              <a:t>PDs need to adjust definitions of the competencies and how they are taught to maximize resident learning in the new generations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title"/>
          </p:nvPr>
        </p:nvSpPr>
        <p:spPr>
          <a:xfrm>
            <a:off x="457200" y="609600"/>
            <a:ext cx="7620000" cy="563563"/>
          </a:xfrm>
        </p:spPr>
        <p:txBody>
          <a:bodyPr/>
          <a:lstStyle/>
          <a:p>
            <a:pPr eaLnBrk="1" hangingPunct="1"/>
            <a:r>
              <a:rPr lang="en-US" sz="3600" smtClean="0"/>
              <a:t>Compromise in the Competencies</a:t>
            </a:r>
          </a:p>
        </p:txBody>
      </p:sp>
      <p:graphicFrame>
        <p:nvGraphicFramePr>
          <p:cNvPr id="10445" name="Group 205"/>
          <p:cNvGraphicFramePr>
            <a:graphicFrameLocks noGrp="1"/>
          </p:cNvGraphicFramePr>
          <p:nvPr>
            <p:ph idx="1"/>
          </p:nvPr>
        </p:nvGraphicFramePr>
        <p:xfrm>
          <a:off x="152400" y="1371600"/>
          <a:ext cx="8382000" cy="5181600"/>
        </p:xfrm>
        <a:graphic>
          <a:graphicData uri="http://schemas.openxmlformats.org/drawingml/2006/table">
            <a:tbl>
              <a:tblPr/>
              <a:tblGrid>
                <a:gridCol w="1600200"/>
                <a:gridCol w="2209800"/>
                <a:gridCol w="2372641"/>
                <a:gridCol w="2199359"/>
              </a:tblGrid>
              <a:tr h="9062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Competency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Seasoned Faculty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Common Ground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Young Residents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60078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Medical Knowledge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Attend 100% of all lectures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Adjust attendance requirements to 75% unless in-service exam scores are &lt;50%ile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Rather read lectures of choice online</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4246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Patient care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Insist on personal or phone </a:t>
                      </a:r>
                      <a:r>
                        <a:rPr kumimoji="0" lang="en-US" sz="1800" b="0" i="0" u="none" strike="noStrike" cap="none" normalizeH="0" baseline="0" dirty="0" err="1" smtClean="0">
                          <a:ln>
                            <a:noFill/>
                          </a:ln>
                          <a:solidFill>
                            <a:srgbClr val="000000"/>
                          </a:solidFill>
                          <a:effectLst/>
                          <a:latin typeface="Arial" charset="0"/>
                          <a:ea typeface="Times New Roman" pitchFamily="18" charset="0"/>
                          <a:cs typeface="Arial" charset="0"/>
                        </a:rPr>
                        <a:t>signout</a:t>
                      </a: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 daily on inpatient services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      Call only if there are urgent issues requiring action that evening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Email or electronic </a:t>
                      </a:r>
                      <a:r>
                        <a:rPr kumimoji="0" lang="en-US" sz="1800" b="0" i="0" u="none" strike="noStrike" cap="none" normalizeH="0" baseline="0" dirty="0" err="1" smtClean="0">
                          <a:ln>
                            <a:noFill/>
                          </a:ln>
                          <a:solidFill>
                            <a:srgbClr val="000000"/>
                          </a:solidFill>
                          <a:effectLst/>
                          <a:latin typeface="Arial" charset="0"/>
                          <a:ea typeface="Times New Roman" pitchFamily="18" charset="0"/>
                          <a:cs typeface="Arial" charset="0"/>
                        </a:rPr>
                        <a:t>signout</a:t>
                      </a:r>
                      <a:r>
                        <a:rPr kumimoji="0" lang="en-US" sz="1800" b="0" i="0" u="none" strike="noStrike" cap="none" normalizeH="0" baseline="0" dirty="0" smtClean="0">
                          <a:ln>
                            <a:noFill/>
                          </a:ln>
                          <a:solidFill>
                            <a:srgbClr val="000000"/>
                          </a:solidFill>
                          <a:effectLst/>
                          <a:latin typeface="Arial" charset="0"/>
                          <a:ea typeface="Times New Roman" pitchFamily="18" charset="0"/>
                          <a:cs typeface="Arial" charset="0"/>
                        </a:rPr>
                        <a:t> is available, so no need to call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24994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Systems Based Practice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Personally phone in all consults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Call in urgent consults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Electronic orders places, no need to call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a:xfrm>
            <a:off x="457200" y="609600"/>
            <a:ext cx="8229600" cy="533400"/>
          </a:xfrm>
        </p:spPr>
        <p:txBody>
          <a:bodyPr/>
          <a:lstStyle/>
          <a:p>
            <a:pPr eaLnBrk="1" hangingPunct="1"/>
            <a:r>
              <a:rPr lang="en-US" sz="3600" smtClean="0"/>
              <a:t>Compromise in the Competencies</a:t>
            </a:r>
          </a:p>
        </p:txBody>
      </p:sp>
      <p:graphicFrame>
        <p:nvGraphicFramePr>
          <p:cNvPr id="13342" name="Group 30"/>
          <p:cNvGraphicFramePr>
            <a:graphicFrameLocks noGrp="1"/>
          </p:cNvGraphicFramePr>
          <p:nvPr>
            <p:ph idx="1"/>
          </p:nvPr>
        </p:nvGraphicFramePr>
        <p:xfrm>
          <a:off x="0" y="1371600"/>
          <a:ext cx="8534400" cy="5181600"/>
        </p:xfrm>
        <a:graphic>
          <a:graphicData uri="http://schemas.openxmlformats.org/drawingml/2006/table">
            <a:tbl>
              <a:tblPr/>
              <a:tblGrid>
                <a:gridCol w="1981200"/>
                <a:gridCol w="2133600"/>
                <a:gridCol w="2286000"/>
                <a:gridCol w="2133600"/>
              </a:tblGrid>
              <a:tr h="50519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Competency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Seasoned Faculty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Common Ground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rPr>
                        <a:t>Young Residents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476010">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cap="none" normalizeH="0" baseline="0" dirty="0" smtClean="0">
                          <a:ln>
                            <a:noFill/>
                          </a:ln>
                          <a:solidFill>
                            <a:schemeClr val="tx1"/>
                          </a:solidFill>
                          <a:effectLst/>
                          <a:latin typeface="Arial" charset="0"/>
                        </a:rPr>
                        <a:t>Professionalism</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cap="none" normalizeH="0" baseline="0" dirty="0" smtClean="0">
                          <a:ln>
                            <a:noFill/>
                          </a:ln>
                          <a:solidFill>
                            <a:schemeClr val="tx1"/>
                          </a:solidFill>
                          <a:effectLst/>
                          <a:latin typeface="Arial" charset="0"/>
                        </a:rPr>
                        <a:t>Formal clothes and white coat required for all patient interactions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cap="none" normalizeH="0" baseline="0" dirty="0" smtClean="0">
                          <a:ln>
                            <a:noFill/>
                          </a:ln>
                          <a:solidFill>
                            <a:schemeClr val="tx1"/>
                          </a:solidFill>
                          <a:effectLst/>
                          <a:latin typeface="Arial" charset="0"/>
                        </a:rPr>
                        <a:t>Adjust dress code to include casual clothes but maintain professional appearance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rPr>
                        <a:t>Patients can relate better to someone dressed more informally, white coat is too formal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6454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Practice Based learning and Improvement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Weekly Journal Clubs scheduled for 7am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Monthly journal clubs and incorporate more informal, patient-based literature review on rounds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Would rather review pertinent literature at home based on patients on service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r h="13856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Interpersonal &amp;Communication skills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Use titles to formally address patients, introduce yourself as Dr.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Adjust your style based on the patient – can be a learning process for the trainee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rPr>
                        <a:t>Use first names to establish a better relationship with patients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20000"/>
                        <a:lumOff val="80000"/>
                      </a:schemeClr>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solidFill>
                  <a:schemeClr val="tx1"/>
                </a:solidFill>
              </a:rPr>
              <a:t>References</a:t>
            </a:r>
          </a:p>
        </p:txBody>
      </p:sp>
      <p:sp>
        <p:nvSpPr>
          <p:cNvPr id="32771" name="Rectangle 3"/>
          <p:cNvSpPr>
            <a:spLocks noGrp="1" noChangeArrowheads="1"/>
          </p:cNvSpPr>
          <p:nvPr>
            <p:ph idx="1"/>
          </p:nvPr>
        </p:nvSpPr>
        <p:spPr>
          <a:xfrm>
            <a:off x="533400" y="1684338"/>
            <a:ext cx="8001000" cy="4454525"/>
          </a:xfrm>
        </p:spPr>
        <p:txBody>
          <a:bodyPr/>
          <a:lstStyle/>
          <a:p>
            <a:pPr eaLnBrk="1" hangingPunct="1"/>
            <a:r>
              <a:rPr lang="en-US" sz="2800" smtClean="0"/>
              <a:t>“Mind the Gap”, Clark JT, Marks JG, MillerJJ, Arch Dermatol, Vol 142, July 2006</a:t>
            </a:r>
          </a:p>
          <a:p>
            <a:pPr eaLnBrk="1" hangingPunct="1"/>
            <a:r>
              <a:rPr lang="en-US" sz="2800" smtClean="0"/>
              <a:t>“Is the generation gap a growth opportunity?” J Berthold,</a:t>
            </a:r>
            <a:r>
              <a:rPr lang="en-US" sz="2800" b="1" smtClean="0"/>
              <a:t> </a:t>
            </a:r>
            <a:r>
              <a:rPr lang="en-US" sz="2800" smtClean="0">
                <a:hlinkClick r:id="rId2"/>
              </a:rPr>
              <a:t>www.acpinternist.org/archives/2008/04/two.htm</a:t>
            </a:r>
            <a:endParaRPr lang="en-US" sz="2800" smtClean="0"/>
          </a:p>
          <a:p>
            <a:pPr eaLnBrk="1" hangingPunct="1"/>
            <a:r>
              <a:rPr lang="en-US" sz="2800" smtClean="0"/>
              <a:t>M. Burmeister, </a:t>
            </a:r>
            <a:r>
              <a:rPr lang="en-US" sz="2800" u="sng" smtClean="0"/>
              <a:t>Boomers to Bloggers</a:t>
            </a:r>
            <a:r>
              <a:rPr lang="en-US" sz="2800" smtClean="0"/>
              <a:t>, Synergy Press LLC, Fairfax VA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Talk or Text? Take home points</a:t>
            </a:r>
          </a:p>
        </p:txBody>
      </p:sp>
      <p:sp>
        <p:nvSpPr>
          <p:cNvPr id="33795" name="Rectangle 3"/>
          <p:cNvSpPr>
            <a:spLocks noGrp="1" noChangeArrowheads="1"/>
          </p:cNvSpPr>
          <p:nvPr>
            <p:ph idx="1"/>
          </p:nvPr>
        </p:nvSpPr>
        <p:spPr>
          <a:solidFill>
            <a:srgbClr val="AADBF4"/>
          </a:solidFill>
        </p:spPr>
        <p:txBody>
          <a:bodyPr/>
          <a:lstStyle/>
          <a:p>
            <a:pPr eaLnBrk="1" hangingPunct="1"/>
            <a:r>
              <a:rPr lang="en-US" smtClean="0"/>
              <a:t>There are new generations of residents training in our programs.</a:t>
            </a:r>
          </a:p>
          <a:p>
            <a:pPr eaLnBrk="1" hangingPunct="1"/>
            <a:r>
              <a:rPr lang="en-US" smtClean="0"/>
              <a:t>The new generations are bright, educated people.</a:t>
            </a:r>
          </a:p>
          <a:p>
            <a:pPr eaLnBrk="1" hangingPunct="1"/>
            <a:r>
              <a:rPr lang="en-US" smtClean="0"/>
              <a:t>Program modifications may be needed to maximize learning while maintaining quality and core values.</a:t>
            </a:r>
          </a:p>
          <a:p>
            <a:pPr eaLnBrk="1" hangingPunct="1">
              <a:buFontTx/>
              <a:buNone/>
            </a:pPr>
            <a:endParaRPr lang="en-US" smtClean="0"/>
          </a:p>
        </p:txBody>
      </p:sp>
    </p:spTree>
  </p:cSld>
  <p:clrMapOvr>
    <a:masterClrMapping/>
  </p:clrMapOvr>
</p:sld>
</file>

<file path=ppt/theme/theme1.xml><?xml version="1.0" encoding="utf-8"?>
<a:theme xmlns:a="http://schemas.openxmlformats.org/drawingml/2006/main" name="Medical Glass">
  <a:themeElements>
    <a:clrScheme name="Medical Glass 4">
      <a:dk1>
        <a:srgbClr val="000000"/>
      </a:dk1>
      <a:lt1>
        <a:srgbClr val="99C7E8"/>
      </a:lt1>
      <a:dk2>
        <a:srgbClr val="000000"/>
      </a:dk2>
      <a:lt2>
        <a:srgbClr val="808080"/>
      </a:lt2>
      <a:accent1>
        <a:srgbClr val="3399FF"/>
      </a:accent1>
      <a:accent2>
        <a:srgbClr val="99FFCC"/>
      </a:accent2>
      <a:accent3>
        <a:srgbClr val="CAE0F2"/>
      </a:accent3>
      <a:accent4>
        <a:srgbClr val="000000"/>
      </a:accent4>
      <a:accent5>
        <a:srgbClr val="ADCAFF"/>
      </a:accent5>
      <a:accent6>
        <a:srgbClr val="8AE7B9"/>
      </a:accent6>
      <a:hlink>
        <a:srgbClr val="CC00CC"/>
      </a:hlink>
      <a:folHlink>
        <a:srgbClr val="B2B2B2"/>
      </a:folHlink>
    </a:clrScheme>
    <a:fontScheme name="Medical Glas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8" charset="-128"/>
          </a:defRPr>
        </a:defPPr>
      </a:lstStyle>
    </a:lnDef>
  </a:objectDefaults>
  <a:extraClrSchemeLst>
    <a:extraClrScheme>
      <a:clrScheme name="Medical Glass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edical Glass 2">
        <a:dk1>
          <a:srgbClr val="000000"/>
        </a:dk1>
        <a:lt1>
          <a:srgbClr val="99BFE3"/>
        </a:lt1>
        <a:dk2>
          <a:srgbClr val="000000"/>
        </a:dk2>
        <a:lt2>
          <a:srgbClr val="808080"/>
        </a:lt2>
        <a:accent1>
          <a:srgbClr val="B2DEDC"/>
        </a:accent1>
        <a:accent2>
          <a:srgbClr val="6571C7"/>
        </a:accent2>
        <a:accent3>
          <a:srgbClr val="CADCEF"/>
        </a:accent3>
        <a:accent4>
          <a:srgbClr val="000000"/>
        </a:accent4>
        <a:accent5>
          <a:srgbClr val="D5ECEB"/>
        </a:accent5>
        <a:accent6>
          <a:srgbClr val="5B66B4"/>
        </a:accent6>
        <a:hlink>
          <a:srgbClr val="C6D6E8"/>
        </a:hlink>
        <a:folHlink>
          <a:srgbClr val="AFAFAF"/>
        </a:folHlink>
      </a:clrScheme>
      <a:clrMap bg1="lt1" tx1="dk1" bg2="lt2" tx2="dk2" accent1="accent1" accent2="accent2" accent3="accent3" accent4="accent4" accent5="accent5" accent6="accent6" hlink="hlink" folHlink="folHlink"/>
    </a:extraClrScheme>
    <a:extraClrScheme>
      <a:clrScheme name="Medical Glass 3">
        <a:dk1>
          <a:srgbClr val="000000"/>
        </a:dk1>
        <a:lt1>
          <a:srgbClr val="9AC0E4"/>
        </a:lt1>
        <a:dk2>
          <a:srgbClr val="000000"/>
        </a:dk2>
        <a:lt2>
          <a:srgbClr val="666633"/>
        </a:lt2>
        <a:accent1>
          <a:srgbClr val="339933"/>
        </a:accent1>
        <a:accent2>
          <a:srgbClr val="800000"/>
        </a:accent2>
        <a:accent3>
          <a:srgbClr val="CADCEF"/>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edical Glass 4">
        <a:dk1>
          <a:srgbClr val="000000"/>
        </a:dk1>
        <a:lt1>
          <a:srgbClr val="99C7E8"/>
        </a:lt1>
        <a:dk2>
          <a:srgbClr val="000000"/>
        </a:dk2>
        <a:lt2>
          <a:srgbClr val="808080"/>
        </a:lt2>
        <a:accent1>
          <a:srgbClr val="3399FF"/>
        </a:accent1>
        <a:accent2>
          <a:srgbClr val="99FFCC"/>
        </a:accent2>
        <a:accent3>
          <a:srgbClr val="CAE0F2"/>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Generation Differences resident view</Template>
  <TotalTime>315</TotalTime>
  <Words>3023</Words>
  <Application>Microsoft Office PowerPoint</Application>
  <PresentationFormat>On-screen Show (4:3)</PresentationFormat>
  <Paragraphs>288</Paragraphs>
  <Slides>31</Slides>
  <Notes>8</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Medical Glass</vt:lpstr>
      <vt:lpstr>Generational Differences</vt:lpstr>
      <vt:lpstr>Objectives for Sessions</vt:lpstr>
      <vt:lpstr>Talkin’ ‘Bout my Generation</vt:lpstr>
      <vt:lpstr>Each Generation has Their Own:</vt:lpstr>
      <vt:lpstr>Who are They?</vt:lpstr>
      <vt:lpstr>Values by Generation</vt:lpstr>
      <vt:lpstr>Educational Views by Generation</vt:lpstr>
      <vt:lpstr>“Work is” by Generation</vt:lpstr>
      <vt:lpstr>Work vs. Family by Generation</vt:lpstr>
      <vt:lpstr>“Messages that Motivate”</vt:lpstr>
      <vt:lpstr>Generation vs. Age</vt:lpstr>
      <vt:lpstr>Generations also have similarities</vt:lpstr>
      <vt:lpstr>Generational Differences</vt:lpstr>
      <vt:lpstr>Perspective</vt:lpstr>
      <vt:lpstr>Components of the resident experience</vt:lpstr>
      <vt:lpstr>Resident experience with: Formal, Structured Learning </vt:lpstr>
      <vt:lpstr>Resident Experience with: Clinical Interactions</vt:lpstr>
      <vt:lpstr>Resident Experience with: The Teachers</vt:lpstr>
      <vt:lpstr>Resident Experience with: Technology</vt:lpstr>
      <vt:lpstr>Resident Experience with: Life Outside of Medicine</vt:lpstr>
      <vt:lpstr>Going Forward </vt:lpstr>
      <vt:lpstr>References</vt:lpstr>
      <vt:lpstr>Generational Differences</vt:lpstr>
      <vt:lpstr>Feedback from PDs: Generational Impact on Training</vt:lpstr>
      <vt:lpstr>  Resident Perspective</vt:lpstr>
      <vt:lpstr>ACGME Competencies: Generational Differences</vt:lpstr>
      <vt:lpstr>Competency and the  Generations X and Y</vt:lpstr>
      <vt:lpstr>Compromise in the Competencies</vt:lpstr>
      <vt:lpstr>Compromise in the Competencies</vt:lpstr>
      <vt:lpstr>References</vt:lpstr>
      <vt:lpstr>Talk or Text? Take home points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Generational Differences</dc:title>
  <dc:creator>David Metro</dc:creator>
  <cp:lastModifiedBy>LTI-Image</cp:lastModifiedBy>
  <cp:revision>28</cp:revision>
  <dcterms:created xsi:type="dcterms:W3CDTF">2010-01-27T20:21:55Z</dcterms:created>
  <dcterms:modified xsi:type="dcterms:W3CDTF">2012-02-27T21:07:15Z</dcterms:modified>
</cp:coreProperties>
</file>