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7" r:id="rId22"/>
    <p:sldId id="278" r:id="rId23"/>
    <p:sldId id="279" r:id="rId24"/>
    <p:sldId id="284" r:id="rId25"/>
    <p:sldId id="285" r:id="rId26"/>
    <p:sldId id="280" r:id="rId27"/>
    <p:sldId id="281" r:id="rId28"/>
    <p:sldId id="287" r:id="rId29"/>
    <p:sldId id="282" r:id="rId30"/>
    <p:sldId id="286" r:id="rId31"/>
    <p:sldId id="283" r:id="rId3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ining Chen" initials="YC" lastIdx="1" clrIdx="0">
    <p:extLst>
      <p:ext uri="{19B8F6BF-5375-455C-9EA6-DF929625EA0E}">
        <p15:presenceInfo xmlns:p15="http://schemas.microsoft.com/office/powerpoint/2012/main" userId="S::f0024z7@dartmouth.edu::1f7b4c1b-affa-45aa-b49a-dea75852fce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4D4086E-115B-4FA2-836F-A28E24F0A9DB}">
  <a:tblStyle styleId="{E4D4086E-115B-4FA2-836F-A28E24F0A9D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ED29479-DD0C-4F4D-A4C7-1C1E6F13116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670"/>
    <p:restoredTop sz="64568"/>
  </p:normalViewPr>
  <p:slideViewPr>
    <p:cSldViewPr snapToGrid="0" snapToObjects="1">
      <p:cViewPr varScale="1">
        <p:scale>
          <a:sx n="54" d="100"/>
          <a:sy n="54" d="100"/>
        </p:scale>
        <p:origin x="208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243471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52219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829eb4e9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829eb4e9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Only math necessary: Counting and ratios!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604713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82af6ba9f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82af6ba9f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27308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829eb4e99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829eb4e99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71648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829eb4e99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829eb4e99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Dots are examples: Green = positive label, gray = negative label.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Consider score to be probability output of Logistic Regression.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Position of example on scoring line based on model output. For most of the metrics, only the relative rank / ordering of positive/negative matter.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Prevalence decides class imbalance.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If too many examples, plot class-wise histogram instead.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Rank view useful to start error analysis (start with the topmost negative example, or bottom-most positive example).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490476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829eb4e99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829eb4e99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Only after picking a threshold, we have a classifier.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Once we have a classifier, we can obtain all the Point metrics of that classifier.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620490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829eb4e99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829eb4e99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All point metrics can be derived from the confusion matrix. Confusion matrix captures all the information about a classifier performance, but is not a scalar!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Properties:</a:t>
            </a:r>
            <a:endParaRPr dirty="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dirty="0"/>
              <a:t>Total Sum is Fixed (population).</a:t>
            </a:r>
            <a:endParaRPr dirty="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dirty="0"/>
              <a:t>Column Sums are Fixed (class-wise population).</a:t>
            </a:r>
            <a:endParaRPr dirty="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dirty="0"/>
              <a:t>Quality of model &amp; selected threshold decide how columns are split into rows.</a:t>
            </a:r>
            <a:endParaRPr dirty="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 dirty="0">
                <a:solidFill>
                  <a:schemeClr val="dk1"/>
                </a:solidFill>
              </a:rPr>
              <a:t>We want diagonals to be “heavy”, off diagonals to be “light”.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680107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829eb4e99_0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829eb4e99_0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TP = Green examples correctly identified as green.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802088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829eb4e99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829eb4e99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TN = Gray examples correctly identified as gray. “Trueness” is along the diagonal.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729143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829eb4e99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829eb4e99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FP = Gray examples falsely identified as green.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280529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829eb4e99_0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2829eb4e99_0_2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FN = Green examples falsely identified as gray.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00783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82d13049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282d13049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75093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829eb4e99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2829eb4e99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Accuracy = what fraction of all predictions did we get right?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Improving accuracy is equivalent to having a 0-1 Loss function.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457814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2829eb4e99_0_3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2829eb4e99_0_3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Precision = quality of positive predictions.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Also called PPV (Positive Predictive Value).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621271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2829eb4e99_0_4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2829eb4e99_0_4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Recall (sensitivity) - What fraction of all greens did we pick out? Terminology from lab tests: how sensitive is the test in detecting disease?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Somewhat related to Precision ( both recall and precision involve TP)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Trivial 100% recall = pull everybody above the threshold.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Trivial 100% precision = push everybody below the threshold except 1 green on top (hopefully no gray above it!).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Striving for good precision with 100% recall = pulling up the lowest green as high as possible in the ranking.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Striving for good recall with 100% precision = pushing down the top most gray as low as possible in the ranking.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07681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2829eb4e99_0_4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2829eb4e99_0_4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Negative Recall (Specificity) - What fraction of all negatives in the population were we able to keep away?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Sensitivity and specificity operate in different sub-universes.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586688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2829eb4e99_0_5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2829eb4e99_0_5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Summarize precision and recall into single score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F1-score: Harmonic mean of PR and REC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G-score: Geometric mean of PR and REC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700160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2829eb4e99_0_5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2829eb4e99_0_5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Changing the threshold can result in a new confusion matrix, and new values for some of the metrics.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Many threshold values are redundant (between two consecutively ranked examples). Number of effective thresholds = M + 1 (# of examples + 1)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55392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2829eb4e99_0_5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2829eb4e99_0_5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we scan through all possible effective thresholds, we explore all the possible values the metrics can take on for the given model.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Each row is specific to the threshold.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is specific to the model (different model = different effective thresholds).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Observations: Sensitivity monotonic, Specificity monotonic in opposite direction. Precision somewhat correlated with specificity, and not monotonic. Tradeoff between Sensitivity and Specificity, Precision and Recall.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56639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2829eb4e99_0_6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2829eb4e99_0_6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AUC = Area Under Curve. Also called C-Statistic (concordance score). Represents how well the results are ranked. If you pick a positive </a:t>
            </a:r>
            <a:r>
              <a:rPr lang="en" dirty="0" err="1"/>
              <a:t>e.g</a:t>
            </a:r>
            <a:r>
              <a:rPr lang="en" dirty="0"/>
              <a:t> by random, and negative </a:t>
            </a:r>
            <a:r>
              <a:rPr lang="en" dirty="0" err="1"/>
              <a:t>e.g</a:t>
            </a:r>
            <a:r>
              <a:rPr lang="en" dirty="0"/>
              <a:t> by random, AUC = probability that positive </a:t>
            </a:r>
            <a:r>
              <a:rPr lang="en" dirty="0" err="1"/>
              <a:t>eg</a:t>
            </a:r>
            <a:r>
              <a:rPr lang="en" dirty="0"/>
              <a:t> is ranked &gt; negative example. Measure of quality of discrimination.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Some people plot TPR (= Sensitivity) vs FPR (= 1 - Specificity).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Thresholds are points on this curve. Each point represents one set of point metrics. 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Diagonal line = random guessing.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Grid view (top left to bottom right, </a:t>
            </a:r>
            <a:r>
              <a:rPr lang="en-US" dirty="0" err="1"/>
              <a:t>postive</a:t>
            </a:r>
            <a:r>
              <a:rPr lang="en-US" baseline="0" dirty="0"/>
              <a:t> = move right, negative = move down)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aseline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aseline="0" dirty="0"/>
              <a:t>Agnostic to prevalence.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17986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2829eb4e99_0_7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4" name="Google Shape;684;g2829eb4e99_0_7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Precision Recall curve represents a different tradeoff. Think search engine results ranked.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End of curve at right cannot be lower than prevalence.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Area under PRC = Average Precision. Intuition: By randomly picking the threshold, what’s the expected precision?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While specificity monotonically decreases with increasing recall (the number of correctly classified negative examples goes down), precision can be “jagged”. Getting a bunch of positives in the sequence increases both precision and recall (hence curve climbs up slowly), but getting a bunch of negatives in the sequence drops the precision without increasing recall. Hence, by definition, curve has only slow climbs and vertical drops.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207988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282af6ba9f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3" name="Google Shape;713;g282af6ba9f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Somehow the second model feels “better”.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922247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2829eb4e99_0_7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2829eb4e99_0_7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metrics so far fail to capture this.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Accuracy optimizes for: Model gets $1 for correct answer, $0 for wrong.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Log-loss: Model makes a bet for $0.xy dollars that it’s prediction is correct. If correct, gets $0.xy dollars, else gets $(1-0.xy) dollar. Incentive structure is well suited to produce calibrated models. Take home is the GM of earned amounts.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Low-bar for </a:t>
            </a:r>
            <a:r>
              <a:rPr lang="en" dirty="0" err="1"/>
              <a:t>exp</a:t>
            </a:r>
            <a:r>
              <a:rPr lang="en" dirty="0"/>
              <a:t>(E[log-loss]) is 0.5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Log-loss on validation set measure how much did this “betting engine” earn.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43902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dirty="0"/>
              <a:t>View</a:t>
            </a:r>
            <a:r>
              <a:rPr lang="en-US" baseline="0" dirty="0"/>
              <a:t> calibration plot and histogram together</a:t>
            </a:r>
          </a:p>
          <a:p>
            <a:pPr marL="158750" indent="0">
              <a:buNone/>
            </a:pPr>
            <a:endParaRPr lang="en-US" baseline="0" dirty="0"/>
          </a:p>
          <a:p>
            <a:pPr marL="158750" indent="0">
              <a:buNone/>
            </a:pPr>
            <a:r>
              <a:rPr lang="en-US" baseline="0" dirty="0"/>
              <a:t>When model is well calibrated, then histogram indicates level of discrimination</a:t>
            </a:r>
          </a:p>
          <a:p>
            <a:pPr marL="158750" indent="0">
              <a:buNone/>
            </a:pPr>
            <a:endParaRPr lang="en-US" baseline="0" dirty="0"/>
          </a:p>
          <a:p>
            <a:pPr marL="158750" indent="0">
              <a:buNone/>
            </a:pPr>
            <a:r>
              <a:rPr lang="en-US" baseline="0" dirty="0"/>
              <a:t>If model is not calibrated, histogram may not mean much at all (see SVC plot)</a:t>
            </a:r>
          </a:p>
          <a:p>
            <a:pPr marL="158750" indent="0">
              <a:buNone/>
            </a:pPr>
            <a:endParaRPr lang="en-US" baseline="0" dirty="0"/>
          </a:p>
          <a:p>
            <a:pPr marL="158750" indent="0">
              <a:buNone/>
            </a:pPr>
            <a:r>
              <a:rPr lang="en-US" baseline="0" dirty="0"/>
              <a:t>Brier score is another measure of calibration. Both brier score and log-loss are Proper Scoring Rules.</a:t>
            </a:r>
          </a:p>
          <a:p>
            <a:pPr marL="15875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22102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282af6ba9f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282af6ba9f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66372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282af6ba9f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6" name="Google Shape;826;g282af6ba9f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accuracy, prevalence of majority class should be the low bar!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AUROC: 10% prevalence. top-10% are all negatives, next K are all positives, followed by rest of the negatives. AUPRC = 0.9 even though practically useless.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3366321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g282af6ba9f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2" name="Google Shape;832;g282af6ba9f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02591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282af6ba9f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282af6ba9f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7555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Evaluation Metrics</a:t>
            </a:r>
            <a:br>
              <a:rPr lang="en-US" dirty="0"/>
            </a:br>
            <a:r>
              <a:rPr lang="en-US" sz="4000" dirty="0"/>
              <a:t>CS229</a:t>
            </a:r>
            <a:endParaRPr sz="4000"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Yining Chen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(Adapted from slides by Anand </a:t>
            </a:r>
            <a:r>
              <a:rPr lang="en" dirty="0" err="1"/>
              <a:t>Avati</a:t>
            </a:r>
            <a:r>
              <a:rPr lang="en" dirty="0"/>
              <a:t>)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May 1, 2020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Topics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Why are metrics important?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Binary classifiers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Rank view</a:t>
            </a:r>
            <a:r>
              <a:rPr lang="en-US" dirty="0"/>
              <a:t>, </a:t>
            </a:r>
            <a:r>
              <a:rPr lang="en" dirty="0"/>
              <a:t>Thresholding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Metrics</a:t>
            </a:r>
            <a:endParaRPr lang="en-US" dirty="0"/>
          </a:p>
          <a:p>
            <a:pPr lvl="1">
              <a:spcBef>
                <a:spcPts val="0"/>
              </a:spcBef>
            </a:pPr>
            <a:r>
              <a:rPr lang="en-US" dirty="0"/>
              <a:t>Confusion Matrix</a:t>
            </a:r>
          </a:p>
          <a:p>
            <a:pPr lvl="1">
              <a:spcBef>
                <a:spcPts val="0"/>
              </a:spcBef>
            </a:pPr>
            <a:r>
              <a:rPr lang="en-US" dirty="0"/>
              <a:t>Point metrics: Accuracy, Precision, Recall / Sensitivity, Specificity, F-score</a:t>
            </a:r>
          </a:p>
          <a:p>
            <a:pPr lvl="1">
              <a:spcBef>
                <a:spcPts val="0"/>
              </a:spcBef>
            </a:pPr>
            <a:r>
              <a:rPr lang="en-US" dirty="0"/>
              <a:t>Summary metrics: AU-ROC, AU-PRC, Log-loss.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Choosing Metrics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Class Imbalance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Failure scenarios for each metric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Multi-class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are metrics important?</a:t>
            </a: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5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dirty="0"/>
              <a:t>Training objective (cost function) is only a proxy for real world objectives.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dirty="0"/>
              <a:t>Metrics help capture a business goal into a quantitative target (not all errors are equal).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dirty="0"/>
              <a:t>Helps organize ML team effort towards that target.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dirty="0"/>
              <a:t>Generally in the form of improving that metric on the dev set.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dirty="0"/>
              <a:t>Useful to quantify the “gap” between: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dirty="0"/>
              <a:t>Desired performance and baseline (estimate effort initially).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dirty="0"/>
              <a:t>Desired performance and current performance.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dirty="0"/>
              <a:t>Measure progress over time.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dirty="0"/>
              <a:t>Useful for lower level tasks and debugging (e.g. diagnosing bias vs variance).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dirty="0"/>
              <a:t>Ideally training objective should be the metric, but not always possible. Still, metrics are useful and important for evaluation.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Classification</a:t>
            </a:r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x is input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y is binary output (0/1)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Model is </a:t>
            </a:r>
            <a:r>
              <a:rPr lang="en" dirty="0" err="1"/>
              <a:t>ŷ</a:t>
            </a:r>
            <a:r>
              <a:rPr lang="en" dirty="0"/>
              <a:t> = h(x)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Two types of models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Models that output a categorical class directly (K-nearest neighbor, Decision tree)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Models that output a real valued score (SVM, Logistic Regression)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 dirty="0"/>
              <a:t>Score could be margin (SVM), probability (LR, NN)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 dirty="0"/>
              <a:t>Need to pick a threshold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 dirty="0"/>
              <a:t>We focus on this type (the other type can be interpreted as an instance)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Score based models</a:t>
            </a:r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0C3C88C-9EA6-5A4A-9680-23FA067839D5}"/>
              </a:ext>
            </a:extLst>
          </p:cNvPr>
          <p:cNvGrpSpPr/>
          <p:nvPr/>
        </p:nvGrpSpPr>
        <p:grpSpPr>
          <a:xfrm>
            <a:off x="1175657" y="1028912"/>
            <a:ext cx="1583871" cy="3868667"/>
            <a:chOff x="1275150" y="1271925"/>
            <a:chExt cx="1172100" cy="2862900"/>
          </a:xfrm>
        </p:grpSpPr>
        <p:cxnSp>
          <p:nvCxnSpPr>
            <p:cNvPr id="79" name="Google Shape;79;p17"/>
            <p:cNvCxnSpPr/>
            <p:nvPr/>
          </p:nvCxnSpPr>
          <p:spPr>
            <a:xfrm>
              <a:off x="1600675" y="1502700"/>
              <a:ext cx="4200" cy="256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0" name="Google Shape;80;p17"/>
            <p:cNvSpPr/>
            <p:nvPr/>
          </p:nvSpPr>
          <p:spPr>
            <a:xfrm>
              <a:off x="1561975" y="1749450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7"/>
            <p:cNvSpPr/>
            <p:nvPr/>
          </p:nvSpPr>
          <p:spPr>
            <a:xfrm>
              <a:off x="1559400" y="2245350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7"/>
            <p:cNvSpPr/>
            <p:nvPr/>
          </p:nvSpPr>
          <p:spPr>
            <a:xfrm>
              <a:off x="1559400" y="2817450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7"/>
            <p:cNvSpPr/>
            <p:nvPr/>
          </p:nvSpPr>
          <p:spPr>
            <a:xfrm>
              <a:off x="1561975" y="3020375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7"/>
            <p:cNvSpPr/>
            <p:nvPr/>
          </p:nvSpPr>
          <p:spPr>
            <a:xfrm>
              <a:off x="1559400" y="3237150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7"/>
            <p:cNvSpPr/>
            <p:nvPr/>
          </p:nvSpPr>
          <p:spPr>
            <a:xfrm>
              <a:off x="1559400" y="3402500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7"/>
            <p:cNvSpPr/>
            <p:nvPr/>
          </p:nvSpPr>
          <p:spPr>
            <a:xfrm>
              <a:off x="1561975" y="3511925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7"/>
            <p:cNvSpPr/>
            <p:nvPr/>
          </p:nvSpPr>
          <p:spPr>
            <a:xfrm>
              <a:off x="1559400" y="3621350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7"/>
            <p:cNvSpPr/>
            <p:nvPr/>
          </p:nvSpPr>
          <p:spPr>
            <a:xfrm>
              <a:off x="1559400" y="3748025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7"/>
            <p:cNvSpPr/>
            <p:nvPr/>
          </p:nvSpPr>
          <p:spPr>
            <a:xfrm>
              <a:off x="1559400" y="3917575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7"/>
            <p:cNvSpPr/>
            <p:nvPr/>
          </p:nvSpPr>
          <p:spPr>
            <a:xfrm>
              <a:off x="1559400" y="1539225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7"/>
            <p:cNvSpPr/>
            <p:nvPr/>
          </p:nvSpPr>
          <p:spPr>
            <a:xfrm>
              <a:off x="1559400" y="1644338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7"/>
            <p:cNvSpPr/>
            <p:nvPr/>
          </p:nvSpPr>
          <p:spPr>
            <a:xfrm>
              <a:off x="1561975" y="1854550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7"/>
            <p:cNvSpPr/>
            <p:nvPr/>
          </p:nvSpPr>
          <p:spPr>
            <a:xfrm>
              <a:off x="1561975" y="1997400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7"/>
            <p:cNvSpPr/>
            <p:nvPr/>
          </p:nvSpPr>
          <p:spPr>
            <a:xfrm>
              <a:off x="1561975" y="2121375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7"/>
            <p:cNvSpPr/>
            <p:nvPr/>
          </p:nvSpPr>
          <p:spPr>
            <a:xfrm>
              <a:off x="1559400" y="2369325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7"/>
            <p:cNvSpPr/>
            <p:nvPr/>
          </p:nvSpPr>
          <p:spPr>
            <a:xfrm>
              <a:off x="1559400" y="2671563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7"/>
            <p:cNvSpPr/>
            <p:nvPr/>
          </p:nvSpPr>
          <p:spPr>
            <a:xfrm>
              <a:off x="1561975" y="3840200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7"/>
            <p:cNvSpPr/>
            <p:nvPr/>
          </p:nvSpPr>
          <p:spPr>
            <a:xfrm>
              <a:off x="1559400" y="2493300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17"/>
            <p:cNvSpPr/>
            <p:nvPr/>
          </p:nvSpPr>
          <p:spPr>
            <a:xfrm>
              <a:off x="1559400" y="2617275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7"/>
            <p:cNvSpPr txBox="1"/>
            <p:nvPr/>
          </p:nvSpPr>
          <p:spPr>
            <a:xfrm>
              <a:off x="1275150" y="1271925"/>
              <a:ext cx="1172100" cy="11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dirty="0"/>
                <a:t>Score = 1</a:t>
              </a:r>
              <a:endParaRPr sz="800" dirty="0"/>
            </a:p>
          </p:txBody>
        </p:sp>
        <p:sp>
          <p:nvSpPr>
            <p:cNvPr id="102" name="Google Shape;102;p17"/>
            <p:cNvSpPr txBox="1"/>
            <p:nvPr/>
          </p:nvSpPr>
          <p:spPr>
            <a:xfrm>
              <a:off x="1275150" y="4015125"/>
              <a:ext cx="1172100" cy="11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Score = 0</a:t>
              </a:r>
              <a:endParaRPr sz="80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DC03A7A-8807-8D4D-B6F3-B716956FCEA4}"/>
              </a:ext>
            </a:extLst>
          </p:cNvPr>
          <p:cNvGrpSpPr/>
          <p:nvPr/>
        </p:nvGrpSpPr>
        <p:grpSpPr>
          <a:xfrm>
            <a:off x="3863996" y="1206157"/>
            <a:ext cx="2823450" cy="792420"/>
            <a:chOff x="4020150" y="1413600"/>
            <a:chExt cx="2823450" cy="792420"/>
          </a:xfrm>
        </p:grpSpPr>
        <p:graphicFrame>
          <p:nvGraphicFramePr>
            <p:cNvPr id="101" name="Google Shape;101;p17"/>
            <p:cNvGraphicFramePr/>
            <p:nvPr>
              <p:extLst>
                <p:ext uri="{D42A27DB-BD31-4B8C-83A1-F6EECF244321}">
                  <p14:modId xmlns:p14="http://schemas.microsoft.com/office/powerpoint/2010/main" val="2958057073"/>
                </p:ext>
              </p:extLst>
            </p:nvPr>
          </p:nvGraphicFramePr>
          <p:xfrm>
            <a:off x="4020150" y="1413600"/>
            <a:ext cx="2823450" cy="792420"/>
          </p:xfrm>
          <a:graphic>
            <a:graphicData uri="http://schemas.openxmlformats.org/drawingml/2006/table">
              <a:tbl>
                <a:tblPr>
                  <a:noFill/>
                  <a:tableStyleId>{E4D4086E-115B-4FA2-836F-A28E24F0A9DB}</a:tableStyleId>
                </a:tblPr>
                <a:tblGrid>
                  <a:gridCol w="38285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244060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39620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/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dirty="0"/>
                          <a:t>Positive example</a:t>
                        </a:r>
                        <a:endParaRPr dirty="0"/>
                      </a:p>
                    </a:txBody>
                    <a:tcPr marL="91425" marR="91425" marT="91425" marB="91425"/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38100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/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dirty="0"/>
                          <a:t>Negative example</a:t>
                        </a:r>
                        <a:endParaRPr dirty="0"/>
                      </a:p>
                    </a:txBody>
                    <a:tcPr marL="91425" marR="91425" marT="91425" marB="91425"/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</a:tbl>
            </a:graphicData>
          </a:graphic>
        </p:graphicFrame>
        <p:sp>
          <p:nvSpPr>
            <p:cNvPr id="103" name="Google Shape;103;p17"/>
            <p:cNvSpPr/>
            <p:nvPr/>
          </p:nvSpPr>
          <p:spPr>
            <a:xfrm>
              <a:off x="4146175" y="1539225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7"/>
            <p:cNvSpPr/>
            <p:nvPr/>
          </p:nvSpPr>
          <p:spPr>
            <a:xfrm>
              <a:off x="4146175" y="1968400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623CB25-756E-CC4F-89BA-A99BAABE87DC}"/>
              </a:ext>
            </a:extLst>
          </p:cNvPr>
          <p:cNvGrpSpPr/>
          <p:nvPr/>
        </p:nvGrpSpPr>
        <p:grpSpPr>
          <a:xfrm>
            <a:off x="3456084" y="3430123"/>
            <a:ext cx="3639274" cy="1005780"/>
            <a:chOff x="3916725" y="2949650"/>
            <a:chExt cx="2868141" cy="1005780"/>
          </a:xfrm>
        </p:grpSpPr>
        <p:sp>
          <p:nvSpPr>
            <p:cNvPr id="105" name="Google Shape;105;p17"/>
            <p:cNvSpPr txBox="1"/>
            <p:nvPr/>
          </p:nvSpPr>
          <p:spPr>
            <a:xfrm>
              <a:off x="3916725" y="3133100"/>
              <a:ext cx="2472900" cy="28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/>
                <a:t>Prevalence = </a:t>
              </a:r>
              <a:endParaRPr dirty="0"/>
            </a:p>
          </p:txBody>
        </p:sp>
        <p:graphicFrame>
          <p:nvGraphicFramePr>
            <p:cNvPr id="106" name="Google Shape;106;p17"/>
            <p:cNvGraphicFramePr/>
            <p:nvPr>
              <p:extLst>
                <p:ext uri="{D42A27DB-BD31-4B8C-83A1-F6EECF244321}">
                  <p14:modId xmlns:p14="http://schemas.microsoft.com/office/powerpoint/2010/main" val="3229421933"/>
                </p:ext>
              </p:extLst>
            </p:nvPr>
          </p:nvGraphicFramePr>
          <p:xfrm>
            <a:off x="4986961" y="2949650"/>
            <a:ext cx="1797905" cy="1005780"/>
          </p:xfrm>
          <a:graphic>
            <a:graphicData uri="http://schemas.openxmlformats.org/drawingml/2006/table">
              <a:tbl>
                <a:tblPr>
                  <a:noFill/>
                  <a:tableStyleId>{E4D4086E-115B-4FA2-836F-A28E24F0A9DB}</a:tableStyleId>
                </a:tblPr>
                <a:tblGrid>
                  <a:gridCol w="2281293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</a:tblGrid>
                <a:tr h="38100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dirty="0"/>
                          <a:t># positive examples</a:t>
                        </a:r>
                        <a:endParaRPr dirty="0"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38100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dirty="0"/>
                          <a:t># positive examples + </a:t>
                        </a:r>
                      </a:p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dirty="0"/>
                          <a:t># negatives examples</a:t>
                        </a:r>
                        <a:endParaRPr dirty="0"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B w="9525" cap="flat" cmpd="sng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</a:tbl>
            </a:graphicData>
          </a:graphic>
        </p:graphicFrame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A14EE02F-0C81-A841-A88B-162D5BCA74C9}"/>
              </a:ext>
            </a:extLst>
          </p:cNvPr>
          <p:cNvSpPr txBox="1"/>
          <p:nvPr/>
        </p:nvSpPr>
        <p:spPr>
          <a:xfrm>
            <a:off x="3160275" y="2336774"/>
            <a:ext cx="42308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of Score: Output of logistic regression.</a:t>
            </a:r>
          </a:p>
          <a:p>
            <a:r>
              <a:rPr lang="en-US" dirty="0"/>
              <a:t>For most metrics: Only ranking matters.</a:t>
            </a:r>
          </a:p>
          <a:p>
            <a:r>
              <a:rPr lang="en-US" dirty="0"/>
              <a:t>If too many examples: Plot class-wise histogram.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Threshold -&gt; Classifier -&gt; Point Metrics</a:t>
            </a:r>
            <a:endParaRPr dirty="0"/>
          </a:p>
        </p:txBody>
      </p:sp>
      <p:sp>
        <p:nvSpPr>
          <p:cNvPr id="136" name="Google Shape;136;p18"/>
          <p:cNvSpPr txBox="1"/>
          <p:nvPr/>
        </p:nvSpPr>
        <p:spPr>
          <a:xfrm>
            <a:off x="73000" y="2647650"/>
            <a:ext cx="429600" cy="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Th=0.5</a:t>
            </a:r>
            <a:endParaRPr sz="600"/>
          </a:p>
        </p:txBody>
      </p:sp>
      <p:graphicFrame>
        <p:nvGraphicFramePr>
          <p:cNvPr id="137" name="Google Shape;137;p18"/>
          <p:cNvGraphicFramePr/>
          <p:nvPr>
            <p:extLst>
              <p:ext uri="{D42A27DB-BD31-4B8C-83A1-F6EECF244321}">
                <p14:modId xmlns:p14="http://schemas.microsoft.com/office/powerpoint/2010/main" val="4262202065"/>
              </p:ext>
            </p:extLst>
          </p:nvPr>
        </p:nvGraphicFramePr>
        <p:xfrm>
          <a:off x="3227575" y="1482301"/>
          <a:ext cx="782805" cy="1354028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782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3087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Th</a:t>
                      </a:r>
                      <a:endParaRPr sz="1600"/>
                    </a:p>
                  </a:txBody>
                  <a:tcPr marL="186934" marR="186934" marT="186934" marB="18693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315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/>
                        <a:t>0.5</a:t>
                      </a:r>
                      <a:endParaRPr sz="1600" dirty="0"/>
                    </a:p>
                  </a:txBody>
                  <a:tcPr marL="186934" marR="186934" marT="186934" marB="18693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1EDBCEDE-6B82-404C-A6D8-7A3223667EB0}"/>
              </a:ext>
            </a:extLst>
          </p:cNvPr>
          <p:cNvGrpSpPr/>
          <p:nvPr/>
        </p:nvGrpSpPr>
        <p:grpSpPr>
          <a:xfrm>
            <a:off x="159900" y="1195725"/>
            <a:ext cx="2860886" cy="2997700"/>
            <a:chOff x="159900" y="1195725"/>
            <a:chExt cx="2758650" cy="2890575"/>
          </a:xfrm>
        </p:grpSpPr>
        <p:sp>
          <p:nvSpPr>
            <p:cNvPr id="111" name="Google Shape;111;p18"/>
            <p:cNvSpPr/>
            <p:nvPr/>
          </p:nvSpPr>
          <p:spPr>
            <a:xfrm>
              <a:off x="416550" y="2777700"/>
              <a:ext cx="2502000" cy="1308600"/>
            </a:xfrm>
            <a:prstGeom prst="rect">
              <a:avLst/>
            </a:prstGeom>
            <a:solidFill>
              <a:srgbClr val="EFEFE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8"/>
            <p:cNvSpPr/>
            <p:nvPr/>
          </p:nvSpPr>
          <p:spPr>
            <a:xfrm>
              <a:off x="416550" y="1482300"/>
              <a:ext cx="2502000" cy="13086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14" name="Google Shape;114;p18"/>
            <p:cNvCxnSpPr/>
            <p:nvPr/>
          </p:nvCxnSpPr>
          <p:spPr>
            <a:xfrm>
              <a:off x="1600675" y="1502700"/>
              <a:ext cx="4200" cy="256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5" name="Google Shape;115;p18"/>
            <p:cNvSpPr/>
            <p:nvPr/>
          </p:nvSpPr>
          <p:spPr>
            <a:xfrm>
              <a:off x="1638175" y="1749450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8"/>
            <p:cNvSpPr/>
            <p:nvPr/>
          </p:nvSpPr>
          <p:spPr>
            <a:xfrm>
              <a:off x="1635600" y="2245350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8"/>
            <p:cNvSpPr/>
            <p:nvPr/>
          </p:nvSpPr>
          <p:spPr>
            <a:xfrm>
              <a:off x="1635600" y="2817450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8"/>
            <p:cNvSpPr/>
            <p:nvPr/>
          </p:nvSpPr>
          <p:spPr>
            <a:xfrm>
              <a:off x="1638175" y="3020375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8"/>
            <p:cNvSpPr/>
            <p:nvPr/>
          </p:nvSpPr>
          <p:spPr>
            <a:xfrm>
              <a:off x="1635600" y="3237150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8"/>
            <p:cNvSpPr/>
            <p:nvPr/>
          </p:nvSpPr>
          <p:spPr>
            <a:xfrm>
              <a:off x="1635600" y="3402500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8"/>
            <p:cNvSpPr/>
            <p:nvPr/>
          </p:nvSpPr>
          <p:spPr>
            <a:xfrm>
              <a:off x="1638175" y="3511925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8"/>
            <p:cNvSpPr/>
            <p:nvPr/>
          </p:nvSpPr>
          <p:spPr>
            <a:xfrm>
              <a:off x="1635600" y="3621350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8"/>
            <p:cNvSpPr/>
            <p:nvPr/>
          </p:nvSpPr>
          <p:spPr>
            <a:xfrm>
              <a:off x="1635600" y="3748025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8"/>
            <p:cNvSpPr/>
            <p:nvPr/>
          </p:nvSpPr>
          <p:spPr>
            <a:xfrm>
              <a:off x="1635600" y="3917575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8"/>
            <p:cNvSpPr/>
            <p:nvPr/>
          </p:nvSpPr>
          <p:spPr>
            <a:xfrm>
              <a:off x="1483200" y="1539225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8"/>
            <p:cNvSpPr/>
            <p:nvPr/>
          </p:nvSpPr>
          <p:spPr>
            <a:xfrm>
              <a:off x="1483200" y="1644338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1485775" y="1854550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8"/>
            <p:cNvSpPr/>
            <p:nvPr/>
          </p:nvSpPr>
          <p:spPr>
            <a:xfrm>
              <a:off x="1485775" y="1997400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8"/>
            <p:cNvSpPr/>
            <p:nvPr/>
          </p:nvSpPr>
          <p:spPr>
            <a:xfrm>
              <a:off x="1485775" y="2121375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8"/>
            <p:cNvSpPr/>
            <p:nvPr/>
          </p:nvSpPr>
          <p:spPr>
            <a:xfrm>
              <a:off x="1483200" y="2369325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8"/>
            <p:cNvSpPr/>
            <p:nvPr/>
          </p:nvSpPr>
          <p:spPr>
            <a:xfrm>
              <a:off x="1483200" y="2671563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8"/>
            <p:cNvSpPr/>
            <p:nvPr/>
          </p:nvSpPr>
          <p:spPr>
            <a:xfrm>
              <a:off x="1485775" y="3840200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8"/>
            <p:cNvSpPr/>
            <p:nvPr/>
          </p:nvSpPr>
          <p:spPr>
            <a:xfrm>
              <a:off x="1483200" y="2493300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8"/>
            <p:cNvSpPr/>
            <p:nvPr/>
          </p:nvSpPr>
          <p:spPr>
            <a:xfrm>
              <a:off x="1483200" y="2617275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8"/>
            <p:cNvSpPr txBox="1"/>
            <p:nvPr/>
          </p:nvSpPr>
          <p:spPr>
            <a:xfrm>
              <a:off x="416550" y="1195725"/>
              <a:ext cx="2502000" cy="11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     Label positive                         Label negative</a:t>
              </a:r>
              <a:endParaRPr sz="800"/>
            </a:p>
          </p:txBody>
        </p:sp>
        <p:sp>
          <p:nvSpPr>
            <p:cNvPr id="138" name="Google Shape;138;p18"/>
            <p:cNvSpPr txBox="1"/>
            <p:nvPr/>
          </p:nvSpPr>
          <p:spPr>
            <a:xfrm rot="-5400000">
              <a:off x="-1031250" y="2719725"/>
              <a:ext cx="2502000" cy="11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dirty="0"/>
                <a:t>    Predict Negative                      Predict Positive</a:t>
              </a:r>
              <a:endParaRPr sz="800" dirty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"/>
          <p:cNvSpPr/>
          <p:nvPr/>
        </p:nvSpPr>
        <p:spPr>
          <a:xfrm>
            <a:off x="416550" y="2777700"/>
            <a:ext cx="2502000" cy="13086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Point metrics: Confusion Matrix</a:t>
            </a:r>
            <a:endParaRPr/>
          </a:p>
        </p:txBody>
      </p:sp>
      <p:sp>
        <p:nvSpPr>
          <p:cNvPr id="145" name="Google Shape;145;p19"/>
          <p:cNvSpPr/>
          <p:nvPr/>
        </p:nvSpPr>
        <p:spPr>
          <a:xfrm>
            <a:off x="416550" y="1482300"/>
            <a:ext cx="2502000" cy="13086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6" name="Google Shape;146;p19"/>
          <p:cNvCxnSpPr/>
          <p:nvPr/>
        </p:nvCxnSpPr>
        <p:spPr>
          <a:xfrm>
            <a:off x="1600675" y="1502700"/>
            <a:ext cx="4200" cy="2567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7" name="Google Shape;147;p19"/>
          <p:cNvSpPr/>
          <p:nvPr/>
        </p:nvSpPr>
        <p:spPr>
          <a:xfrm>
            <a:off x="1638175" y="17494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9"/>
          <p:cNvSpPr/>
          <p:nvPr/>
        </p:nvSpPr>
        <p:spPr>
          <a:xfrm>
            <a:off x="1635600" y="22453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9"/>
          <p:cNvSpPr/>
          <p:nvPr/>
        </p:nvSpPr>
        <p:spPr>
          <a:xfrm>
            <a:off x="1635600" y="28174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9"/>
          <p:cNvSpPr/>
          <p:nvPr/>
        </p:nvSpPr>
        <p:spPr>
          <a:xfrm>
            <a:off x="1638175" y="302037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9"/>
          <p:cNvSpPr/>
          <p:nvPr/>
        </p:nvSpPr>
        <p:spPr>
          <a:xfrm>
            <a:off x="1635600" y="32371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9"/>
          <p:cNvSpPr/>
          <p:nvPr/>
        </p:nvSpPr>
        <p:spPr>
          <a:xfrm>
            <a:off x="1635600" y="340250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9"/>
          <p:cNvSpPr/>
          <p:nvPr/>
        </p:nvSpPr>
        <p:spPr>
          <a:xfrm>
            <a:off x="1638175" y="351192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9"/>
          <p:cNvSpPr/>
          <p:nvPr/>
        </p:nvSpPr>
        <p:spPr>
          <a:xfrm>
            <a:off x="1635600" y="36213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9"/>
          <p:cNvSpPr/>
          <p:nvPr/>
        </p:nvSpPr>
        <p:spPr>
          <a:xfrm>
            <a:off x="1635600" y="374802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9"/>
          <p:cNvSpPr/>
          <p:nvPr/>
        </p:nvSpPr>
        <p:spPr>
          <a:xfrm>
            <a:off x="1635600" y="391757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9"/>
          <p:cNvSpPr/>
          <p:nvPr/>
        </p:nvSpPr>
        <p:spPr>
          <a:xfrm>
            <a:off x="1483200" y="153922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9"/>
          <p:cNvSpPr/>
          <p:nvPr/>
        </p:nvSpPr>
        <p:spPr>
          <a:xfrm>
            <a:off x="1483200" y="1644338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9"/>
          <p:cNvSpPr/>
          <p:nvPr/>
        </p:nvSpPr>
        <p:spPr>
          <a:xfrm>
            <a:off x="1485775" y="185455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9"/>
          <p:cNvSpPr/>
          <p:nvPr/>
        </p:nvSpPr>
        <p:spPr>
          <a:xfrm>
            <a:off x="1485775" y="19974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9"/>
          <p:cNvSpPr/>
          <p:nvPr/>
        </p:nvSpPr>
        <p:spPr>
          <a:xfrm>
            <a:off x="1485775" y="212137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9"/>
          <p:cNvSpPr/>
          <p:nvPr/>
        </p:nvSpPr>
        <p:spPr>
          <a:xfrm>
            <a:off x="1483200" y="236932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9"/>
          <p:cNvSpPr/>
          <p:nvPr/>
        </p:nvSpPr>
        <p:spPr>
          <a:xfrm>
            <a:off x="1483200" y="2671563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9"/>
          <p:cNvSpPr/>
          <p:nvPr/>
        </p:nvSpPr>
        <p:spPr>
          <a:xfrm>
            <a:off x="1485775" y="38402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9"/>
          <p:cNvSpPr/>
          <p:nvPr/>
        </p:nvSpPr>
        <p:spPr>
          <a:xfrm>
            <a:off x="1483200" y="24933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9"/>
          <p:cNvSpPr/>
          <p:nvPr/>
        </p:nvSpPr>
        <p:spPr>
          <a:xfrm>
            <a:off x="1483200" y="261727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416550" y="1195725"/>
            <a:ext cx="2502000" cy="1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   Label Positive                         Label Negative</a:t>
            </a:r>
            <a:endParaRPr sz="800"/>
          </a:p>
        </p:txBody>
      </p:sp>
      <p:sp>
        <p:nvSpPr>
          <p:cNvPr id="168" name="Google Shape;168;p19"/>
          <p:cNvSpPr txBox="1"/>
          <p:nvPr/>
        </p:nvSpPr>
        <p:spPr>
          <a:xfrm rot="-5400000">
            <a:off x="-1031250" y="2719725"/>
            <a:ext cx="2502000" cy="1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  Predict Negative                      Predict Positive</a:t>
            </a:r>
            <a:endParaRPr sz="800"/>
          </a:p>
        </p:txBody>
      </p:sp>
      <p:sp>
        <p:nvSpPr>
          <p:cNvPr id="169" name="Google Shape;169;p19"/>
          <p:cNvSpPr txBox="1"/>
          <p:nvPr/>
        </p:nvSpPr>
        <p:spPr>
          <a:xfrm>
            <a:off x="462650" y="1569250"/>
            <a:ext cx="3321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9</a:t>
            </a:r>
            <a:endParaRPr sz="2400"/>
          </a:p>
        </p:txBody>
      </p:sp>
      <p:sp>
        <p:nvSpPr>
          <p:cNvPr id="170" name="Google Shape;170;p19"/>
          <p:cNvSpPr txBox="1"/>
          <p:nvPr/>
        </p:nvSpPr>
        <p:spPr>
          <a:xfrm>
            <a:off x="2520050" y="3526925"/>
            <a:ext cx="2961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8</a:t>
            </a:r>
            <a:endParaRPr sz="2400"/>
          </a:p>
        </p:txBody>
      </p:sp>
      <p:sp>
        <p:nvSpPr>
          <p:cNvPr id="171" name="Google Shape;171;p19"/>
          <p:cNvSpPr txBox="1"/>
          <p:nvPr/>
        </p:nvSpPr>
        <p:spPr>
          <a:xfrm>
            <a:off x="2520050" y="1569250"/>
            <a:ext cx="2961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2</a:t>
            </a:r>
            <a:endParaRPr sz="2400"/>
          </a:p>
        </p:txBody>
      </p:sp>
      <p:sp>
        <p:nvSpPr>
          <p:cNvPr id="172" name="Google Shape;172;p19"/>
          <p:cNvSpPr txBox="1"/>
          <p:nvPr/>
        </p:nvSpPr>
        <p:spPr>
          <a:xfrm>
            <a:off x="462650" y="3550450"/>
            <a:ext cx="2961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1</a:t>
            </a:r>
            <a:endParaRPr sz="2400"/>
          </a:p>
        </p:txBody>
      </p:sp>
      <p:sp>
        <p:nvSpPr>
          <p:cNvPr id="173" name="Google Shape;173;p19"/>
          <p:cNvSpPr txBox="1"/>
          <p:nvPr/>
        </p:nvSpPr>
        <p:spPr>
          <a:xfrm>
            <a:off x="73000" y="2647650"/>
            <a:ext cx="429600" cy="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Th=0.5</a:t>
            </a:r>
            <a:endParaRPr sz="600"/>
          </a:p>
        </p:txBody>
      </p:sp>
      <p:graphicFrame>
        <p:nvGraphicFramePr>
          <p:cNvPr id="174" name="Google Shape;174;p19"/>
          <p:cNvGraphicFramePr/>
          <p:nvPr>
            <p:extLst>
              <p:ext uri="{D42A27DB-BD31-4B8C-83A1-F6EECF244321}">
                <p14:modId xmlns:p14="http://schemas.microsoft.com/office/powerpoint/2010/main" val="156795731"/>
              </p:ext>
            </p:extLst>
          </p:nvPr>
        </p:nvGraphicFramePr>
        <p:xfrm>
          <a:off x="3227575" y="1482299"/>
          <a:ext cx="606150" cy="1053553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606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593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dirty="0"/>
                        <a:t>Th</a:t>
                      </a:r>
                      <a:endParaRPr sz="1300" dirty="0"/>
                    </a:p>
                  </a:txBody>
                  <a:tcPr marL="144749" marR="144749" marT="144749" marB="14474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52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dirty="0"/>
                        <a:t>0.5</a:t>
                      </a:r>
                      <a:endParaRPr sz="1300" dirty="0"/>
                    </a:p>
                  </a:txBody>
                  <a:tcPr marL="144749" marR="144749" marT="144749" marB="14474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037B5C6-E117-4941-B4E0-4F1E7571788D}"/>
              </a:ext>
            </a:extLst>
          </p:cNvPr>
          <p:cNvSpPr txBox="1"/>
          <p:nvPr/>
        </p:nvSpPr>
        <p:spPr>
          <a:xfrm>
            <a:off x="3739243" y="2817450"/>
            <a:ext cx="46863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dirty="0"/>
              <a:t>Properties:</a:t>
            </a:r>
          </a:p>
          <a:p>
            <a:pPr marL="457200" lvl="0" indent="-298450">
              <a:buSzPts val="1100"/>
              <a:buChar char="-"/>
            </a:pPr>
            <a:r>
              <a:rPr lang="en-US" dirty="0"/>
              <a:t>Total sum is fixed (population).</a:t>
            </a:r>
          </a:p>
          <a:p>
            <a:pPr marL="457200" lvl="0" indent="-298450">
              <a:buSzPts val="1100"/>
              <a:buChar char="-"/>
            </a:pPr>
            <a:r>
              <a:rPr lang="en-US" dirty="0"/>
              <a:t>Column sums are fixed (class-wise population).</a:t>
            </a:r>
          </a:p>
          <a:p>
            <a:pPr marL="457200" lvl="0" indent="-298450">
              <a:buSzPts val="1100"/>
              <a:buChar char="-"/>
            </a:pPr>
            <a:r>
              <a:rPr lang="en-US" dirty="0"/>
              <a:t>Quality of model &amp; threshold decide how columns are split into rows.</a:t>
            </a:r>
          </a:p>
          <a:p>
            <a:pPr marL="457200" lvl="0" indent="-298450">
              <a:buClr>
                <a:schemeClr val="dk1"/>
              </a:buClr>
              <a:buSzPts val="1100"/>
              <a:buChar char="-"/>
            </a:pPr>
            <a:r>
              <a:rPr lang="en-US" dirty="0">
                <a:solidFill>
                  <a:schemeClr val="dk1"/>
                </a:solidFill>
              </a:rPr>
              <a:t>We want diagonals to be “heavy”, off diagonals to be “light”.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"/>
          <p:cNvSpPr/>
          <p:nvPr/>
        </p:nvSpPr>
        <p:spPr>
          <a:xfrm>
            <a:off x="416550" y="2777700"/>
            <a:ext cx="2502000" cy="13086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Point metrics: True Positives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1" name="Google Shape;181;p20"/>
          <p:cNvSpPr/>
          <p:nvPr/>
        </p:nvSpPr>
        <p:spPr>
          <a:xfrm>
            <a:off x="416550" y="1482300"/>
            <a:ext cx="2502000" cy="13086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82" name="Google Shape;182;p20"/>
          <p:cNvCxnSpPr/>
          <p:nvPr/>
        </p:nvCxnSpPr>
        <p:spPr>
          <a:xfrm>
            <a:off x="1600675" y="1502700"/>
            <a:ext cx="4200" cy="2567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3" name="Google Shape;183;p20"/>
          <p:cNvSpPr/>
          <p:nvPr/>
        </p:nvSpPr>
        <p:spPr>
          <a:xfrm>
            <a:off x="1638175" y="17494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20"/>
          <p:cNvSpPr/>
          <p:nvPr/>
        </p:nvSpPr>
        <p:spPr>
          <a:xfrm>
            <a:off x="1635600" y="22453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20"/>
          <p:cNvSpPr/>
          <p:nvPr/>
        </p:nvSpPr>
        <p:spPr>
          <a:xfrm>
            <a:off x="1635600" y="28174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20"/>
          <p:cNvSpPr/>
          <p:nvPr/>
        </p:nvSpPr>
        <p:spPr>
          <a:xfrm>
            <a:off x="1638175" y="302037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20"/>
          <p:cNvSpPr/>
          <p:nvPr/>
        </p:nvSpPr>
        <p:spPr>
          <a:xfrm>
            <a:off x="1635600" y="32371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20"/>
          <p:cNvSpPr/>
          <p:nvPr/>
        </p:nvSpPr>
        <p:spPr>
          <a:xfrm>
            <a:off x="1635600" y="340250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20"/>
          <p:cNvSpPr/>
          <p:nvPr/>
        </p:nvSpPr>
        <p:spPr>
          <a:xfrm>
            <a:off x="1638175" y="351192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20"/>
          <p:cNvSpPr/>
          <p:nvPr/>
        </p:nvSpPr>
        <p:spPr>
          <a:xfrm>
            <a:off x="1635600" y="36213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0"/>
          <p:cNvSpPr/>
          <p:nvPr/>
        </p:nvSpPr>
        <p:spPr>
          <a:xfrm>
            <a:off x="1635600" y="374802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20"/>
          <p:cNvSpPr/>
          <p:nvPr/>
        </p:nvSpPr>
        <p:spPr>
          <a:xfrm>
            <a:off x="1635600" y="391757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20"/>
          <p:cNvSpPr/>
          <p:nvPr/>
        </p:nvSpPr>
        <p:spPr>
          <a:xfrm>
            <a:off x="1483200" y="153922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20"/>
          <p:cNvSpPr/>
          <p:nvPr/>
        </p:nvSpPr>
        <p:spPr>
          <a:xfrm>
            <a:off x="1483200" y="1644338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20"/>
          <p:cNvSpPr/>
          <p:nvPr/>
        </p:nvSpPr>
        <p:spPr>
          <a:xfrm>
            <a:off x="1485775" y="185455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20"/>
          <p:cNvSpPr/>
          <p:nvPr/>
        </p:nvSpPr>
        <p:spPr>
          <a:xfrm>
            <a:off x="1485775" y="19974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20"/>
          <p:cNvSpPr/>
          <p:nvPr/>
        </p:nvSpPr>
        <p:spPr>
          <a:xfrm>
            <a:off x="1485775" y="212137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20"/>
          <p:cNvSpPr/>
          <p:nvPr/>
        </p:nvSpPr>
        <p:spPr>
          <a:xfrm>
            <a:off x="1483200" y="236932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20"/>
          <p:cNvSpPr/>
          <p:nvPr/>
        </p:nvSpPr>
        <p:spPr>
          <a:xfrm>
            <a:off x="1483200" y="2671563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1485775" y="38402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20"/>
          <p:cNvSpPr/>
          <p:nvPr/>
        </p:nvSpPr>
        <p:spPr>
          <a:xfrm>
            <a:off x="1483200" y="24933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20"/>
          <p:cNvSpPr/>
          <p:nvPr/>
        </p:nvSpPr>
        <p:spPr>
          <a:xfrm>
            <a:off x="1483200" y="261727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416550" y="1195725"/>
            <a:ext cx="2502000" cy="1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   Label positive                         Label negative</a:t>
            </a:r>
            <a:endParaRPr sz="800"/>
          </a:p>
        </p:txBody>
      </p:sp>
      <p:sp>
        <p:nvSpPr>
          <p:cNvPr id="204" name="Google Shape;204;p20"/>
          <p:cNvSpPr txBox="1"/>
          <p:nvPr/>
        </p:nvSpPr>
        <p:spPr>
          <a:xfrm>
            <a:off x="462650" y="1569250"/>
            <a:ext cx="3321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0000"/>
                </a:solidFill>
              </a:rPr>
              <a:t>9</a:t>
            </a:r>
            <a:endParaRPr sz="3600">
              <a:solidFill>
                <a:srgbClr val="FF0000"/>
              </a:solidFill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2520050" y="3526925"/>
            <a:ext cx="2961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8</a:t>
            </a:r>
            <a:endParaRPr sz="2400"/>
          </a:p>
        </p:txBody>
      </p:sp>
      <p:sp>
        <p:nvSpPr>
          <p:cNvPr id="206" name="Google Shape;206;p20"/>
          <p:cNvSpPr txBox="1"/>
          <p:nvPr/>
        </p:nvSpPr>
        <p:spPr>
          <a:xfrm>
            <a:off x="2520050" y="1569250"/>
            <a:ext cx="2961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2</a:t>
            </a:r>
            <a:endParaRPr sz="2400"/>
          </a:p>
        </p:txBody>
      </p:sp>
      <p:sp>
        <p:nvSpPr>
          <p:cNvPr id="207" name="Google Shape;207;p20"/>
          <p:cNvSpPr txBox="1"/>
          <p:nvPr/>
        </p:nvSpPr>
        <p:spPr>
          <a:xfrm>
            <a:off x="462650" y="3550450"/>
            <a:ext cx="2961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1</a:t>
            </a:r>
            <a:endParaRPr sz="2400"/>
          </a:p>
        </p:txBody>
      </p:sp>
      <p:sp>
        <p:nvSpPr>
          <p:cNvPr id="208" name="Google Shape;208;p20"/>
          <p:cNvSpPr txBox="1"/>
          <p:nvPr/>
        </p:nvSpPr>
        <p:spPr>
          <a:xfrm>
            <a:off x="73000" y="2647650"/>
            <a:ext cx="429600" cy="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Th=0.5</a:t>
            </a:r>
            <a:endParaRPr sz="600"/>
          </a:p>
        </p:txBody>
      </p:sp>
      <p:sp>
        <p:nvSpPr>
          <p:cNvPr id="211" name="Google Shape;211;p20"/>
          <p:cNvSpPr txBox="1"/>
          <p:nvPr/>
        </p:nvSpPr>
        <p:spPr>
          <a:xfrm rot="-5400000">
            <a:off x="-1031250" y="2719725"/>
            <a:ext cx="2502000" cy="1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  Predict Negative                      Predict Positive</a:t>
            </a:r>
            <a:endParaRPr sz="800"/>
          </a:p>
        </p:txBody>
      </p:sp>
      <p:graphicFrame>
        <p:nvGraphicFramePr>
          <p:cNvPr id="38" name="Google Shape;174;p19">
            <a:extLst>
              <a:ext uri="{FF2B5EF4-FFF2-40B4-BE49-F238E27FC236}">
                <a16:creationId xmlns:a16="http://schemas.microsoft.com/office/drawing/2014/main" id="{5C868663-B0EF-9549-9B43-3B6B7320F4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96984942"/>
              </p:ext>
            </p:extLst>
          </p:nvPr>
        </p:nvGraphicFramePr>
        <p:xfrm>
          <a:off x="3227575" y="1482299"/>
          <a:ext cx="606150" cy="1053553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606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593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dirty="0"/>
                        <a:t>Th</a:t>
                      </a:r>
                      <a:endParaRPr sz="1300" dirty="0"/>
                    </a:p>
                  </a:txBody>
                  <a:tcPr marL="144749" marR="144749" marT="144749" marB="14474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52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dirty="0"/>
                        <a:t>0.5</a:t>
                      </a:r>
                      <a:endParaRPr sz="1300" dirty="0"/>
                    </a:p>
                  </a:txBody>
                  <a:tcPr marL="144749" marR="144749" marT="144749" marB="14474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9" name="Google Shape;174;p19">
            <a:extLst>
              <a:ext uri="{FF2B5EF4-FFF2-40B4-BE49-F238E27FC236}">
                <a16:creationId xmlns:a16="http://schemas.microsoft.com/office/drawing/2014/main" id="{C593C64A-E446-784B-ABA1-A3DD69A348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19103462"/>
              </p:ext>
            </p:extLst>
          </p:nvPr>
        </p:nvGraphicFramePr>
        <p:xfrm>
          <a:off x="3839675" y="1482299"/>
          <a:ext cx="546673" cy="1053553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5466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593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dirty="0"/>
                        <a:t>TP</a:t>
                      </a:r>
                      <a:endParaRPr sz="1300" dirty="0"/>
                    </a:p>
                  </a:txBody>
                  <a:tcPr marL="144749" marR="144749" marT="144749" marB="14474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52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dirty="0">
                          <a:solidFill>
                            <a:srgbClr val="FF0000"/>
                          </a:solidFill>
                        </a:rPr>
                        <a:t>9</a:t>
                      </a:r>
                      <a:endParaRPr sz="1300" dirty="0">
                        <a:solidFill>
                          <a:srgbClr val="FF0000"/>
                        </a:solidFill>
                      </a:endParaRPr>
                    </a:p>
                  </a:txBody>
                  <a:tcPr marL="144749" marR="144749" marT="144749" marB="14474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1"/>
          <p:cNvSpPr/>
          <p:nvPr/>
        </p:nvSpPr>
        <p:spPr>
          <a:xfrm>
            <a:off x="416550" y="2777700"/>
            <a:ext cx="2502000" cy="13086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Point metrics: True Negatives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21"/>
          <p:cNvSpPr/>
          <p:nvPr/>
        </p:nvSpPr>
        <p:spPr>
          <a:xfrm>
            <a:off x="416550" y="1482300"/>
            <a:ext cx="2502000" cy="13086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19" name="Google Shape;219;p21"/>
          <p:cNvCxnSpPr/>
          <p:nvPr/>
        </p:nvCxnSpPr>
        <p:spPr>
          <a:xfrm>
            <a:off x="1600675" y="1502700"/>
            <a:ext cx="4200" cy="2567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0" name="Google Shape;220;p21"/>
          <p:cNvSpPr/>
          <p:nvPr/>
        </p:nvSpPr>
        <p:spPr>
          <a:xfrm>
            <a:off x="1638175" y="17494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21"/>
          <p:cNvSpPr/>
          <p:nvPr/>
        </p:nvSpPr>
        <p:spPr>
          <a:xfrm>
            <a:off x="1635600" y="22453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21"/>
          <p:cNvSpPr/>
          <p:nvPr/>
        </p:nvSpPr>
        <p:spPr>
          <a:xfrm>
            <a:off x="1635600" y="28174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21"/>
          <p:cNvSpPr/>
          <p:nvPr/>
        </p:nvSpPr>
        <p:spPr>
          <a:xfrm>
            <a:off x="1638175" y="302037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21"/>
          <p:cNvSpPr/>
          <p:nvPr/>
        </p:nvSpPr>
        <p:spPr>
          <a:xfrm>
            <a:off x="1635600" y="32371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21"/>
          <p:cNvSpPr/>
          <p:nvPr/>
        </p:nvSpPr>
        <p:spPr>
          <a:xfrm>
            <a:off x="1635600" y="340250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21"/>
          <p:cNvSpPr/>
          <p:nvPr/>
        </p:nvSpPr>
        <p:spPr>
          <a:xfrm>
            <a:off x="1638175" y="351192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21"/>
          <p:cNvSpPr/>
          <p:nvPr/>
        </p:nvSpPr>
        <p:spPr>
          <a:xfrm>
            <a:off x="1635600" y="36213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21"/>
          <p:cNvSpPr/>
          <p:nvPr/>
        </p:nvSpPr>
        <p:spPr>
          <a:xfrm>
            <a:off x="1635600" y="374802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21"/>
          <p:cNvSpPr/>
          <p:nvPr/>
        </p:nvSpPr>
        <p:spPr>
          <a:xfrm>
            <a:off x="1635600" y="391757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21"/>
          <p:cNvSpPr/>
          <p:nvPr/>
        </p:nvSpPr>
        <p:spPr>
          <a:xfrm>
            <a:off x="1483200" y="153922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21"/>
          <p:cNvSpPr/>
          <p:nvPr/>
        </p:nvSpPr>
        <p:spPr>
          <a:xfrm>
            <a:off x="1483200" y="1644338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21"/>
          <p:cNvSpPr/>
          <p:nvPr/>
        </p:nvSpPr>
        <p:spPr>
          <a:xfrm>
            <a:off x="1485775" y="185455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21"/>
          <p:cNvSpPr/>
          <p:nvPr/>
        </p:nvSpPr>
        <p:spPr>
          <a:xfrm>
            <a:off x="1485775" y="19974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21"/>
          <p:cNvSpPr/>
          <p:nvPr/>
        </p:nvSpPr>
        <p:spPr>
          <a:xfrm>
            <a:off x="1485775" y="212137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21"/>
          <p:cNvSpPr/>
          <p:nvPr/>
        </p:nvSpPr>
        <p:spPr>
          <a:xfrm>
            <a:off x="1483200" y="236932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21"/>
          <p:cNvSpPr/>
          <p:nvPr/>
        </p:nvSpPr>
        <p:spPr>
          <a:xfrm>
            <a:off x="1483200" y="2671563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21"/>
          <p:cNvSpPr/>
          <p:nvPr/>
        </p:nvSpPr>
        <p:spPr>
          <a:xfrm>
            <a:off x="1485775" y="38402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21"/>
          <p:cNvSpPr/>
          <p:nvPr/>
        </p:nvSpPr>
        <p:spPr>
          <a:xfrm>
            <a:off x="1483200" y="24933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21"/>
          <p:cNvSpPr/>
          <p:nvPr/>
        </p:nvSpPr>
        <p:spPr>
          <a:xfrm>
            <a:off x="1483200" y="261727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416550" y="1195725"/>
            <a:ext cx="2502000" cy="1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   Label positive                         Label negative</a:t>
            </a:r>
            <a:endParaRPr sz="800"/>
          </a:p>
        </p:txBody>
      </p:sp>
      <p:sp>
        <p:nvSpPr>
          <p:cNvPr id="241" name="Google Shape;241;p21"/>
          <p:cNvSpPr txBox="1"/>
          <p:nvPr/>
        </p:nvSpPr>
        <p:spPr>
          <a:xfrm>
            <a:off x="462650" y="1569250"/>
            <a:ext cx="3321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9</a:t>
            </a:r>
            <a:endParaRPr sz="2400"/>
          </a:p>
        </p:txBody>
      </p:sp>
      <p:sp>
        <p:nvSpPr>
          <p:cNvPr id="242" name="Google Shape;242;p21"/>
          <p:cNvSpPr txBox="1"/>
          <p:nvPr/>
        </p:nvSpPr>
        <p:spPr>
          <a:xfrm>
            <a:off x="2520050" y="3526925"/>
            <a:ext cx="2961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0000"/>
                </a:solidFill>
              </a:rPr>
              <a:t>8</a:t>
            </a:r>
            <a:endParaRPr sz="3600">
              <a:solidFill>
                <a:srgbClr val="FF0000"/>
              </a:solidFill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2520050" y="1569250"/>
            <a:ext cx="2961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2</a:t>
            </a:r>
            <a:endParaRPr sz="2400"/>
          </a:p>
        </p:txBody>
      </p:sp>
      <p:sp>
        <p:nvSpPr>
          <p:cNvPr id="244" name="Google Shape;244;p21"/>
          <p:cNvSpPr txBox="1"/>
          <p:nvPr/>
        </p:nvSpPr>
        <p:spPr>
          <a:xfrm>
            <a:off x="462650" y="3550450"/>
            <a:ext cx="2961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1</a:t>
            </a:r>
            <a:endParaRPr sz="2400"/>
          </a:p>
        </p:txBody>
      </p:sp>
      <p:sp>
        <p:nvSpPr>
          <p:cNvPr id="245" name="Google Shape;245;p21"/>
          <p:cNvSpPr txBox="1"/>
          <p:nvPr/>
        </p:nvSpPr>
        <p:spPr>
          <a:xfrm>
            <a:off x="73000" y="2647650"/>
            <a:ext cx="429600" cy="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Th=0.5</a:t>
            </a:r>
            <a:endParaRPr sz="600"/>
          </a:p>
        </p:txBody>
      </p:sp>
      <p:graphicFrame>
        <p:nvGraphicFramePr>
          <p:cNvPr id="246" name="Google Shape;246;p21"/>
          <p:cNvGraphicFramePr/>
          <p:nvPr/>
        </p:nvGraphicFramePr>
        <p:xfrm>
          <a:off x="322757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Th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0.5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47" name="Google Shape;247;p21"/>
          <p:cNvGraphicFramePr/>
          <p:nvPr/>
        </p:nvGraphicFramePr>
        <p:xfrm>
          <a:off x="3616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TP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9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48" name="Google Shape;248;p21"/>
          <p:cNvGraphicFramePr/>
          <p:nvPr/>
        </p:nvGraphicFramePr>
        <p:xfrm>
          <a:off x="3997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TN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</a:rPr>
                        <a:t>8</a:t>
                      </a:r>
                      <a:endParaRPr sz="8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49" name="Google Shape;249;p21"/>
          <p:cNvSpPr txBox="1"/>
          <p:nvPr/>
        </p:nvSpPr>
        <p:spPr>
          <a:xfrm rot="-5400000">
            <a:off x="-1031250" y="2719725"/>
            <a:ext cx="2502000" cy="1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  Predict Negative                      Predict Positive</a:t>
            </a:r>
            <a:endParaRPr sz="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2"/>
          <p:cNvSpPr/>
          <p:nvPr/>
        </p:nvSpPr>
        <p:spPr>
          <a:xfrm>
            <a:off x="416550" y="2777700"/>
            <a:ext cx="2502000" cy="13086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Point metrics: False Positives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22"/>
          <p:cNvSpPr/>
          <p:nvPr/>
        </p:nvSpPr>
        <p:spPr>
          <a:xfrm>
            <a:off x="416550" y="1482300"/>
            <a:ext cx="2502000" cy="13086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57" name="Google Shape;257;p22"/>
          <p:cNvCxnSpPr/>
          <p:nvPr/>
        </p:nvCxnSpPr>
        <p:spPr>
          <a:xfrm>
            <a:off x="1600675" y="1502700"/>
            <a:ext cx="4200" cy="2567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8" name="Google Shape;258;p22"/>
          <p:cNvSpPr/>
          <p:nvPr/>
        </p:nvSpPr>
        <p:spPr>
          <a:xfrm>
            <a:off x="1638175" y="17494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22"/>
          <p:cNvSpPr/>
          <p:nvPr/>
        </p:nvSpPr>
        <p:spPr>
          <a:xfrm>
            <a:off x="1635600" y="22453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22"/>
          <p:cNvSpPr/>
          <p:nvPr/>
        </p:nvSpPr>
        <p:spPr>
          <a:xfrm>
            <a:off x="1635600" y="28174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2"/>
          <p:cNvSpPr/>
          <p:nvPr/>
        </p:nvSpPr>
        <p:spPr>
          <a:xfrm>
            <a:off x="1638175" y="302037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22"/>
          <p:cNvSpPr/>
          <p:nvPr/>
        </p:nvSpPr>
        <p:spPr>
          <a:xfrm>
            <a:off x="1635600" y="32371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22"/>
          <p:cNvSpPr/>
          <p:nvPr/>
        </p:nvSpPr>
        <p:spPr>
          <a:xfrm>
            <a:off x="1635600" y="340250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22"/>
          <p:cNvSpPr/>
          <p:nvPr/>
        </p:nvSpPr>
        <p:spPr>
          <a:xfrm>
            <a:off x="1638175" y="351192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22"/>
          <p:cNvSpPr/>
          <p:nvPr/>
        </p:nvSpPr>
        <p:spPr>
          <a:xfrm>
            <a:off x="1635600" y="36213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22"/>
          <p:cNvSpPr/>
          <p:nvPr/>
        </p:nvSpPr>
        <p:spPr>
          <a:xfrm>
            <a:off x="1635600" y="374802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2"/>
          <p:cNvSpPr/>
          <p:nvPr/>
        </p:nvSpPr>
        <p:spPr>
          <a:xfrm>
            <a:off x="1635600" y="391757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22"/>
          <p:cNvSpPr/>
          <p:nvPr/>
        </p:nvSpPr>
        <p:spPr>
          <a:xfrm>
            <a:off x="1483200" y="153922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22"/>
          <p:cNvSpPr/>
          <p:nvPr/>
        </p:nvSpPr>
        <p:spPr>
          <a:xfrm>
            <a:off x="1483200" y="1644338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22"/>
          <p:cNvSpPr/>
          <p:nvPr/>
        </p:nvSpPr>
        <p:spPr>
          <a:xfrm>
            <a:off x="1485775" y="185455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22"/>
          <p:cNvSpPr/>
          <p:nvPr/>
        </p:nvSpPr>
        <p:spPr>
          <a:xfrm>
            <a:off x="1485775" y="19974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22"/>
          <p:cNvSpPr/>
          <p:nvPr/>
        </p:nvSpPr>
        <p:spPr>
          <a:xfrm>
            <a:off x="1485775" y="212137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22"/>
          <p:cNvSpPr/>
          <p:nvPr/>
        </p:nvSpPr>
        <p:spPr>
          <a:xfrm>
            <a:off x="1483200" y="236932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22"/>
          <p:cNvSpPr/>
          <p:nvPr/>
        </p:nvSpPr>
        <p:spPr>
          <a:xfrm>
            <a:off x="1483200" y="2671563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22"/>
          <p:cNvSpPr/>
          <p:nvPr/>
        </p:nvSpPr>
        <p:spPr>
          <a:xfrm>
            <a:off x="1485775" y="38402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22"/>
          <p:cNvSpPr/>
          <p:nvPr/>
        </p:nvSpPr>
        <p:spPr>
          <a:xfrm>
            <a:off x="1483200" y="24933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22"/>
          <p:cNvSpPr/>
          <p:nvPr/>
        </p:nvSpPr>
        <p:spPr>
          <a:xfrm>
            <a:off x="1483200" y="261727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22"/>
          <p:cNvSpPr txBox="1"/>
          <p:nvPr/>
        </p:nvSpPr>
        <p:spPr>
          <a:xfrm>
            <a:off x="416550" y="1195725"/>
            <a:ext cx="2502000" cy="1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   Label positive                         Label negative</a:t>
            </a:r>
            <a:endParaRPr sz="800"/>
          </a:p>
        </p:txBody>
      </p:sp>
      <p:sp>
        <p:nvSpPr>
          <p:cNvPr id="279" name="Google Shape;279;p22"/>
          <p:cNvSpPr txBox="1"/>
          <p:nvPr/>
        </p:nvSpPr>
        <p:spPr>
          <a:xfrm>
            <a:off x="462650" y="1569250"/>
            <a:ext cx="3321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9</a:t>
            </a:r>
            <a:endParaRPr sz="2400"/>
          </a:p>
        </p:txBody>
      </p:sp>
      <p:sp>
        <p:nvSpPr>
          <p:cNvPr id="280" name="Google Shape;280;p22"/>
          <p:cNvSpPr txBox="1"/>
          <p:nvPr/>
        </p:nvSpPr>
        <p:spPr>
          <a:xfrm>
            <a:off x="2520050" y="3526925"/>
            <a:ext cx="2961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8</a:t>
            </a:r>
            <a:endParaRPr sz="2400"/>
          </a:p>
        </p:txBody>
      </p:sp>
      <p:sp>
        <p:nvSpPr>
          <p:cNvPr id="281" name="Google Shape;281;p22"/>
          <p:cNvSpPr txBox="1"/>
          <p:nvPr/>
        </p:nvSpPr>
        <p:spPr>
          <a:xfrm>
            <a:off x="2520050" y="1569250"/>
            <a:ext cx="2961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0000"/>
                </a:solidFill>
              </a:rPr>
              <a:t>2</a:t>
            </a:r>
            <a:endParaRPr sz="3600">
              <a:solidFill>
                <a:srgbClr val="FF0000"/>
              </a:solidFill>
            </a:endParaRPr>
          </a:p>
        </p:txBody>
      </p:sp>
      <p:sp>
        <p:nvSpPr>
          <p:cNvPr id="282" name="Google Shape;282;p22"/>
          <p:cNvSpPr txBox="1"/>
          <p:nvPr/>
        </p:nvSpPr>
        <p:spPr>
          <a:xfrm>
            <a:off x="462650" y="3550450"/>
            <a:ext cx="2961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1</a:t>
            </a:r>
            <a:endParaRPr sz="2400"/>
          </a:p>
        </p:txBody>
      </p:sp>
      <p:sp>
        <p:nvSpPr>
          <p:cNvPr id="283" name="Google Shape;283;p22"/>
          <p:cNvSpPr txBox="1"/>
          <p:nvPr/>
        </p:nvSpPr>
        <p:spPr>
          <a:xfrm>
            <a:off x="73000" y="2647650"/>
            <a:ext cx="429600" cy="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Th=0.5</a:t>
            </a:r>
            <a:endParaRPr sz="600"/>
          </a:p>
        </p:txBody>
      </p:sp>
      <p:graphicFrame>
        <p:nvGraphicFramePr>
          <p:cNvPr id="284" name="Google Shape;284;p22"/>
          <p:cNvGraphicFramePr/>
          <p:nvPr/>
        </p:nvGraphicFramePr>
        <p:xfrm>
          <a:off x="322757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Th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0.5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85" name="Google Shape;285;p22"/>
          <p:cNvGraphicFramePr/>
          <p:nvPr/>
        </p:nvGraphicFramePr>
        <p:xfrm>
          <a:off x="3616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TP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9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86" name="Google Shape;286;p22"/>
          <p:cNvGraphicFramePr/>
          <p:nvPr/>
        </p:nvGraphicFramePr>
        <p:xfrm>
          <a:off x="3997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TN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8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87" name="Google Shape;287;p22"/>
          <p:cNvSpPr txBox="1"/>
          <p:nvPr/>
        </p:nvSpPr>
        <p:spPr>
          <a:xfrm rot="-5400000">
            <a:off x="-1031250" y="2719725"/>
            <a:ext cx="2502000" cy="1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  Predict Negative                      Predict Positive</a:t>
            </a:r>
            <a:endParaRPr sz="800"/>
          </a:p>
        </p:txBody>
      </p:sp>
      <p:graphicFrame>
        <p:nvGraphicFramePr>
          <p:cNvPr id="288" name="Google Shape;288;p22"/>
          <p:cNvGraphicFramePr/>
          <p:nvPr/>
        </p:nvGraphicFramePr>
        <p:xfrm>
          <a:off x="4378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FP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</a:rPr>
                        <a:t>2</a:t>
                      </a:r>
                      <a:endParaRPr sz="8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3"/>
          <p:cNvSpPr/>
          <p:nvPr/>
        </p:nvSpPr>
        <p:spPr>
          <a:xfrm>
            <a:off x="416550" y="2777700"/>
            <a:ext cx="2502000" cy="13086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Point metrics: False Negatives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23"/>
          <p:cNvSpPr/>
          <p:nvPr/>
        </p:nvSpPr>
        <p:spPr>
          <a:xfrm>
            <a:off x="416550" y="1482300"/>
            <a:ext cx="2502000" cy="13086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96" name="Google Shape;296;p23"/>
          <p:cNvCxnSpPr/>
          <p:nvPr/>
        </p:nvCxnSpPr>
        <p:spPr>
          <a:xfrm>
            <a:off x="1600675" y="1502700"/>
            <a:ext cx="4200" cy="2567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7" name="Google Shape;297;p23"/>
          <p:cNvSpPr/>
          <p:nvPr/>
        </p:nvSpPr>
        <p:spPr>
          <a:xfrm>
            <a:off x="1638175" y="17494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23"/>
          <p:cNvSpPr/>
          <p:nvPr/>
        </p:nvSpPr>
        <p:spPr>
          <a:xfrm>
            <a:off x="1635600" y="22453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23"/>
          <p:cNvSpPr/>
          <p:nvPr/>
        </p:nvSpPr>
        <p:spPr>
          <a:xfrm>
            <a:off x="1635600" y="28174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23"/>
          <p:cNvSpPr/>
          <p:nvPr/>
        </p:nvSpPr>
        <p:spPr>
          <a:xfrm>
            <a:off x="1638175" y="302037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23"/>
          <p:cNvSpPr/>
          <p:nvPr/>
        </p:nvSpPr>
        <p:spPr>
          <a:xfrm>
            <a:off x="1635600" y="32371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23"/>
          <p:cNvSpPr/>
          <p:nvPr/>
        </p:nvSpPr>
        <p:spPr>
          <a:xfrm>
            <a:off x="1635600" y="340250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23"/>
          <p:cNvSpPr/>
          <p:nvPr/>
        </p:nvSpPr>
        <p:spPr>
          <a:xfrm>
            <a:off x="1638175" y="351192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23"/>
          <p:cNvSpPr/>
          <p:nvPr/>
        </p:nvSpPr>
        <p:spPr>
          <a:xfrm>
            <a:off x="1635600" y="36213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3"/>
          <p:cNvSpPr/>
          <p:nvPr/>
        </p:nvSpPr>
        <p:spPr>
          <a:xfrm>
            <a:off x="1635600" y="374802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3"/>
          <p:cNvSpPr/>
          <p:nvPr/>
        </p:nvSpPr>
        <p:spPr>
          <a:xfrm>
            <a:off x="1635600" y="391757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23"/>
          <p:cNvSpPr/>
          <p:nvPr/>
        </p:nvSpPr>
        <p:spPr>
          <a:xfrm>
            <a:off x="1483200" y="153922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23"/>
          <p:cNvSpPr/>
          <p:nvPr/>
        </p:nvSpPr>
        <p:spPr>
          <a:xfrm>
            <a:off x="1483200" y="1644338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23"/>
          <p:cNvSpPr/>
          <p:nvPr/>
        </p:nvSpPr>
        <p:spPr>
          <a:xfrm>
            <a:off x="1485775" y="185455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23"/>
          <p:cNvSpPr/>
          <p:nvPr/>
        </p:nvSpPr>
        <p:spPr>
          <a:xfrm>
            <a:off x="1485775" y="19974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23"/>
          <p:cNvSpPr/>
          <p:nvPr/>
        </p:nvSpPr>
        <p:spPr>
          <a:xfrm>
            <a:off x="1485775" y="212137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23"/>
          <p:cNvSpPr/>
          <p:nvPr/>
        </p:nvSpPr>
        <p:spPr>
          <a:xfrm>
            <a:off x="1483200" y="236932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23"/>
          <p:cNvSpPr/>
          <p:nvPr/>
        </p:nvSpPr>
        <p:spPr>
          <a:xfrm>
            <a:off x="1483200" y="2671563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23"/>
          <p:cNvSpPr/>
          <p:nvPr/>
        </p:nvSpPr>
        <p:spPr>
          <a:xfrm>
            <a:off x="1485775" y="38402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23"/>
          <p:cNvSpPr/>
          <p:nvPr/>
        </p:nvSpPr>
        <p:spPr>
          <a:xfrm>
            <a:off x="1483200" y="24933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23"/>
          <p:cNvSpPr/>
          <p:nvPr/>
        </p:nvSpPr>
        <p:spPr>
          <a:xfrm>
            <a:off x="1483200" y="261727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23"/>
          <p:cNvSpPr txBox="1"/>
          <p:nvPr/>
        </p:nvSpPr>
        <p:spPr>
          <a:xfrm>
            <a:off x="416550" y="1195725"/>
            <a:ext cx="2502000" cy="1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   Label positive                         Label negative</a:t>
            </a:r>
            <a:endParaRPr sz="800"/>
          </a:p>
        </p:txBody>
      </p:sp>
      <p:sp>
        <p:nvSpPr>
          <p:cNvPr id="318" name="Google Shape;318;p23"/>
          <p:cNvSpPr txBox="1"/>
          <p:nvPr/>
        </p:nvSpPr>
        <p:spPr>
          <a:xfrm>
            <a:off x="462650" y="1569250"/>
            <a:ext cx="3321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9</a:t>
            </a:r>
            <a:endParaRPr sz="2400"/>
          </a:p>
        </p:txBody>
      </p:sp>
      <p:sp>
        <p:nvSpPr>
          <p:cNvPr id="319" name="Google Shape;319;p23"/>
          <p:cNvSpPr txBox="1"/>
          <p:nvPr/>
        </p:nvSpPr>
        <p:spPr>
          <a:xfrm>
            <a:off x="2520050" y="3526925"/>
            <a:ext cx="2961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8</a:t>
            </a:r>
            <a:endParaRPr sz="2400"/>
          </a:p>
        </p:txBody>
      </p:sp>
      <p:sp>
        <p:nvSpPr>
          <p:cNvPr id="320" name="Google Shape;320;p23"/>
          <p:cNvSpPr txBox="1"/>
          <p:nvPr/>
        </p:nvSpPr>
        <p:spPr>
          <a:xfrm>
            <a:off x="2520050" y="1569250"/>
            <a:ext cx="2961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2</a:t>
            </a:r>
            <a:endParaRPr sz="2400"/>
          </a:p>
        </p:txBody>
      </p:sp>
      <p:sp>
        <p:nvSpPr>
          <p:cNvPr id="321" name="Google Shape;321;p23"/>
          <p:cNvSpPr txBox="1"/>
          <p:nvPr/>
        </p:nvSpPr>
        <p:spPr>
          <a:xfrm>
            <a:off x="462650" y="3550450"/>
            <a:ext cx="2961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0000"/>
                </a:solidFill>
              </a:rPr>
              <a:t>1</a:t>
            </a:r>
            <a:endParaRPr sz="3600">
              <a:solidFill>
                <a:srgbClr val="FF0000"/>
              </a:solidFill>
            </a:endParaRPr>
          </a:p>
        </p:txBody>
      </p:sp>
      <p:sp>
        <p:nvSpPr>
          <p:cNvPr id="322" name="Google Shape;322;p23"/>
          <p:cNvSpPr txBox="1"/>
          <p:nvPr/>
        </p:nvSpPr>
        <p:spPr>
          <a:xfrm>
            <a:off x="73000" y="2647650"/>
            <a:ext cx="429600" cy="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Th=0.5</a:t>
            </a:r>
            <a:endParaRPr sz="600"/>
          </a:p>
        </p:txBody>
      </p:sp>
      <p:graphicFrame>
        <p:nvGraphicFramePr>
          <p:cNvPr id="323" name="Google Shape;323;p23"/>
          <p:cNvGraphicFramePr/>
          <p:nvPr/>
        </p:nvGraphicFramePr>
        <p:xfrm>
          <a:off x="322757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Th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0.5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24" name="Google Shape;324;p23"/>
          <p:cNvGraphicFramePr/>
          <p:nvPr/>
        </p:nvGraphicFramePr>
        <p:xfrm>
          <a:off x="3616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TP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9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25" name="Google Shape;325;p23"/>
          <p:cNvGraphicFramePr/>
          <p:nvPr/>
        </p:nvGraphicFramePr>
        <p:xfrm>
          <a:off x="3997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TN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8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26" name="Google Shape;326;p23"/>
          <p:cNvSpPr txBox="1"/>
          <p:nvPr/>
        </p:nvSpPr>
        <p:spPr>
          <a:xfrm rot="-5400000">
            <a:off x="-1031250" y="2719725"/>
            <a:ext cx="2502000" cy="1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  Predict Negative                      Predict Positive</a:t>
            </a:r>
            <a:endParaRPr sz="800"/>
          </a:p>
        </p:txBody>
      </p:sp>
      <p:graphicFrame>
        <p:nvGraphicFramePr>
          <p:cNvPr id="327" name="Google Shape;327;p23"/>
          <p:cNvGraphicFramePr/>
          <p:nvPr/>
        </p:nvGraphicFramePr>
        <p:xfrm>
          <a:off x="4378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FP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2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28" name="Google Shape;328;p23"/>
          <p:cNvGraphicFramePr/>
          <p:nvPr/>
        </p:nvGraphicFramePr>
        <p:xfrm>
          <a:off x="4759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FN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</a:rPr>
                        <a:t>1</a:t>
                      </a:r>
                      <a:endParaRPr sz="8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FP and FN also called Type-1 and Type-2 errors</a:t>
            </a:r>
            <a:endParaRPr/>
          </a:p>
        </p:txBody>
      </p:sp>
      <p:pic>
        <p:nvPicPr>
          <p:cNvPr id="334" name="Google Shape;334;p24" descr="BnRtUkRCIAAn60g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2098" y="1204423"/>
            <a:ext cx="4676850" cy="3505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4"/>
          <p:cNvSpPr txBox="1"/>
          <p:nvPr/>
        </p:nvSpPr>
        <p:spPr>
          <a:xfrm>
            <a:off x="4680475" y="4811325"/>
            <a:ext cx="2974500" cy="1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Could not find true source of image to cite</a:t>
            </a:r>
            <a:endParaRPr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5"/>
          <p:cNvSpPr/>
          <p:nvPr/>
        </p:nvSpPr>
        <p:spPr>
          <a:xfrm>
            <a:off x="416550" y="2777700"/>
            <a:ext cx="2502000" cy="13086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Point metrics: Accuracy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25"/>
          <p:cNvSpPr/>
          <p:nvPr/>
        </p:nvSpPr>
        <p:spPr>
          <a:xfrm>
            <a:off x="416550" y="1482300"/>
            <a:ext cx="2502000" cy="13086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43" name="Google Shape;343;p25"/>
          <p:cNvCxnSpPr/>
          <p:nvPr/>
        </p:nvCxnSpPr>
        <p:spPr>
          <a:xfrm>
            <a:off x="1600675" y="1502700"/>
            <a:ext cx="4200" cy="2567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4" name="Google Shape;344;p25"/>
          <p:cNvSpPr/>
          <p:nvPr/>
        </p:nvSpPr>
        <p:spPr>
          <a:xfrm>
            <a:off x="1638175" y="17494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25"/>
          <p:cNvSpPr/>
          <p:nvPr/>
        </p:nvSpPr>
        <p:spPr>
          <a:xfrm>
            <a:off x="1635600" y="22453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25"/>
          <p:cNvSpPr/>
          <p:nvPr/>
        </p:nvSpPr>
        <p:spPr>
          <a:xfrm>
            <a:off x="1635600" y="28174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25"/>
          <p:cNvSpPr/>
          <p:nvPr/>
        </p:nvSpPr>
        <p:spPr>
          <a:xfrm>
            <a:off x="1638175" y="302037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25"/>
          <p:cNvSpPr/>
          <p:nvPr/>
        </p:nvSpPr>
        <p:spPr>
          <a:xfrm>
            <a:off x="1635600" y="32371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25"/>
          <p:cNvSpPr/>
          <p:nvPr/>
        </p:nvSpPr>
        <p:spPr>
          <a:xfrm>
            <a:off x="1635600" y="340250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25"/>
          <p:cNvSpPr/>
          <p:nvPr/>
        </p:nvSpPr>
        <p:spPr>
          <a:xfrm>
            <a:off x="1638175" y="351192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25"/>
          <p:cNvSpPr/>
          <p:nvPr/>
        </p:nvSpPr>
        <p:spPr>
          <a:xfrm>
            <a:off x="1635600" y="36213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25"/>
          <p:cNvSpPr/>
          <p:nvPr/>
        </p:nvSpPr>
        <p:spPr>
          <a:xfrm>
            <a:off x="1635600" y="374802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25"/>
          <p:cNvSpPr/>
          <p:nvPr/>
        </p:nvSpPr>
        <p:spPr>
          <a:xfrm>
            <a:off x="1635600" y="391757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25"/>
          <p:cNvSpPr/>
          <p:nvPr/>
        </p:nvSpPr>
        <p:spPr>
          <a:xfrm>
            <a:off x="1483200" y="153922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25"/>
          <p:cNvSpPr/>
          <p:nvPr/>
        </p:nvSpPr>
        <p:spPr>
          <a:xfrm>
            <a:off x="1483200" y="1644338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25"/>
          <p:cNvSpPr/>
          <p:nvPr/>
        </p:nvSpPr>
        <p:spPr>
          <a:xfrm>
            <a:off x="1485775" y="185455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25"/>
          <p:cNvSpPr/>
          <p:nvPr/>
        </p:nvSpPr>
        <p:spPr>
          <a:xfrm>
            <a:off x="1485775" y="19974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25"/>
          <p:cNvSpPr/>
          <p:nvPr/>
        </p:nvSpPr>
        <p:spPr>
          <a:xfrm>
            <a:off x="1485775" y="212137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25"/>
          <p:cNvSpPr/>
          <p:nvPr/>
        </p:nvSpPr>
        <p:spPr>
          <a:xfrm>
            <a:off x="1483200" y="236932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25"/>
          <p:cNvSpPr/>
          <p:nvPr/>
        </p:nvSpPr>
        <p:spPr>
          <a:xfrm>
            <a:off x="1483200" y="2671563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25"/>
          <p:cNvSpPr/>
          <p:nvPr/>
        </p:nvSpPr>
        <p:spPr>
          <a:xfrm>
            <a:off x="1485775" y="38402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25"/>
          <p:cNvSpPr/>
          <p:nvPr/>
        </p:nvSpPr>
        <p:spPr>
          <a:xfrm>
            <a:off x="1483200" y="24933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25"/>
          <p:cNvSpPr/>
          <p:nvPr/>
        </p:nvSpPr>
        <p:spPr>
          <a:xfrm>
            <a:off x="1483200" y="261727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25"/>
          <p:cNvSpPr txBox="1"/>
          <p:nvPr/>
        </p:nvSpPr>
        <p:spPr>
          <a:xfrm>
            <a:off x="416550" y="1195725"/>
            <a:ext cx="2502000" cy="1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   Label positive                         Label negative</a:t>
            </a:r>
            <a:endParaRPr sz="800"/>
          </a:p>
        </p:txBody>
      </p:sp>
      <p:sp>
        <p:nvSpPr>
          <p:cNvPr id="365" name="Google Shape;365;p25"/>
          <p:cNvSpPr txBox="1"/>
          <p:nvPr/>
        </p:nvSpPr>
        <p:spPr>
          <a:xfrm>
            <a:off x="462650" y="1569250"/>
            <a:ext cx="3321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0000"/>
                </a:solidFill>
              </a:rPr>
              <a:t>9</a:t>
            </a:r>
            <a:endParaRPr sz="3600">
              <a:solidFill>
                <a:srgbClr val="FF0000"/>
              </a:solidFill>
            </a:endParaRPr>
          </a:p>
        </p:txBody>
      </p:sp>
      <p:sp>
        <p:nvSpPr>
          <p:cNvPr id="366" name="Google Shape;366;p25"/>
          <p:cNvSpPr txBox="1"/>
          <p:nvPr/>
        </p:nvSpPr>
        <p:spPr>
          <a:xfrm>
            <a:off x="2520050" y="3526925"/>
            <a:ext cx="2961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0000"/>
                </a:solidFill>
              </a:rPr>
              <a:t>8</a:t>
            </a:r>
            <a:endParaRPr sz="3600">
              <a:solidFill>
                <a:srgbClr val="FF0000"/>
              </a:solidFill>
            </a:endParaRPr>
          </a:p>
        </p:txBody>
      </p:sp>
      <p:sp>
        <p:nvSpPr>
          <p:cNvPr id="367" name="Google Shape;367;p25"/>
          <p:cNvSpPr txBox="1"/>
          <p:nvPr/>
        </p:nvSpPr>
        <p:spPr>
          <a:xfrm>
            <a:off x="2520050" y="1569250"/>
            <a:ext cx="2961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2</a:t>
            </a:r>
            <a:endParaRPr sz="2400"/>
          </a:p>
        </p:txBody>
      </p:sp>
      <p:sp>
        <p:nvSpPr>
          <p:cNvPr id="368" name="Google Shape;368;p25"/>
          <p:cNvSpPr txBox="1"/>
          <p:nvPr/>
        </p:nvSpPr>
        <p:spPr>
          <a:xfrm>
            <a:off x="462650" y="3550450"/>
            <a:ext cx="2961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1</a:t>
            </a:r>
            <a:endParaRPr sz="2400"/>
          </a:p>
        </p:txBody>
      </p:sp>
      <p:sp>
        <p:nvSpPr>
          <p:cNvPr id="369" name="Google Shape;369;p25"/>
          <p:cNvSpPr txBox="1"/>
          <p:nvPr/>
        </p:nvSpPr>
        <p:spPr>
          <a:xfrm>
            <a:off x="73000" y="2647650"/>
            <a:ext cx="429600" cy="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Th=0.5</a:t>
            </a:r>
            <a:endParaRPr sz="600"/>
          </a:p>
        </p:txBody>
      </p:sp>
      <p:graphicFrame>
        <p:nvGraphicFramePr>
          <p:cNvPr id="370" name="Google Shape;370;p25"/>
          <p:cNvGraphicFramePr/>
          <p:nvPr/>
        </p:nvGraphicFramePr>
        <p:xfrm>
          <a:off x="322757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Th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0.5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71" name="Google Shape;371;p25"/>
          <p:cNvGraphicFramePr/>
          <p:nvPr/>
        </p:nvGraphicFramePr>
        <p:xfrm>
          <a:off x="3616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TP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9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72" name="Google Shape;372;p25"/>
          <p:cNvGraphicFramePr/>
          <p:nvPr/>
        </p:nvGraphicFramePr>
        <p:xfrm>
          <a:off x="3997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TN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8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73" name="Google Shape;373;p25"/>
          <p:cNvSpPr txBox="1"/>
          <p:nvPr/>
        </p:nvSpPr>
        <p:spPr>
          <a:xfrm rot="-5400000">
            <a:off x="-1031250" y="2719725"/>
            <a:ext cx="2502000" cy="1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  Predict Negative                      Predict Positive</a:t>
            </a:r>
            <a:endParaRPr sz="800"/>
          </a:p>
        </p:txBody>
      </p:sp>
      <p:graphicFrame>
        <p:nvGraphicFramePr>
          <p:cNvPr id="374" name="Google Shape;374;p25"/>
          <p:cNvGraphicFramePr/>
          <p:nvPr/>
        </p:nvGraphicFramePr>
        <p:xfrm>
          <a:off x="4378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FP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2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75" name="Google Shape;375;p25"/>
          <p:cNvGraphicFramePr/>
          <p:nvPr/>
        </p:nvGraphicFramePr>
        <p:xfrm>
          <a:off x="4759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FN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76" name="Google Shape;376;p25"/>
          <p:cNvGraphicFramePr/>
          <p:nvPr/>
        </p:nvGraphicFramePr>
        <p:xfrm>
          <a:off x="5140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Acc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</a:rPr>
                        <a:t>.85</a:t>
                      </a:r>
                      <a:endParaRPr sz="8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75A5A9C-2371-1E4E-9A20-BBEDF97B3DC7}"/>
              </a:ext>
            </a:extLst>
          </p:cNvPr>
          <p:cNvSpPr txBox="1"/>
          <p:nvPr/>
        </p:nvSpPr>
        <p:spPr>
          <a:xfrm>
            <a:off x="4378425" y="3237150"/>
            <a:ext cx="27911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sz="2000" dirty="0"/>
              <a:t>Equivalent to 0-1 Loss!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6"/>
          <p:cNvSpPr/>
          <p:nvPr/>
        </p:nvSpPr>
        <p:spPr>
          <a:xfrm>
            <a:off x="416550" y="2777700"/>
            <a:ext cx="2502000" cy="13086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Point metrics: Precision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26"/>
          <p:cNvSpPr/>
          <p:nvPr/>
        </p:nvSpPr>
        <p:spPr>
          <a:xfrm>
            <a:off x="416550" y="1482300"/>
            <a:ext cx="2502000" cy="13086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84" name="Google Shape;384;p26"/>
          <p:cNvCxnSpPr/>
          <p:nvPr/>
        </p:nvCxnSpPr>
        <p:spPr>
          <a:xfrm>
            <a:off x="1600675" y="1502700"/>
            <a:ext cx="4200" cy="2567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5" name="Google Shape;385;p26"/>
          <p:cNvSpPr/>
          <p:nvPr/>
        </p:nvSpPr>
        <p:spPr>
          <a:xfrm>
            <a:off x="1638175" y="17494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26"/>
          <p:cNvSpPr/>
          <p:nvPr/>
        </p:nvSpPr>
        <p:spPr>
          <a:xfrm>
            <a:off x="1635600" y="22453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26"/>
          <p:cNvSpPr/>
          <p:nvPr/>
        </p:nvSpPr>
        <p:spPr>
          <a:xfrm>
            <a:off x="1635600" y="28174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26"/>
          <p:cNvSpPr/>
          <p:nvPr/>
        </p:nvSpPr>
        <p:spPr>
          <a:xfrm>
            <a:off x="1638175" y="302037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26"/>
          <p:cNvSpPr/>
          <p:nvPr/>
        </p:nvSpPr>
        <p:spPr>
          <a:xfrm>
            <a:off x="1635600" y="32371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26"/>
          <p:cNvSpPr/>
          <p:nvPr/>
        </p:nvSpPr>
        <p:spPr>
          <a:xfrm>
            <a:off x="1635600" y="340250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26"/>
          <p:cNvSpPr/>
          <p:nvPr/>
        </p:nvSpPr>
        <p:spPr>
          <a:xfrm>
            <a:off x="1638175" y="351192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26"/>
          <p:cNvSpPr/>
          <p:nvPr/>
        </p:nvSpPr>
        <p:spPr>
          <a:xfrm>
            <a:off x="1635600" y="36213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26"/>
          <p:cNvSpPr/>
          <p:nvPr/>
        </p:nvSpPr>
        <p:spPr>
          <a:xfrm>
            <a:off x="1635600" y="374802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26"/>
          <p:cNvSpPr/>
          <p:nvPr/>
        </p:nvSpPr>
        <p:spPr>
          <a:xfrm>
            <a:off x="1635600" y="391757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26"/>
          <p:cNvSpPr/>
          <p:nvPr/>
        </p:nvSpPr>
        <p:spPr>
          <a:xfrm>
            <a:off x="1483200" y="153922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26"/>
          <p:cNvSpPr/>
          <p:nvPr/>
        </p:nvSpPr>
        <p:spPr>
          <a:xfrm>
            <a:off x="1483200" y="1644338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26"/>
          <p:cNvSpPr/>
          <p:nvPr/>
        </p:nvSpPr>
        <p:spPr>
          <a:xfrm>
            <a:off x="1485775" y="185455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26"/>
          <p:cNvSpPr/>
          <p:nvPr/>
        </p:nvSpPr>
        <p:spPr>
          <a:xfrm>
            <a:off x="1485775" y="19974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26"/>
          <p:cNvSpPr/>
          <p:nvPr/>
        </p:nvSpPr>
        <p:spPr>
          <a:xfrm>
            <a:off x="1485775" y="212137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26"/>
          <p:cNvSpPr/>
          <p:nvPr/>
        </p:nvSpPr>
        <p:spPr>
          <a:xfrm>
            <a:off x="1483200" y="236932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26"/>
          <p:cNvSpPr/>
          <p:nvPr/>
        </p:nvSpPr>
        <p:spPr>
          <a:xfrm>
            <a:off x="1483200" y="2671563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26"/>
          <p:cNvSpPr/>
          <p:nvPr/>
        </p:nvSpPr>
        <p:spPr>
          <a:xfrm>
            <a:off x="1485775" y="38402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26"/>
          <p:cNvSpPr/>
          <p:nvPr/>
        </p:nvSpPr>
        <p:spPr>
          <a:xfrm>
            <a:off x="1483200" y="24933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26"/>
          <p:cNvSpPr/>
          <p:nvPr/>
        </p:nvSpPr>
        <p:spPr>
          <a:xfrm>
            <a:off x="1483200" y="261727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26"/>
          <p:cNvSpPr txBox="1"/>
          <p:nvPr/>
        </p:nvSpPr>
        <p:spPr>
          <a:xfrm>
            <a:off x="416550" y="1195725"/>
            <a:ext cx="2502000" cy="1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   Label positive                         Label negative</a:t>
            </a:r>
            <a:endParaRPr sz="800"/>
          </a:p>
        </p:txBody>
      </p:sp>
      <p:sp>
        <p:nvSpPr>
          <p:cNvPr id="406" name="Google Shape;406;p26"/>
          <p:cNvSpPr txBox="1"/>
          <p:nvPr/>
        </p:nvSpPr>
        <p:spPr>
          <a:xfrm>
            <a:off x="462650" y="1569250"/>
            <a:ext cx="3321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0000"/>
                </a:solidFill>
              </a:rPr>
              <a:t>9</a:t>
            </a:r>
            <a:endParaRPr sz="3600">
              <a:solidFill>
                <a:srgbClr val="FF0000"/>
              </a:solidFill>
            </a:endParaRPr>
          </a:p>
        </p:txBody>
      </p:sp>
      <p:sp>
        <p:nvSpPr>
          <p:cNvPr id="407" name="Google Shape;407;p26"/>
          <p:cNvSpPr txBox="1"/>
          <p:nvPr/>
        </p:nvSpPr>
        <p:spPr>
          <a:xfrm>
            <a:off x="2520050" y="3526925"/>
            <a:ext cx="2961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8</a:t>
            </a:r>
            <a:endParaRPr sz="2400"/>
          </a:p>
        </p:txBody>
      </p:sp>
      <p:sp>
        <p:nvSpPr>
          <p:cNvPr id="408" name="Google Shape;408;p26"/>
          <p:cNvSpPr txBox="1"/>
          <p:nvPr/>
        </p:nvSpPr>
        <p:spPr>
          <a:xfrm>
            <a:off x="2520050" y="1569250"/>
            <a:ext cx="2961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0000"/>
                </a:solidFill>
              </a:rPr>
              <a:t>2</a:t>
            </a:r>
            <a:endParaRPr sz="3600">
              <a:solidFill>
                <a:srgbClr val="FF0000"/>
              </a:solidFill>
            </a:endParaRPr>
          </a:p>
        </p:txBody>
      </p:sp>
      <p:sp>
        <p:nvSpPr>
          <p:cNvPr id="409" name="Google Shape;409;p26"/>
          <p:cNvSpPr txBox="1"/>
          <p:nvPr/>
        </p:nvSpPr>
        <p:spPr>
          <a:xfrm>
            <a:off x="462650" y="3550450"/>
            <a:ext cx="2961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1</a:t>
            </a:r>
            <a:endParaRPr sz="2400"/>
          </a:p>
        </p:txBody>
      </p:sp>
      <p:sp>
        <p:nvSpPr>
          <p:cNvPr id="410" name="Google Shape;410;p26"/>
          <p:cNvSpPr txBox="1"/>
          <p:nvPr/>
        </p:nvSpPr>
        <p:spPr>
          <a:xfrm>
            <a:off x="73000" y="2647650"/>
            <a:ext cx="429600" cy="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Th=0.5</a:t>
            </a:r>
            <a:endParaRPr sz="600"/>
          </a:p>
        </p:txBody>
      </p:sp>
      <p:graphicFrame>
        <p:nvGraphicFramePr>
          <p:cNvPr id="411" name="Google Shape;411;p26"/>
          <p:cNvGraphicFramePr/>
          <p:nvPr/>
        </p:nvGraphicFramePr>
        <p:xfrm>
          <a:off x="322757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Th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0.5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12" name="Google Shape;412;p26"/>
          <p:cNvGraphicFramePr/>
          <p:nvPr/>
        </p:nvGraphicFramePr>
        <p:xfrm>
          <a:off x="3616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TP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9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13" name="Google Shape;413;p26"/>
          <p:cNvGraphicFramePr/>
          <p:nvPr/>
        </p:nvGraphicFramePr>
        <p:xfrm>
          <a:off x="3997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TN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8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14" name="Google Shape;414;p26"/>
          <p:cNvSpPr txBox="1"/>
          <p:nvPr/>
        </p:nvSpPr>
        <p:spPr>
          <a:xfrm rot="-5400000">
            <a:off x="-1031250" y="2719725"/>
            <a:ext cx="2502000" cy="1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  Predict Negative                      Predict Positive</a:t>
            </a:r>
            <a:endParaRPr sz="800"/>
          </a:p>
        </p:txBody>
      </p:sp>
      <p:graphicFrame>
        <p:nvGraphicFramePr>
          <p:cNvPr id="415" name="Google Shape;415;p26"/>
          <p:cNvGraphicFramePr/>
          <p:nvPr/>
        </p:nvGraphicFramePr>
        <p:xfrm>
          <a:off x="4378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FP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2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16" name="Google Shape;416;p26"/>
          <p:cNvGraphicFramePr/>
          <p:nvPr/>
        </p:nvGraphicFramePr>
        <p:xfrm>
          <a:off x="4759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FN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17" name="Google Shape;417;p26"/>
          <p:cNvGraphicFramePr/>
          <p:nvPr/>
        </p:nvGraphicFramePr>
        <p:xfrm>
          <a:off x="5140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Acc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.85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18" name="Google Shape;418;p26"/>
          <p:cNvGraphicFramePr/>
          <p:nvPr/>
        </p:nvGraphicFramePr>
        <p:xfrm>
          <a:off x="5521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Pr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</a:rPr>
                        <a:t>.81</a:t>
                      </a:r>
                      <a:endParaRPr sz="8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7"/>
          <p:cNvSpPr/>
          <p:nvPr/>
        </p:nvSpPr>
        <p:spPr>
          <a:xfrm>
            <a:off x="416550" y="2777700"/>
            <a:ext cx="2502000" cy="13086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Point metrics: Positive Recall (Sensitivity)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27"/>
          <p:cNvSpPr/>
          <p:nvPr/>
        </p:nvSpPr>
        <p:spPr>
          <a:xfrm>
            <a:off x="416550" y="1482300"/>
            <a:ext cx="2502000" cy="13086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26" name="Google Shape;426;p27"/>
          <p:cNvCxnSpPr/>
          <p:nvPr/>
        </p:nvCxnSpPr>
        <p:spPr>
          <a:xfrm>
            <a:off x="1600675" y="1502700"/>
            <a:ext cx="4200" cy="2567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7" name="Google Shape;427;p27"/>
          <p:cNvSpPr/>
          <p:nvPr/>
        </p:nvSpPr>
        <p:spPr>
          <a:xfrm>
            <a:off x="1638175" y="17494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27"/>
          <p:cNvSpPr/>
          <p:nvPr/>
        </p:nvSpPr>
        <p:spPr>
          <a:xfrm>
            <a:off x="1635600" y="22453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27"/>
          <p:cNvSpPr/>
          <p:nvPr/>
        </p:nvSpPr>
        <p:spPr>
          <a:xfrm>
            <a:off x="1635600" y="28174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27"/>
          <p:cNvSpPr/>
          <p:nvPr/>
        </p:nvSpPr>
        <p:spPr>
          <a:xfrm>
            <a:off x="1638175" y="302037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27"/>
          <p:cNvSpPr/>
          <p:nvPr/>
        </p:nvSpPr>
        <p:spPr>
          <a:xfrm>
            <a:off x="1635600" y="32371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27"/>
          <p:cNvSpPr/>
          <p:nvPr/>
        </p:nvSpPr>
        <p:spPr>
          <a:xfrm>
            <a:off x="1635600" y="340250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27"/>
          <p:cNvSpPr/>
          <p:nvPr/>
        </p:nvSpPr>
        <p:spPr>
          <a:xfrm>
            <a:off x="1638175" y="351192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27"/>
          <p:cNvSpPr/>
          <p:nvPr/>
        </p:nvSpPr>
        <p:spPr>
          <a:xfrm>
            <a:off x="1635600" y="36213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27"/>
          <p:cNvSpPr/>
          <p:nvPr/>
        </p:nvSpPr>
        <p:spPr>
          <a:xfrm>
            <a:off x="1635600" y="374802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27"/>
          <p:cNvSpPr/>
          <p:nvPr/>
        </p:nvSpPr>
        <p:spPr>
          <a:xfrm>
            <a:off x="1635600" y="391757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27"/>
          <p:cNvSpPr/>
          <p:nvPr/>
        </p:nvSpPr>
        <p:spPr>
          <a:xfrm>
            <a:off x="1483200" y="153922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27"/>
          <p:cNvSpPr/>
          <p:nvPr/>
        </p:nvSpPr>
        <p:spPr>
          <a:xfrm>
            <a:off x="1483200" y="1644338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27"/>
          <p:cNvSpPr/>
          <p:nvPr/>
        </p:nvSpPr>
        <p:spPr>
          <a:xfrm>
            <a:off x="1485775" y="185455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27"/>
          <p:cNvSpPr/>
          <p:nvPr/>
        </p:nvSpPr>
        <p:spPr>
          <a:xfrm>
            <a:off x="1485775" y="19974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27"/>
          <p:cNvSpPr/>
          <p:nvPr/>
        </p:nvSpPr>
        <p:spPr>
          <a:xfrm>
            <a:off x="1485775" y="212137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27"/>
          <p:cNvSpPr/>
          <p:nvPr/>
        </p:nvSpPr>
        <p:spPr>
          <a:xfrm>
            <a:off x="1483200" y="236932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27"/>
          <p:cNvSpPr/>
          <p:nvPr/>
        </p:nvSpPr>
        <p:spPr>
          <a:xfrm>
            <a:off x="1483200" y="2671563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27"/>
          <p:cNvSpPr/>
          <p:nvPr/>
        </p:nvSpPr>
        <p:spPr>
          <a:xfrm>
            <a:off x="1485775" y="38402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27"/>
          <p:cNvSpPr/>
          <p:nvPr/>
        </p:nvSpPr>
        <p:spPr>
          <a:xfrm>
            <a:off x="1483200" y="24933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27"/>
          <p:cNvSpPr/>
          <p:nvPr/>
        </p:nvSpPr>
        <p:spPr>
          <a:xfrm>
            <a:off x="1483200" y="261727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27"/>
          <p:cNvSpPr txBox="1"/>
          <p:nvPr/>
        </p:nvSpPr>
        <p:spPr>
          <a:xfrm>
            <a:off x="416550" y="1195725"/>
            <a:ext cx="2502000" cy="1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   Label positive                         Label negative</a:t>
            </a:r>
            <a:endParaRPr sz="800"/>
          </a:p>
        </p:txBody>
      </p:sp>
      <p:sp>
        <p:nvSpPr>
          <p:cNvPr id="448" name="Google Shape;448;p27"/>
          <p:cNvSpPr txBox="1"/>
          <p:nvPr/>
        </p:nvSpPr>
        <p:spPr>
          <a:xfrm>
            <a:off x="462650" y="1569250"/>
            <a:ext cx="3321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0000"/>
                </a:solidFill>
              </a:rPr>
              <a:t>9</a:t>
            </a:r>
            <a:endParaRPr sz="3600">
              <a:solidFill>
                <a:srgbClr val="FF0000"/>
              </a:solidFill>
            </a:endParaRPr>
          </a:p>
        </p:txBody>
      </p:sp>
      <p:sp>
        <p:nvSpPr>
          <p:cNvPr id="449" name="Google Shape;449;p27"/>
          <p:cNvSpPr txBox="1"/>
          <p:nvPr/>
        </p:nvSpPr>
        <p:spPr>
          <a:xfrm>
            <a:off x="2520050" y="3526925"/>
            <a:ext cx="2961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8</a:t>
            </a:r>
            <a:endParaRPr sz="2400"/>
          </a:p>
        </p:txBody>
      </p:sp>
      <p:sp>
        <p:nvSpPr>
          <p:cNvPr id="450" name="Google Shape;450;p27"/>
          <p:cNvSpPr txBox="1"/>
          <p:nvPr/>
        </p:nvSpPr>
        <p:spPr>
          <a:xfrm>
            <a:off x="2520050" y="1569250"/>
            <a:ext cx="2961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2</a:t>
            </a:r>
            <a:endParaRPr sz="2400"/>
          </a:p>
        </p:txBody>
      </p:sp>
      <p:sp>
        <p:nvSpPr>
          <p:cNvPr id="451" name="Google Shape;451;p27"/>
          <p:cNvSpPr txBox="1"/>
          <p:nvPr/>
        </p:nvSpPr>
        <p:spPr>
          <a:xfrm>
            <a:off x="462650" y="3550450"/>
            <a:ext cx="2961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0000"/>
                </a:solidFill>
              </a:rPr>
              <a:t>1</a:t>
            </a:r>
            <a:endParaRPr sz="3600">
              <a:solidFill>
                <a:srgbClr val="FF0000"/>
              </a:solidFill>
            </a:endParaRPr>
          </a:p>
        </p:txBody>
      </p:sp>
      <p:sp>
        <p:nvSpPr>
          <p:cNvPr id="452" name="Google Shape;452;p27"/>
          <p:cNvSpPr txBox="1"/>
          <p:nvPr/>
        </p:nvSpPr>
        <p:spPr>
          <a:xfrm>
            <a:off x="73000" y="2647650"/>
            <a:ext cx="429600" cy="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Th=0.5</a:t>
            </a:r>
            <a:endParaRPr sz="600"/>
          </a:p>
        </p:txBody>
      </p:sp>
      <p:graphicFrame>
        <p:nvGraphicFramePr>
          <p:cNvPr id="453" name="Google Shape;453;p27"/>
          <p:cNvGraphicFramePr/>
          <p:nvPr/>
        </p:nvGraphicFramePr>
        <p:xfrm>
          <a:off x="322757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Th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0.5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54" name="Google Shape;454;p27"/>
          <p:cNvGraphicFramePr/>
          <p:nvPr/>
        </p:nvGraphicFramePr>
        <p:xfrm>
          <a:off x="3616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TP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9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55" name="Google Shape;455;p27"/>
          <p:cNvGraphicFramePr/>
          <p:nvPr/>
        </p:nvGraphicFramePr>
        <p:xfrm>
          <a:off x="3997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TN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8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56" name="Google Shape;456;p27"/>
          <p:cNvSpPr txBox="1"/>
          <p:nvPr/>
        </p:nvSpPr>
        <p:spPr>
          <a:xfrm rot="-5400000">
            <a:off x="-1031250" y="2719725"/>
            <a:ext cx="2502000" cy="1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  Predict Negative                      Predict Positive</a:t>
            </a:r>
            <a:endParaRPr sz="800"/>
          </a:p>
        </p:txBody>
      </p:sp>
      <p:graphicFrame>
        <p:nvGraphicFramePr>
          <p:cNvPr id="457" name="Google Shape;457;p27"/>
          <p:cNvGraphicFramePr/>
          <p:nvPr/>
        </p:nvGraphicFramePr>
        <p:xfrm>
          <a:off x="4378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FP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2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58" name="Google Shape;458;p27"/>
          <p:cNvGraphicFramePr/>
          <p:nvPr/>
        </p:nvGraphicFramePr>
        <p:xfrm>
          <a:off x="4759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FN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59" name="Google Shape;459;p27"/>
          <p:cNvGraphicFramePr/>
          <p:nvPr/>
        </p:nvGraphicFramePr>
        <p:xfrm>
          <a:off x="5140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Acc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.85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60" name="Google Shape;460;p27"/>
          <p:cNvGraphicFramePr/>
          <p:nvPr/>
        </p:nvGraphicFramePr>
        <p:xfrm>
          <a:off x="5521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Pr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.81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61" name="Google Shape;461;p27"/>
          <p:cNvGraphicFramePr/>
          <p:nvPr/>
        </p:nvGraphicFramePr>
        <p:xfrm>
          <a:off x="5902425" y="1482300"/>
          <a:ext cx="513825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51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Recall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</a:rPr>
                        <a:t>.9</a:t>
                      </a:r>
                      <a:endParaRPr sz="8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C287FD0-1272-AF4C-92E5-42AB74B49F0C}"/>
              </a:ext>
            </a:extLst>
          </p:cNvPr>
          <p:cNvSpPr txBox="1"/>
          <p:nvPr/>
        </p:nvSpPr>
        <p:spPr>
          <a:xfrm>
            <a:off x="3419000" y="2538693"/>
            <a:ext cx="46681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dirty="0"/>
              <a:t>Trivial 100% recall = pull everybody above the threshold.</a:t>
            </a:r>
          </a:p>
          <a:p>
            <a:pPr lvl="0"/>
            <a:r>
              <a:rPr lang="en-US" dirty="0"/>
              <a:t>Trivial 100% precision = push everybody below the threshold except 1 green on top.</a:t>
            </a:r>
          </a:p>
          <a:p>
            <a:pPr lvl="0"/>
            <a:r>
              <a:rPr lang="en-US" dirty="0"/>
              <a:t>(Hopefully no gray above it!)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910157-15D1-8648-9D28-A5B11B408D99}"/>
              </a:ext>
            </a:extLst>
          </p:cNvPr>
          <p:cNvSpPr txBox="1"/>
          <p:nvPr/>
        </p:nvSpPr>
        <p:spPr>
          <a:xfrm>
            <a:off x="3347879" y="3629238"/>
            <a:ext cx="5109091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dirty="0"/>
              <a:t>Striving for good precision with 100% recall = </a:t>
            </a:r>
          </a:p>
          <a:p>
            <a:pPr lvl="0"/>
            <a:r>
              <a:rPr lang="en-US" dirty="0"/>
              <a:t>pulling up the lowest green as high as possible in the ranking.</a:t>
            </a:r>
          </a:p>
          <a:p>
            <a:pPr lvl="0"/>
            <a:r>
              <a:rPr lang="en-US" dirty="0"/>
              <a:t>Striving for good recall with 100% precision = </a:t>
            </a:r>
          </a:p>
          <a:p>
            <a:pPr lvl="0"/>
            <a:r>
              <a:rPr lang="en-US" dirty="0"/>
              <a:t>pushing down the top gray as low as possible in the ranking.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8"/>
          <p:cNvSpPr/>
          <p:nvPr/>
        </p:nvSpPr>
        <p:spPr>
          <a:xfrm>
            <a:off x="416550" y="2777700"/>
            <a:ext cx="2502000" cy="13086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Point metrics: Negative Recall (Specificity)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28"/>
          <p:cNvSpPr/>
          <p:nvPr/>
        </p:nvSpPr>
        <p:spPr>
          <a:xfrm>
            <a:off x="416550" y="1482300"/>
            <a:ext cx="2502000" cy="13086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69" name="Google Shape;469;p28"/>
          <p:cNvCxnSpPr/>
          <p:nvPr/>
        </p:nvCxnSpPr>
        <p:spPr>
          <a:xfrm>
            <a:off x="1600675" y="1502700"/>
            <a:ext cx="4200" cy="2567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0" name="Google Shape;470;p28"/>
          <p:cNvSpPr/>
          <p:nvPr/>
        </p:nvSpPr>
        <p:spPr>
          <a:xfrm>
            <a:off x="1638175" y="17494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28"/>
          <p:cNvSpPr/>
          <p:nvPr/>
        </p:nvSpPr>
        <p:spPr>
          <a:xfrm>
            <a:off x="1635600" y="22453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28"/>
          <p:cNvSpPr/>
          <p:nvPr/>
        </p:nvSpPr>
        <p:spPr>
          <a:xfrm>
            <a:off x="1635600" y="28174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28"/>
          <p:cNvSpPr/>
          <p:nvPr/>
        </p:nvSpPr>
        <p:spPr>
          <a:xfrm>
            <a:off x="1638175" y="302037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28"/>
          <p:cNvSpPr/>
          <p:nvPr/>
        </p:nvSpPr>
        <p:spPr>
          <a:xfrm>
            <a:off x="1635600" y="32371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28"/>
          <p:cNvSpPr/>
          <p:nvPr/>
        </p:nvSpPr>
        <p:spPr>
          <a:xfrm>
            <a:off x="1635600" y="340250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28"/>
          <p:cNvSpPr/>
          <p:nvPr/>
        </p:nvSpPr>
        <p:spPr>
          <a:xfrm>
            <a:off x="1638175" y="351192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28"/>
          <p:cNvSpPr/>
          <p:nvPr/>
        </p:nvSpPr>
        <p:spPr>
          <a:xfrm>
            <a:off x="1635600" y="36213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28"/>
          <p:cNvSpPr/>
          <p:nvPr/>
        </p:nvSpPr>
        <p:spPr>
          <a:xfrm>
            <a:off x="1635600" y="374802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28"/>
          <p:cNvSpPr/>
          <p:nvPr/>
        </p:nvSpPr>
        <p:spPr>
          <a:xfrm>
            <a:off x="1635600" y="391757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28"/>
          <p:cNvSpPr/>
          <p:nvPr/>
        </p:nvSpPr>
        <p:spPr>
          <a:xfrm>
            <a:off x="1483200" y="153922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28"/>
          <p:cNvSpPr/>
          <p:nvPr/>
        </p:nvSpPr>
        <p:spPr>
          <a:xfrm>
            <a:off x="1483200" y="1644338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28"/>
          <p:cNvSpPr/>
          <p:nvPr/>
        </p:nvSpPr>
        <p:spPr>
          <a:xfrm>
            <a:off x="1485775" y="185455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28"/>
          <p:cNvSpPr/>
          <p:nvPr/>
        </p:nvSpPr>
        <p:spPr>
          <a:xfrm>
            <a:off x="1485775" y="19974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28"/>
          <p:cNvSpPr/>
          <p:nvPr/>
        </p:nvSpPr>
        <p:spPr>
          <a:xfrm>
            <a:off x="1485775" y="212137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28"/>
          <p:cNvSpPr/>
          <p:nvPr/>
        </p:nvSpPr>
        <p:spPr>
          <a:xfrm>
            <a:off x="1483200" y="236932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28"/>
          <p:cNvSpPr/>
          <p:nvPr/>
        </p:nvSpPr>
        <p:spPr>
          <a:xfrm>
            <a:off x="1483200" y="2671563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28"/>
          <p:cNvSpPr/>
          <p:nvPr/>
        </p:nvSpPr>
        <p:spPr>
          <a:xfrm>
            <a:off x="1485775" y="38402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28"/>
          <p:cNvSpPr/>
          <p:nvPr/>
        </p:nvSpPr>
        <p:spPr>
          <a:xfrm>
            <a:off x="1483200" y="24933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28"/>
          <p:cNvSpPr/>
          <p:nvPr/>
        </p:nvSpPr>
        <p:spPr>
          <a:xfrm>
            <a:off x="1483200" y="261727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28"/>
          <p:cNvSpPr txBox="1"/>
          <p:nvPr/>
        </p:nvSpPr>
        <p:spPr>
          <a:xfrm>
            <a:off x="416550" y="1195725"/>
            <a:ext cx="2502000" cy="1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   Label positive                         Label negative</a:t>
            </a:r>
            <a:endParaRPr sz="800"/>
          </a:p>
        </p:txBody>
      </p:sp>
      <p:sp>
        <p:nvSpPr>
          <p:cNvPr id="491" name="Google Shape;491;p28"/>
          <p:cNvSpPr txBox="1"/>
          <p:nvPr/>
        </p:nvSpPr>
        <p:spPr>
          <a:xfrm>
            <a:off x="462650" y="1569250"/>
            <a:ext cx="3321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9</a:t>
            </a:r>
            <a:endParaRPr sz="2400"/>
          </a:p>
        </p:txBody>
      </p:sp>
      <p:sp>
        <p:nvSpPr>
          <p:cNvPr id="492" name="Google Shape;492;p28"/>
          <p:cNvSpPr txBox="1"/>
          <p:nvPr/>
        </p:nvSpPr>
        <p:spPr>
          <a:xfrm>
            <a:off x="2520050" y="3526925"/>
            <a:ext cx="2961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0000"/>
                </a:solidFill>
              </a:rPr>
              <a:t>8</a:t>
            </a:r>
            <a:endParaRPr sz="3600">
              <a:solidFill>
                <a:srgbClr val="FF0000"/>
              </a:solidFill>
            </a:endParaRPr>
          </a:p>
        </p:txBody>
      </p:sp>
      <p:sp>
        <p:nvSpPr>
          <p:cNvPr id="493" name="Google Shape;493;p28"/>
          <p:cNvSpPr txBox="1"/>
          <p:nvPr/>
        </p:nvSpPr>
        <p:spPr>
          <a:xfrm>
            <a:off x="2520050" y="1569250"/>
            <a:ext cx="2961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0000"/>
                </a:solidFill>
              </a:rPr>
              <a:t>2</a:t>
            </a:r>
            <a:endParaRPr sz="3600">
              <a:solidFill>
                <a:srgbClr val="FF0000"/>
              </a:solidFill>
            </a:endParaRPr>
          </a:p>
        </p:txBody>
      </p:sp>
      <p:sp>
        <p:nvSpPr>
          <p:cNvPr id="494" name="Google Shape;494;p28"/>
          <p:cNvSpPr txBox="1"/>
          <p:nvPr/>
        </p:nvSpPr>
        <p:spPr>
          <a:xfrm>
            <a:off x="462650" y="3550450"/>
            <a:ext cx="2961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1</a:t>
            </a:r>
            <a:endParaRPr sz="2400"/>
          </a:p>
        </p:txBody>
      </p:sp>
      <p:sp>
        <p:nvSpPr>
          <p:cNvPr id="495" name="Google Shape;495;p28"/>
          <p:cNvSpPr txBox="1"/>
          <p:nvPr/>
        </p:nvSpPr>
        <p:spPr>
          <a:xfrm>
            <a:off x="73000" y="2647650"/>
            <a:ext cx="429600" cy="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Th=0.5</a:t>
            </a:r>
            <a:endParaRPr sz="600"/>
          </a:p>
        </p:txBody>
      </p:sp>
      <p:graphicFrame>
        <p:nvGraphicFramePr>
          <p:cNvPr id="496" name="Google Shape;496;p28"/>
          <p:cNvGraphicFramePr/>
          <p:nvPr/>
        </p:nvGraphicFramePr>
        <p:xfrm>
          <a:off x="322757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Th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0.5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97" name="Google Shape;497;p28"/>
          <p:cNvGraphicFramePr/>
          <p:nvPr/>
        </p:nvGraphicFramePr>
        <p:xfrm>
          <a:off x="3616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TP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9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98" name="Google Shape;498;p28"/>
          <p:cNvGraphicFramePr/>
          <p:nvPr/>
        </p:nvGraphicFramePr>
        <p:xfrm>
          <a:off x="3997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TN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8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99" name="Google Shape;499;p28"/>
          <p:cNvSpPr txBox="1"/>
          <p:nvPr/>
        </p:nvSpPr>
        <p:spPr>
          <a:xfrm rot="-5400000">
            <a:off x="-1031250" y="2719725"/>
            <a:ext cx="2502000" cy="1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  Predict Negative                      Predict Positive</a:t>
            </a:r>
            <a:endParaRPr sz="800"/>
          </a:p>
        </p:txBody>
      </p:sp>
      <p:graphicFrame>
        <p:nvGraphicFramePr>
          <p:cNvPr id="500" name="Google Shape;500;p28"/>
          <p:cNvGraphicFramePr/>
          <p:nvPr/>
        </p:nvGraphicFramePr>
        <p:xfrm>
          <a:off x="4378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FP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2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01" name="Google Shape;501;p28"/>
          <p:cNvGraphicFramePr/>
          <p:nvPr/>
        </p:nvGraphicFramePr>
        <p:xfrm>
          <a:off x="4759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FN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02" name="Google Shape;502;p28"/>
          <p:cNvGraphicFramePr/>
          <p:nvPr/>
        </p:nvGraphicFramePr>
        <p:xfrm>
          <a:off x="5140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Acc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.85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03" name="Google Shape;503;p28"/>
          <p:cNvGraphicFramePr/>
          <p:nvPr/>
        </p:nvGraphicFramePr>
        <p:xfrm>
          <a:off x="5521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Pr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.81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04" name="Google Shape;504;p28"/>
          <p:cNvGraphicFramePr/>
          <p:nvPr/>
        </p:nvGraphicFramePr>
        <p:xfrm>
          <a:off x="5902425" y="1482300"/>
          <a:ext cx="513825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51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Recall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.9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05" name="Google Shape;505;p28"/>
          <p:cNvGraphicFramePr/>
          <p:nvPr/>
        </p:nvGraphicFramePr>
        <p:xfrm>
          <a:off x="6416250" y="1482300"/>
          <a:ext cx="432275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432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Spec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</a:rPr>
                        <a:t>0.8</a:t>
                      </a:r>
                      <a:endParaRPr sz="8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29"/>
          <p:cNvSpPr/>
          <p:nvPr/>
        </p:nvSpPr>
        <p:spPr>
          <a:xfrm>
            <a:off x="416550" y="2777700"/>
            <a:ext cx="2502000" cy="13086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Point metrics: F1-score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12" name="Google Shape;512;p29"/>
          <p:cNvSpPr/>
          <p:nvPr/>
        </p:nvSpPr>
        <p:spPr>
          <a:xfrm>
            <a:off x="416550" y="1482300"/>
            <a:ext cx="2502000" cy="13086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13" name="Google Shape;513;p29"/>
          <p:cNvCxnSpPr/>
          <p:nvPr/>
        </p:nvCxnSpPr>
        <p:spPr>
          <a:xfrm>
            <a:off x="1600675" y="1502700"/>
            <a:ext cx="4200" cy="2567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14" name="Google Shape;514;p29"/>
          <p:cNvSpPr/>
          <p:nvPr/>
        </p:nvSpPr>
        <p:spPr>
          <a:xfrm>
            <a:off x="1638175" y="17494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29"/>
          <p:cNvSpPr/>
          <p:nvPr/>
        </p:nvSpPr>
        <p:spPr>
          <a:xfrm>
            <a:off x="1635600" y="22453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29"/>
          <p:cNvSpPr/>
          <p:nvPr/>
        </p:nvSpPr>
        <p:spPr>
          <a:xfrm>
            <a:off x="1635600" y="28174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29"/>
          <p:cNvSpPr/>
          <p:nvPr/>
        </p:nvSpPr>
        <p:spPr>
          <a:xfrm>
            <a:off x="1638175" y="302037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29"/>
          <p:cNvSpPr/>
          <p:nvPr/>
        </p:nvSpPr>
        <p:spPr>
          <a:xfrm>
            <a:off x="1635600" y="32371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29"/>
          <p:cNvSpPr/>
          <p:nvPr/>
        </p:nvSpPr>
        <p:spPr>
          <a:xfrm>
            <a:off x="1635600" y="340250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29"/>
          <p:cNvSpPr/>
          <p:nvPr/>
        </p:nvSpPr>
        <p:spPr>
          <a:xfrm>
            <a:off x="1638175" y="351192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29"/>
          <p:cNvSpPr/>
          <p:nvPr/>
        </p:nvSpPr>
        <p:spPr>
          <a:xfrm>
            <a:off x="1635600" y="36213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29"/>
          <p:cNvSpPr/>
          <p:nvPr/>
        </p:nvSpPr>
        <p:spPr>
          <a:xfrm>
            <a:off x="1635600" y="374802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29"/>
          <p:cNvSpPr/>
          <p:nvPr/>
        </p:nvSpPr>
        <p:spPr>
          <a:xfrm>
            <a:off x="1635600" y="391757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29"/>
          <p:cNvSpPr/>
          <p:nvPr/>
        </p:nvSpPr>
        <p:spPr>
          <a:xfrm>
            <a:off x="1483200" y="153922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29"/>
          <p:cNvSpPr/>
          <p:nvPr/>
        </p:nvSpPr>
        <p:spPr>
          <a:xfrm>
            <a:off x="1483200" y="1644338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29"/>
          <p:cNvSpPr/>
          <p:nvPr/>
        </p:nvSpPr>
        <p:spPr>
          <a:xfrm>
            <a:off x="1485775" y="185455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29"/>
          <p:cNvSpPr/>
          <p:nvPr/>
        </p:nvSpPr>
        <p:spPr>
          <a:xfrm>
            <a:off x="1485775" y="19974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29"/>
          <p:cNvSpPr/>
          <p:nvPr/>
        </p:nvSpPr>
        <p:spPr>
          <a:xfrm>
            <a:off x="1485775" y="212137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29"/>
          <p:cNvSpPr/>
          <p:nvPr/>
        </p:nvSpPr>
        <p:spPr>
          <a:xfrm>
            <a:off x="1483200" y="236932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29"/>
          <p:cNvSpPr/>
          <p:nvPr/>
        </p:nvSpPr>
        <p:spPr>
          <a:xfrm>
            <a:off x="1483200" y="2671563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29"/>
          <p:cNvSpPr/>
          <p:nvPr/>
        </p:nvSpPr>
        <p:spPr>
          <a:xfrm>
            <a:off x="1485775" y="38402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29"/>
          <p:cNvSpPr/>
          <p:nvPr/>
        </p:nvSpPr>
        <p:spPr>
          <a:xfrm>
            <a:off x="1483200" y="24933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29"/>
          <p:cNvSpPr/>
          <p:nvPr/>
        </p:nvSpPr>
        <p:spPr>
          <a:xfrm>
            <a:off x="1483200" y="261727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29"/>
          <p:cNvSpPr txBox="1"/>
          <p:nvPr/>
        </p:nvSpPr>
        <p:spPr>
          <a:xfrm>
            <a:off x="416550" y="1195725"/>
            <a:ext cx="2502000" cy="1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   Label positive                         Label negative</a:t>
            </a:r>
            <a:endParaRPr sz="800"/>
          </a:p>
        </p:txBody>
      </p:sp>
      <p:sp>
        <p:nvSpPr>
          <p:cNvPr id="535" name="Google Shape;535;p29"/>
          <p:cNvSpPr txBox="1"/>
          <p:nvPr/>
        </p:nvSpPr>
        <p:spPr>
          <a:xfrm>
            <a:off x="462650" y="1569250"/>
            <a:ext cx="3321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9</a:t>
            </a:r>
            <a:endParaRPr sz="2400"/>
          </a:p>
        </p:txBody>
      </p:sp>
      <p:sp>
        <p:nvSpPr>
          <p:cNvPr id="536" name="Google Shape;536;p29"/>
          <p:cNvSpPr txBox="1"/>
          <p:nvPr/>
        </p:nvSpPr>
        <p:spPr>
          <a:xfrm>
            <a:off x="2520050" y="3526925"/>
            <a:ext cx="2961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8</a:t>
            </a:r>
            <a:endParaRPr sz="2400"/>
          </a:p>
        </p:txBody>
      </p:sp>
      <p:sp>
        <p:nvSpPr>
          <p:cNvPr id="537" name="Google Shape;537;p29"/>
          <p:cNvSpPr txBox="1"/>
          <p:nvPr/>
        </p:nvSpPr>
        <p:spPr>
          <a:xfrm>
            <a:off x="2520050" y="1569250"/>
            <a:ext cx="2961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2</a:t>
            </a:r>
            <a:endParaRPr sz="2400"/>
          </a:p>
        </p:txBody>
      </p:sp>
      <p:sp>
        <p:nvSpPr>
          <p:cNvPr id="538" name="Google Shape;538;p29"/>
          <p:cNvSpPr txBox="1"/>
          <p:nvPr/>
        </p:nvSpPr>
        <p:spPr>
          <a:xfrm>
            <a:off x="462650" y="3550450"/>
            <a:ext cx="2961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1</a:t>
            </a:r>
            <a:endParaRPr sz="2400"/>
          </a:p>
        </p:txBody>
      </p:sp>
      <p:sp>
        <p:nvSpPr>
          <p:cNvPr id="539" name="Google Shape;539;p29"/>
          <p:cNvSpPr txBox="1"/>
          <p:nvPr/>
        </p:nvSpPr>
        <p:spPr>
          <a:xfrm>
            <a:off x="73000" y="2647650"/>
            <a:ext cx="429600" cy="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Th=0.5</a:t>
            </a:r>
            <a:endParaRPr sz="600"/>
          </a:p>
        </p:txBody>
      </p:sp>
      <p:graphicFrame>
        <p:nvGraphicFramePr>
          <p:cNvPr id="540" name="Google Shape;540;p29"/>
          <p:cNvGraphicFramePr/>
          <p:nvPr/>
        </p:nvGraphicFramePr>
        <p:xfrm>
          <a:off x="322757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Th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0.5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41" name="Google Shape;541;p29"/>
          <p:cNvGraphicFramePr/>
          <p:nvPr/>
        </p:nvGraphicFramePr>
        <p:xfrm>
          <a:off x="3616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TP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9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42" name="Google Shape;542;p29"/>
          <p:cNvGraphicFramePr/>
          <p:nvPr/>
        </p:nvGraphicFramePr>
        <p:xfrm>
          <a:off x="3997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TN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8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43" name="Google Shape;543;p29"/>
          <p:cNvSpPr txBox="1"/>
          <p:nvPr/>
        </p:nvSpPr>
        <p:spPr>
          <a:xfrm rot="-5400000">
            <a:off x="-1031250" y="2719725"/>
            <a:ext cx="2502000" cy="1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  Predict Negative                      Predict Positive</a:t>
            </a:r>
            <a:endParaRPr sz="800"/>
          </a:p>
        </p:txBody>
      </p:sp>
      <p:graphicFrame>
        <p:nvGraphicFramePr>
          <p:cNvPr id="544" name="Google Shape;544;p29"/>
          <p:cNvGraphicFramePr/>
          <p:nvPr/>
        </p:nvGraphicFramePr>
        <p:xfrm>
          <a:off x="4378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FP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2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45" name="Google Shape;545;p29"/>
          <p:cNvGraphicFramePr/>
          <p:nvPr/>
        </p:nvGraphicFramePr>
        <p:xfrm>
          <a:off x="4759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FN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46" name="Google Shape;546;p29"/>
          <p:cNvGraphicFramePr/>
          <p:nvPr/>
        </p:nvGraphicFramePr>
        <p:xfrm>
          <a:off x="5140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Acc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.85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47" name="Google Shape;547;p29"/>
          <p:cNvGraphicFramePr/>
          <p:nvPr/>
        </p:nvGraphicFramePr>
        <p:xfrm>
          <a:off x="5521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Pr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</a:rPr>
                        <a:t>.81</a:t>
                      </a:r>
                      <a:endParaRPr sz="8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48" name="Google Shape;548;p29"/>
          <p:cNvGraphicFramePr/>
          <p:nvPr/>
        </p:nvGraphicFramePr>
        <p:xfrm>
          <a:off x="5902425" y="1482300"/>
          <a:ext cx="513825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51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Recall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</a:rPr>
                        <a:t>.9</a:t>
                      </a:r>
                      <a:endParaRPr sz="8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49" name="Google Shape;549;p29"/>
          <p:cNvGraphicFramePr/>
          <p:nvPr/>
        </p:nvGraphicFramePr>
        <p:xfrm>
          <a:off x="6416250" y="1482300"/>
          <a:ext cx="432275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432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Spec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.8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50" name="Google Shape;550;p29"/>
          <p:cNvGraphicFramePr/>
          <p:nvPr/>
        </p:nvGraphicFramePr>
        <p:xfrm>
          <a:off x="6848525" y="1482300"/>
          <a:ext cx="408625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408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F1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</a:rPr>
                        <a:t>.857</a:t>
                      </a:r>
                      <a:endParaRPr sz="8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" name="Picture 3" descr="A picture containing table&#10;&#10;Description automatically generated">
            <a:extLst>
              <a:ext uri="{FF2B5EF4-FFF2-40B4-BE49-F238E27FC236}">
                <a16:creationId xmlns:a16="http://schemas.microsoft.com/office/drawing/2014/main" id="{71E20770-9A32-E549-9A06-E95FF156B4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4550" y="2882950"/>
            <a:ext cx="5422900" cy="889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0"/>
          <p:cNvSpPr/>
          <p:nvPr/>
        </p:nvSpPr>
        <p:spPr>
          <a:xfrm>
            <a:off x="416550" y="2617275"/>
            <a:ext cx="2502000" cy="14691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Point metrics: Changing threshold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30"/>
          <p:cNvSpPr/>
          <p:nvPr/>
        </p:nvSpPr>
        <p:spPr>
          <a:xfrm>
            <a:off x="416550" y="1482300"/>
            <a:ext cx="2502000" cy="11349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58" name="Google Shape;558;p30"/>
          <p:cNvCxnSpPr/>
          <p:nvPr/>
        </p:nvCxnSpPr>
        <p:spPr>
          <a:xfrm>
            <a:off x="1600675" y="1502700"/>
            <a:ext cx="4200" cy="2567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9" name="Google Shape;559;p30"/>
          <p:cNvSpPr/>
          <p:nvPr/>
        </p:nvSpPr>
        <p:spPr>
          <a:xfrm>
            <a:off x="1638175" y="17494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30"/>
          <p:cNvSpPr/>
          <p:nvPr/>
        </p:nvSpPr>
        <p:spPr>
          <a:xfrm>
            <a:off x="1635600" y="22453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30"/>
          <p:cNvSpPr/>
          <p:nvPr/>
        </p:nvSpPr>
        <p:spPr>
          <a:xfrm>
            <a:off x="1635600" y="28174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30"/>
          <p:cNvSpPr/>
          <p:nvPr/>
        </p:nvSpPr>
        <p:spPr>
          <a:xfrm>
            <a:off x="1638175" y="302037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30"/>
          <p:cNvSpPr/>
          <p:nvPr/>
        </p:nvSpPr>
        <p:spPr>
          <a:xfrm>
            <a:off x="1635600" y="32371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30"/>
          <p:cNvSpPr/>
          <p:nvPr/>
        </p:nvSpPr>
        <p:spPr>
          <a:xfrm>
            <a:off x="1635600" y="340250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30"/>
          <p:cNvSpPr/>
          <p:nvPr/>
        </p:nvSpPr>
        <p:spPr>
          <a:xfrm>
            <a:off x="1638175" y="351192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30"/>
          <p:cNvSpPr/>
          <p:nvPr/>
        </p:nvSpPr>
        <p:spPr>
          <a:xfrm>
            <a:off x="1635600" y="36213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30"/>
          <p:cNvSpPr/>
          <p:nvPr/>
        </p:nvSpPr>
        <p:spPr>
          <a:xfrm>
            <a:off x="1635600" y="374802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30"/>
          <p:cNvSpPr/>
          <p:nvPr/>
        </p:nvSpPr>
        <p:spPr>
          <a:xfrm>
            <a:off x="1635600" y="391757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30"/>
          <p:cNvSpPr/>
          <p:nvPr/>
        </p:nvSpPr>
        <p:spPr>
          <a:xfrm>
            <a:off x="1483200" y="153922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30"/>
          <p:cNvSpPr/>
          <p:nvPr/>
        </p:nvSpPr>
        <p:spPr>
          <a:xfrm>
            <a:off x="1483200" y="1644338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30"/>
          <p:cNvSpPr/>
          <p:nvPr/>
        </p:nvSpPr>
        <p:spPr>
          <a:xfrm>
            <a:off x="1485775" y="185455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p30"/>
          <p:cNvSpPr/>
          <p:nvPr/>
        </p:nvSpPr>
        <p:spPr>
          <a:xfrm>
            <a:off x="1485775" y="19974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30"/>
          <p:cNvSpPr/>
          <p:nvPr/>
        </p:nvSpPr>
        <p:spPr>
          <a:xfrm>
            <a:off x="1485775" y="212137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30"/>
          <p:cNvSpPr/>
          <p:nvPr/>
        </p:nvSpPr>
        <p:spPr>
          <a:xfrm>
            <a:off x="1483200" y="236932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30"/>
          <p:cNvSpPr/>
          <p:nvPr/>
        </p:nvSpPr>
        <p:spPr>
          <a:xfrm>
            <a:off x="1483200" y="2671563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30"/>
          <p:cNvSpPr/>
          <p:nvPr/>
        </p:nvSpPr>
        <p:spPr>
          <a:xfrm>
            <a:off x="1485775" y="38402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30"/>
          <p:cNvSpPr/>
          <p:nvPr/>
        </p:nvSpPr>
        <p:spPr>
          <a:xfrm>
            <a:off x="1483200" y="24933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30"/>
          <p:cNvSpPr/>
          <p:nvPr/>
        </p:nvSpPr>
        <p:spPr>
          <a:xfrm>
            <a:off x="1483200" y="261727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30"/>
          <p:cNvSpPr txBox="1"/>
          <p:nvPr/>
        </p:nvSpPr>
        <p:spPr>
          <a:xfrm>
            <a:off x="416550" y="1195725"/>
            <a:ext cx="2502000" cy="1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   Label positive                         Label negative</a:t>
            </a:r>
            <a:endParaRPr sz="800"/>
          </a:p>
        </p:txBody>
      </p:sp>
      <p:sp>
        <p:nvSpPr>
          <p:cNvPr id="580" name="Google Shape;580;p30"/>
          <p:cNvSpPr txBox="1"/>
          <p:nvPr/>
        </p:nvSpPr>
        <p:spPr>
          <a:xfrm>
            <a:off x="462650" y="1569250"/>
            <a:ext cx="3321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0000"/>
                </a:solidFill>
              </a:rPr>
              <a:t>7</a:t>
            </a:r>
            <a:endParaRPr sz="2400">
              <a:solidFill>
                <a:srgbClr val="FF0000"/>
              </a:solidFill>
            </a:endParaRPr>
          </a:p>
        </p:txBody>
      </p:sp>
      <p:sp>
        <p:nvSpPr>
          <p:cNvPr id="581" name="Google Shape;581;p30"/>
          <p:cNvSpPr txBox="1"/>
          <p:nvPr/>
        </p:nvSpPr>
        <p:spPr>
          <a:xfrm>
            <a:off x="2520050" y="3526925"/>
            <a:ext cx="2961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8</a:t>
            </a:r>
            <a:endParaRPr sz="2400"/>
          </a:p>
        </p:txBody>
      </p:sp>
      <p:sp>
        <p:nvSpPr>
          <p:cNvPr id="582" name="Google Shape;582;p30"/>
          <p:cNvSpPr txBox="1"/>
          <p:nvPr/>
        </p:nvSpPr>
        <p:spPr>
          <a:xfrm>
            <a:off x="2520050" y="1569250"/>
            <a:ext cx="2961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2</a:t>
            </a:r>
            <a:endParaRPr sz="2400"/>
          </a:p>
        </p:txBody>
      </p:sp>
      <p:sp>
        <p:nvSpPr>
          <p:cNvPr id="583" name="Google Shape;583;p30"/>
          <p:cNvSpPr txBox="1"/>
          <p:nvPr/>
        </p:nvSpPr>
        <p:spPr>
          <a:xfrm>
            <a:off x="462650" y="3550450"/>
            <a:ext cx="2961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0000"/>
                </a:solidFill>
              </a:rPr>
              <a:t>3</a:t>
            </a:r>
            <a:endParaRPr sz="2400">
              <a:solidFill>
                <a:srgbClr val="FF0000"/>
              </a:solidFill>
            </a:endParaRPr>
          </a:p>
        </p:txBody>
      </p:sp>
      <p:sp>
        <p:nvSpPr>
          <p:cNvPr id="584" name="Google Shape;584;p30"/>
          <p:cNvSpPr txBox="1"/>
          <p:nvPr/>
        </p:nvSpPr>
        <p:spPr>
          <a:xfrm>
            <a:off x="73000" y="2495250"/>
            <a:ext cx="429600" cy="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0000"/>
                </a:solidFill>
              </a:rPr>
              <a:t>Th=0.6</a:t>
            </a:r>
            <a:endParaRPr sz="600">
              <a:solidFill>
                <a:srgbClr val="FF0000"/>
              </a:solidFill>
            </a:endParaRPr>
          </a:p>
        </p:txBody>
      </p:sp>
      <p:graphicFrame>
        <p:nvGraphicFramePr>
          <p:cNvPr id="585" name="Google Shape;585;p30"/>
          <p:cNvGraphicFramePr/>
          <p:nvPr/>
        </p:nvGraphicFramePr>
        <p:xfrm>
          <a:off x="322757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Th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</a:rPr>
                        <a:t>0.6</a:t>
                      </a:r>
                      <a:endParaRPr sz="8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86" name="Google Shape;586;p30"/>
          <p:cNvGraphicFramePr/>
          <p:nvPr/>
        </p:nvGraphicFramePr>
        <p:xfrm>
          <a:off x="3616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TP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</a:rPr>
                        <a:t>7</a:t>
                      </a:r>
                      <a:endParaRPr sz="8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87" name="Google Shape;587;p30"/>
          <p:cNvGraphicFramePr/>
          <p:nvPr/>
        </p:nvGraphicFramePr>
        <p:xfrm>
          <a:off x="3997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TN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8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88" name="Google Shape;588;p30"/>
          <p:cNvSpPr txBox="1"/>
          <p:nvPr/>
        </p:nvSpPr>
        <p:spPr>
          <a:xfrm rot="-5400000">
            <a:off x="-1031250" y="2719725"/>
            <a:ext cx="2502000" cy="1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  Predict Negative                      Predict Positive</a:t>
            </a:r>
            <a:endParaRPr sz="800"/>
          </a:p>
        </p:txBody>
      </p:sp>
      <p:graphicFrame>
        <p:nvGraphicFramePr>
          <p:cNvPr id="589" name="Google Shape;589;p30"/>
          <p:cNvGraphicFramePr/>
          <p:nvPr/>
        </p:nvGraphicFramePr>
        <p:xfrm>
          <a:off x="4378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FP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2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90" name="Google Shape;590;p30"/>
          <p:cNvGraphicFramePr/>
          <p:nvPr/>
        </p:nvGraphicFramePr>
        <p:xfrm>
          <a:off x="4759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FN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</a:rPr>
                        <a:t>3</a:t>
                      </a:r>
                      <a:endParaRPr sz="8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91" name="Google Shape;591;p30"/>
          <p:cNvGraphicFramePr/>
          <p:nvPr/>
        </p:nvGraphicFramePr>
        <p:xfrm>
          <a:off x="5140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Acc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</a:rPr>
                        <a:t>.75</a:t>
                      </a:r>
                      <a:endParaRPr sz="8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92" name="Google Shape;592;p30"/>
          <p:cNvGraphicFramePr/>
          <p:nvPr/>
        </p:nvGraphicFramePr>
        <p:xfrm>
          <a:off x="5521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Pr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</a:rPr>
                        <a:t>.77</a:t>
                      </a:r>
                      <a:endParaRPr sz="8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93" name="Google Shape;593;p30"/>
          <p:cNvGraphicFramePr/>
          <p:nvPr/>
        </p:nvGraphicFramePr>
        <p:xfrm>
          <a:off x="5902425" y="1482300"/>
          <a:ext cx="513825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51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Recall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</a:rPr>
                        <a:t>.7</a:t>
                      </a:r>
                      <a:endParaRPr sz="8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94" name="Google Shape;594;p30"/>
          <p:cNvGraphicFramePr/>
          <p:nvPr/>
        </p:nvGraphicFramePr>
        <p:xfrm>
          <a:off x="6416250" y="1482300"/>
          <a:ext cx="432275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432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Spec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.8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95" name="Google Shape;595;p30"/>
          <p:cNvGraphicFramePr/>
          <p:nvPr/>
        </p:nvGraphicFramePr>
        <p:xfrm>
          <a:off x="6848525" y="1482300"/>
          <a:ext cx="408625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408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F1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</a:rPr>
                        <a:t>.733</a:t>
                      </a:r>
                      <a:endParaRPr sz="8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2574B25-E2F7-C74C-BC79-0C5D665FEE07}"/>
              </a:ext>
            </a:extLst>
          </p:cNvPr>
          <p:cNvSpPr txBox="1"/>
          <p:nvPr/>
        </p:nvSpPr>
        <p:spPr>
          <a:xfrm>
            <a:off x="3610424" y="2907750"/>
            <a:ext cx="4717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sz="2000" dirty="0"/>
              <a:t># effective thresholds = # examples + 1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0" name="Google Shape;600;p31"/>
          <p:cNvGraphicFramePr/>
          <p:nvPr/>
        </p:nvGraphicFramePr>
        <p:xfrm>
          <a:off x="3930425" y="345625"/>
          <a:ext cx="4915150" cy="4472600"/>
        </p:xfrm>
        <a:graphic>
          <a:graphicData uri="http://schemas.openxmlformats.org/drawingml/2006/table">
            <a:tbl>
              <a:tblPr>
                <a:noFill/>
                <a:tableStyleId>{1ED29479-DD0C-4F4D-A4C7-1C1E6F131166}</a:tableStyleId>
              </a:tblPr>
              <a:tblGrid>
                <a:gridCol w="694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9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40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1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52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5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95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033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Threshold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TP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TN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FP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FN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Accuracy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Precision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Recall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Specificity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F1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3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1.00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3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0.182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3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0.60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0.333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3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0.85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0.667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0.308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33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0.80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0.60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0.750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0.3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0.429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33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0.65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0.800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0.4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0.533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33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0.833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0.625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33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0.65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0.65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0.714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0.8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0.588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33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0.60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0.750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0.6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0.8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0.667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33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0.778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0.8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0.737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33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0.80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0.800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0.8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0.8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0.800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33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0.45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0.85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0.818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0.8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0.857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33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0.40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0.80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0.750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0.818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33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0.35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0.692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0.6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0.783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33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0.30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0.643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0.750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33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0.65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0.600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0.4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0.720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33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0.60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0.562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0.3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0.692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33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0.529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0.667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33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0.500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0.643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33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0.526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0.690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033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0.500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0.667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5696C4DF-1131-F248-8D99-80AEFE439455}"/>
              </a:ext>
            </a:extLst>
          </p:cNvPr>
          <p:cNvGrpSpPr/>
          <p:nvPr/>
        </p:nvGrpSpPr>
        <p:grpSpPr>
          <a:xfrm>
            <a:off x="370607" y="503959"/>
            <a:ext cx="3091050" cy="4522481"/>
            <a:chOff x="490500" y="1271925"/>
            <a:chExt cx="1956750" cy="2862900"/>
          </a:xfrm>
        </p:grpSpPr>
        <p:cxnSp>
          <p:nvCxnSpPr>
            <p:cNvPr id="601" name="Google Shape;601;p31"/>
            <p:cNvCxnSpPr/>
            <p:nvPr/>
          </p:nvCxnSpPr>
          <p:spPr>
            <a:xfrm>
              <a:off x="1600675" y="1502700"/>
              <a:ext cx="4200" cy="256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02" name="Google Shape;602;p31"/>
            <p:cNvSpPr/>
            <p:nvPr/>
          </p:nvSpPr>
          <p:spPr>
            <a:xfrm>
              <a:off x="1561975" y="1749450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1"/>
            <p:cNvSpPr/>
            <p:nvPr/>
          </p:nvSpPr>
          <p:spPr>
            <a:xfrm>
              <a:off x="1559400" y="2245350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1"/>
            <p:cNvSpPr/>
            <p:nvPr/>
          </p:nvSpPr>
          <p:spPr>
            <a:xfrm>
              <a:off x="1559400" y="2817450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1"/>
            <p:cNvSpPr/>
            <p:nvPr/>
          </p:nvSpPr>
          <p:spPr>
            <a:xfrm>
              <a:off x="1561975" y="3020375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1"/>
            <p:cNvSpPr/>
            <p:nvPr/>
          </p:nvSpPr>
          <p:spPr>
            <a:xfrm>
              <a:off x="1559400" y="3237150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1"/>
            <p:cNvSpPr/>
            <p:nvPr/>
          </p:nvSpPr>
          <p:spPr>
            <a:xfrm>
              <a:off x="1559400" y="3402500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1"/>
            <p:cNvSpPr/>
            <p:nvPr/>
          </p:nvSpPr>
          <p:spPr>
            <a:xfrm>
              <a:off x="1561975" y="3511925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1"/>
            <p:cNvSpPr/>
            <p:nvPr/>
          </p:nvSpPr>
          <p:spPr>
            <a:xfrm>
              <a:off x="1559400" y="3621350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1"/>
            <p:cNvSpPr/>
            <p:nvPr/>
          </p:nvSpPr>
          <p:spPr>
            <a:xfrm>
              <a:off x="1559400" y="3748025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1"/>
            <p:cNvSpPr/>
            <p:nvPr/>
          </p:nvSpPr>
          <p:spPr>
            <a:xfrm>
              <a:off x="1559400" y="3917575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1"/>
            <p:cNvSpPr/>
            <p:nvPr/>
          </p:nvSpPr>
          <p:spPr>
            <a:xfrm>
              <a:off x="1559400" y="1539225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1"/>
            <p:cNvSpPr/>
            <p:nvPr/>
          </p:nvSpPr>
          <p:spPr>
            <a:xfrm>
              <a:off x="1559400" y="1644338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1"/>
            <p:cNvSpPr/>
            <p:nvPr/>
          </p:nvSpPr>
          <p:spPr>
            <a:xfrm>
              <a:off x="1561975" y="1854550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31"/>
            <p:cNvSpPr/>
            <p:nvPr/>
          </p:nvSpPr>
          <p:spPr>
            <a:xfrm>
              <a:off x="1561975" y="1997400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31"/>
            <p:cNvSpPr/>
            <p:nvPr/>
          </p:nvSpPr>
          <p:spPr>
            <a:xfrm>
              <a:off x="1561975" y="2121375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31"/>
            <p:cNvSpPr/>
            <p:nvPr/>
          </p:nvSpPr>
          <p:spPr>
            <a:xfrm>
              <a:off x="1559400" y="2369325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1"/>
            <p:cNvSpPr/>
            <p:nvPr/>
          </p:nvSpPr>
          <p:spPr>
            <a:xfrm>
              <a:off x="1559400" y="2671563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1"/>
            <p:cNvSpPr/>
            <p:nvPr/>
          </p:nvSpPr>
          <p:spPr>
            <a:xfrm>
              <a:off x="1561975" y="3840200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1"/>
            <p:cNvSpPr/>
            <p:nvPr/>
          </p:nvSpPr>
          <p:spPr>
            <a:xfrm>
              <a:off x="1559400" y="2493300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1"/>
            <p:cNvSpPr/>
            <p:nvPr/>
          </p:nvSpPr>
          <p:spPr>
            <a:xfrm>
              <a:off x="1559400" y="2617275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1"/>
            <p:cNvSpPr txBox="1"/>
            <p:nvPr/>
          </p:nvSpPr>
          <p:spPr>
            <a:xfrm>
              <a:off x="1275150" y="1271925"/>
              <a:ext cx="1172100" cy="11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Score = 1</a:t>
              </a:r>
              <a:endParaRPr sz="800"/>
            </a:p>
          </p:txBody>
        </p:sp>
        <p:sp>
          <p:nvSpPr>
            <p:cNvPr id="623" name="Google Shape;623;p31"/>
            <p:cNvSpPr txBox="1"/>
            <p:nvPr/>
          </p:nvSpPr>
          <p:spPr>
            <a:xfrm>
              <a:off x="1275150" y="4015125"/>
              <a:ext cx="1172100" cy="11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Score = 0</a:t>
              </a:r>
              <a:endParaRPr sz="800"/>
            </a:p>
          </p:txBody>
        </p:sp>
        <p:cxnSp>
          <p:nvCxnSpPr>
            <p:cNvPr id="624" name="Google Shape;624;p31"/>
            <p:cNvCxnSpPr/>
            <p:nvPr/>
          </p:nvCxnSpPr>
          <p:spPr>
            <a:xfrm rot="10800000" flipH="1">
              <a:off x="1167025" y="1513638"/>
              <a:ext cx="871500" cy="87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625" name="Google Shape;625;p31"/>
            <p:cNvCxnSpPr/>
            <p:nvPr/>
          </p:nvCxnSpPr>
          <p:spPr>
            <a:xfrm rot="10800000" flipH="1">
              <a:off x="1164450" y="1625675"/>
              <a:ext cx="871500" cy="87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626" name="Google Shape;626;p31"/>
            <p:cNvCxnSpPr/>
            <p:nvPr/>
          </p:nvCxnSpPr>
          <p:spPr>
            <a:xfrm rot="10800000" flipH="1">
              <a:off x="1167025" y="1737688"/>
              <a:ext cx="871500" cy="87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627" name="Google Shape;627;p31"/>
            <p:cNvCxnSpPr/>
            <p:nvPr/>
          </p:nvCxnSpPr>
          <p:spPr>
            <a:xfrm rot="10800000" flipH="1">
              <a:off x="1164450" y="1842800"/>
              <a:ext cx="871500" cy="87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628" name="Google Shape;628;p31"/>
            <p:cNvCxnSpPr/>
            <p:nvPr/>
          </p:nvCxnSpPr>
          <p:spPr>
            <a:xfrm rot="10800000" flipH="1">
              <a:off x="1167025" y="1966775"/>
              <a:ext cx="871500" cy="87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629" name="Google Shape;629;p31"/>
            <p:cNvCxnSpPr/>
            <p:nvPr/>
          </p:nvCxnSpPr>
          <p:spPr>
            <a:xfrm rot="10800000" flipH="1">
              <a:off x="1167775" y="2100188"/>
              <a:ext cx="871500" cy="87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630" name="Google Shape;630;p31"/>
            <p:cNvCxnSpPr/>
            <p:nvPr/>
          </p:nvCxnSpPr>
          <p:spPr>
            <a:xfrm rot="10800000" flipH="1">
              <a:off x="1167775" y="2224163"/>
              <a:ext cx="871500" cy="87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631" name="Google Shape;631;p31"/>
            <p:cNvCxnSpPr/>
            <p:nvPr/>
          </p:nvCxnSpPr>
          <p:spPr>
            <a:xfrm rot="10800000" flipH="1">
              <a:off x="1164450" y="2348138"/>
              <a:ext cx="871500" cy="87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632" name="Google Shape;632;p31"/>
            <p:cNvCxnSpPr/>
            <p:nvPr/>
          </p:nvCxnSpPr>
          <p:spPr>
            <a:xfrm rot="10800000" flipH="1">
              <a:off x="1167775" y="2472113"/>
              <a:ext cx="871500" cy="87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633" name="Google Shape;633;p31"/>
            <p:cNvCxnSpPr/>
            <p:nvPr/>
          </p:nvCxnSpPr>
          <p:spPr>
            <a:xfrm rot="10800000" flipH="1">
              <a:off x="1167775" y="2596088"/>
              <a:ext cx="871500" cy="87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634" name="Google Shape;634;p31"/>
            <p:cNvCxnSpPr/>
            <p:nvPr/>
          </p:nvCxnSpPr>
          <p:spPr>
            <a:xfrm rot="10800000" flipH="1">
              <a:off x="1164450" y="2706763"/>
              <a:ext cx="871500" cy="87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635" name="Google Shape;635;p31"/>
            <p:cNvCxnSpPr/>
            <p:nvPr/>
          </p:nvCxnSpPr>
          <p:spPr>
            <a:xfrm rot="10800000" flipH="1">
              <a:off x="1167775" y="2808225"/>
              <a:ext cx="871500" cy="87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636" name="Google Shape;636;p31"/>
            <p:cNvCxnSpPr/>
            <p:nvPr/>
          </p:nvCxnSpPr>
          <p:spPr>
            <a:xfrm rot="10800000" flipH="1">
              <a:off x="1167775" y="2959700"/>
              <a:ext cx="871500" cy="87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637" name="Google Shape;637;p31"/>
            <p:cNvCxnSpPr/>
            <p:nvPr/>
          </p:nvCxnSpPr>
          <p:spPr>
            <a:xfrm rot="10800000" flipH="1">
              <a:off x="1164450" y="3158888"/>
              <a:ext cx="871500" cy="87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638" name="Google Shape;638;p31"/>
            <p:cNvCxnSpPr/>
            <p:nvPr/>
          </p:nvCxnSpPr>
          <p:spPr>
            <a:xfrm rot="10800000" flipH="1">
              <a:off x="1164450" y="3335400"/>
              <a:ext cx="871500" cy="87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639" name="Google Shape;639;p31"/>
            <p:cNvCxnSpPr/>
            <p:nvPr/>
          </p:nvCxnSpPr>
          <p:spPr>
            <a:xfrm rot="10800000" flipH="1">
              <a:off x="1167775" y="3498000"/>
              <a:ext cx="871500" cy="87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640" name="Google Shape;640;p31"/>
            <p:cNvCxnSpPr/>
            <p:nvPr/>
          </p:nvCxnSpPr>
          <p:spPr>
            <a:xfrm rot="10800000" flipH="1">
              <a:off x="1164450" y="3616050"/>
              <a:ext cx="871500" cy="87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641" name="Google Shape;641;p31"/>
            <p:cNvCxnSpPr/>
            <p:nvPr/>
          </p:nvCxnSpPr>
          <p:spPr>
            <a:xfrm rot="10800000" flipH="1">
              <a:off x="1164450" y="3725475"/>
              <a:ext cx="871500" cy="87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642" name="Google Shape;642;p31"/>
            <p:cNvCxnSpPr/>
            <p:nvPr/>
          </p:nvCxnSpPr>
          <p:spPr>
            <a:xfrm rot="10800000" flipH="1">
              <a:off x="1164450" y="3852163"/>
              <a:ext cx="871500" cy="87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643" name="Google Shape;643;p31"/>
            <p:cNvCxnSpPr/>
            <p:nvPr/>
          </p:nvCxnSpPr>
          <p:spPr>
            <a:xfrm rot="10800000" flipH="1">
              <a:off x="1167775" y="3922363"/>
              <a:ext cx="871500" cy="87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644" name="Google Shape;644;p31"/>
            <p:cNvCxnSpPr/>
            <p:nvPr/>
          </p:nvCxnSpPr>
          <p:spPr>
            <a:xfrm rot="10800000" flipH="1">
              <a:off x="1164450" y="4036513"/>
              <a:ext cx="871500" cy="87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645" name="Google Shape;645;p31"/>
            <p:cNvSpPr txBox="1"/>
            <p:nvPr/>
          </p:nvSpPr>
          <p:spPr>
            <a:xfrm>
              <a:off x="490500" y="3993775"/>
              <a:ext cx="759900" cy="9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/>
                <a:t>Threshold = 0.00</a:t>
              </a:r>
              <a:endParaRPr sz="600"/>
            </a:p>
          </p:txBody>
        </p:sp>
        <p:sp>
          <p:nvSpPr>
            <p:cNvPr id="646" name="Google Shape;646;p31"/>
            <p:cNvSpPr txBox="1"/>
            <p:nvPr/>
          </p:nvSpPr>
          <p:spPr>
            <a:xfrm>
              <a:off x="490500" y="1456025"/>
              <a:ext cx="759900" cy="9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/>
                <a:t>Threshold = 1.00</a:t>
              </a:r>
              <a:endParaRPr sz="600"/>
            </a:p>
          </p:txBody>
        </p:sp>
      </p:grpSp>
      <p:sp>
        <p:nvSpPr>
          <p:cNvPr id="647" name="Google Shape;647;p31"/>
          <p:cNvSpPr txBox="1"/>
          <p:nvPr/>
        </p:nvSpPr>
        <p:spPr>
          <a:xfrm>
            <a:off x="545250" y="298150"/>
            <a:ext cx="2181000" cy="4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Threshold Scanning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Summary metrics: Rotated ROC </a:t>
            </a:r>
            <a:r>
              <a:rPr lang="en-US" dirty="0"/>
              <a:t>(Sen vs. Spec)</a:t>
            </a:r>
            <a:endParaRPr dirty="0"/>
          </a:p>
        </p:txBody>
      </p:sp>
      <p:pic>
        <p:nvPicPr>
          <p:cNvPr id="658" name="Google Shape;658;p33" descr="ro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8800" y="941525"/>
            <a:ext cx="5094634" cy="3820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59" name="Google Shape;659;p33"/>
          <p:cNvCxnSpPr/>
          <p:nvPr/>
        </p:nvCxnSpPr>
        <p:spPr>
          <a:xfrm>
            <a:off x="1600675" y="1502700"/>
            <a:ext cx="4200" cy="2567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60" name="Google Shape;660;p33"/>
          <p:cNvSpPr/>
          <p:nvPr/>
        </p:nvSpPr>
        <p:spPr>
          <a:xfrm>
            <a:off x="1561975" y="17494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33"/>
          <p:cNvSpPr/>
          <p:nvPr/>
        </p:nvSpPr>
        <p:spPr>
          <a:xfrm>
            <a:off x="1559400" y="22453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2" name="Google Shape;662;p33"/>
          <p:cNvSpPr/>
          <p:nvPr/>
        </p:nvSpPr>
        <p:spPr>
          <a:xfrm>
            <a:off x="1559400" y="28174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3" name="Google Shape;663;p33"/>
          <p:cNvSpPr/>
          <p:nvPr/>
        </p:nvSpPr>
        <p:spPr>
          <a:xfrm>
            <a:off x="1561975" y="302037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p33"/>
          <p:cNvSpPr/>
          <p:nvPr/>
        </p:nvSpPr>
        <p:spPr>
          <a:xfrm>
            <a:off x="1559400" y="32371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" name="Google Shape;665;p33"/>
          <p:cNvSpPr/>
          <p:nvPr/>
        </p:nvSpPr>
        <p:spPr>
          <a:xfrm>
            <a:off x="1559400" y="340250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6" name="Google Shape;666;p33"/>
          <p:cNvSpPr/>
          <p:nvPr/>
        </p:nvSpPr>
        <p:spPr>
          <a:xfrm>
            <a:off x="1561975" y="351192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" name="Google Shape;667;p33"/>
          <p:cNvSpPr/>
          <p:nvPr/>
        </p:nvSpPr>
        <p:spPr>
          <a:xfrm>
            <a:off x="1559400" y="36213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8" name="Google Shape;668;p33"/>
          <p:cNvSpPr/>
          <p:nvPr/>
        </p:nvSpPr>
        <p:spPr>
          <a:xfrm>
            <a:off x="1559400" y="374802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p33"/>
          <p:cNvSpPr/>
          <p:nvPr/>
        </p:nvSpPr>
        <p:spPr>
          <a:xfrm>
            <a:off x="1559400" y="391757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" name="Google Shape;670;p33"/>
          <p:cNvSpPr/>
          <p:nvPr/>
        </p:nvSpPr>
        <p:spPr>
          <a:xfrm>
            <a:off x="1559400" y="153922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" name="Google Shape;671;p33"/>
          <p:cNvSpPr/>
          <p:nvPr/>
        </p:nvSpPr>
        <p:spPr>
          <a:xfrm>
            <a:off x="1559400" y="1644338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33"/>
          <p:cNvSpPr/>
          <p:nvPr/>
        </p:nvSpPr>
        <p:spPr>
          <a:xfrm>
            <a:off x="1561975" y="185455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33"/>
          <p:cNvSpPr/>
          <p:nvPr/>
        </p:nvSpPr>
        <p:spPr>
          <a:xfrm>
            <a:off x="1561975" y="19974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4" name="Google Shape;674;p33"/>
          <p:cNvSpPr/>
          <p:nvPr/>
        </p:nvSpPr>
        <p:spPr>
          <a:xfrm>
            <a:off x="1561975" y="212137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5" name="Google Shape;675;p33"/>
          <p:cNvSpPr/>
          <p:nvPr/>
        </p:nvSpPr>
        <p:spPr>
          <a:xfrm>
            <a:off x="1559400" y="236932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6" name="Google Shape;676;p33"/>
          <p:cNvSpPr/>
          <p:nvPr/>
        </p:nvSpPr>
        <p:spPr>
          <a:xfrm>
            <a:off x="1559400" y="2671563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7" name="Google Shape;677;p33"/>
          <p:cNvSpPr/>
          <p:nvPr/>
        </p:nvSpPr>
        <p:spPr>
          <a:xfrm>
            <a:off x="1561975" y="38402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33"/>
          <p:cNvSpPr/>
          <p:nvPr/>
        </p:nvSpPr>
        <p:spPr>
          <a:xfrm>
            <a:off x="1559400" y="24933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9" name="Google Shape;679;p33"/>
          <p:cNvSpPr/>
          <p:nvPr/>
        </p:nvSpPr>
        <p:spPr>
          <a:xfrm>
            <a:off x="1559400" y="261727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0" name="Google Shape;680;p33"/>
          <p:cNvSpPr txBox="1"/>
          <p:nvPr/>
        </p:nvSpPr>
        <p:spPr>
          <a:xfrm>
            <a:off x="1275150" y="1271925"/>
            <a:ext cx="1172100" cy="1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Score = 1</a:t>
            </a:r>
            <a:endParaRPr sz="800"/>
          </a:p>
        </p:txBody>
      </p:sp>
      <p:sp>
        <p:nvSpPr>
          <p:cNvPr id="681" name="Google Shape;681;p33"/>
          <p:cNvSpPr txBox="1"/>
          <p:nvPr/>
        </p:nvSpPr>
        <p:spPr>
          <a:xfrm>
            <a:off x="1275150" y="4015125"/>
            <a:ext cx="1172100" cy="1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Score = 0</a:t>
            </a:r>
            <a:endParaRPr sz="8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175695-DCE3-6D41-8C30-141987988796}"/>
              </a:ext>
            </a:extLst>
          </p:cNvPr>
          <p:cNvSpPr txBox="1"/>
          <p:nvPr/>
        </p:nvSpPr>
        <p:spPr>
          <a:xfrm>
            <a:off x="5959929" y="4762500"/>
            <a:ext cx="23807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Sensitivity = True Pos / Pos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F9080D-EFBC-4847-AAD1-4817BEBCAE82}"/>
              </a:ext>
            </a:extLst>
          </p:cNvPr>
          <p:cNvSpPr txBox="1"/>
          <p:nvPr/>
        </p:nvSpPr>
        <p:spPr>
          <a:xfrm>
            <a:off x="-22213" y="1891255"/>
            <a:ext cx="15616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Specificity</a:t>
            </a:r>
          </a:p>
          <a:p>
            <a:r>
              <a:rPr lang="en-US" dirty="0"/>
              <a:t>= True Neg / Neg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8040DA-535C-6B4C-BB57-82A4AE51421B}"/>
              </a:ext>
            </a:extLst>
          </p:cNvPr>
          <p:cNvSpPr txBox="1"/>
          <p:nvPr/>
        </p:nvSpPr>
        <p:spPr>
          <a:xfrm>
            <a:off x="2040947" y="1121632"/>
            <a:ext cx="13500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Pos examples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49066D-979B-4F4A-B760-CEDCEA57EBEE}"/>
              </a:ext>
            </a:extLst>
          </p:cNvPr>
          <p:cNvSpPr txBox="1"/>
          <p:nvPr/>
        </p:nvSpPr>
        <p:spPr>
          <a:xfrm>
            <a:off x="2813946" y="1465319"/>
            <a:ext cx="13292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Neg examples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6DF132-4D62-BB4E-9BE1-9B5FCAA084E5}"/>
              </a:ext>
            </a:extLst>
          </p:cNvPr>
          <p:cNvSpPr txBox="1"/>
          <p:nvPr/>
        </p:nvSpPr>
        <p:spPr>
          <a:xfrm>
            <a:off x="3542395" y="2786400"/>
            <a:ext cx="16674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Random Guessing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099E3B-7943-724B-BB6E-A2E897B55A14}"/>
              </a:ext>
            </a:extLst>
          </p:cNvPr>
          <p:cNvSpPr txBox="1"/>
          <p:nvPr/>
        </p:nvSpPr>
        <p:spPr>
          <a:xfrm>
            <a:off x="6461132" y="1813598"/>
            <a:ext cx="24016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AUROC = Area Under ROC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C624BB-D4B8-9349-93D1-3F12D9A2454B}"/>
              </a:ext>
            </a:extLst>
          </p:cNvPr>
          <p:cNvSpPr txBox="1"/>
          <p:nvPr/>
        </p:nvSpPr>
        <p:spPr>
          <a:xfrm>
            <a:off x="6464613" y="2417068"/>
            <a:ext cx="23984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 Prob[Random Pos ranked</a:t>
            </a:r>
          </a:p>
          <a:p>
            <a:r>
              <a:rPr lang="en-US" dirty="0"/>
              <a:t>higher than random Neg]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0DCF47-EAD6-EA44-BB66-C8B0D5C97D68}"/>
              </a:ext>
            </a:extLst>
          </p:cNvPr>
          <p:cNvSpPr txBox="1"/>
          <p:nvPr/>
        </p:nvSpPr>
        <p:spPr>
          <a:xfrm>
            <a:off x="6574143" y="3402500"/>
            <a:ext cx="20457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Agnostic to prevalence!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0" grpId="0"/>
      <p:bldP spid="5" grpId="0"/>
      <p:bldP spid="6" grpId="0"/>
      <p:bldP spid="7" grpId="0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Summary metrics: PRC (Recall vs. Precision)</a:t>
            </a:r>
            <a:endParaRPr dirty="0"/>
          </a:p>
        </p:txBody>
      </p:sp>
      <p:pic>
        <p:nvPicPr>
          <p:cNvPr id="687" name="Google Shape;687;p34" descr="p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8800" y="941525"/>
            <a:ext cx="5094634" cy="3820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88" name="Google Shape;688;p34"/>
          <p:cNvCxnSpPr/>
          <p:nvPr/>
        </p:nvCxnSpPr>
        <p:spPr>
          <a:xfrm>
            <a:off x="1600675" y="1502700"/>
            <a:ext cx="4200" cy="2567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89" name="Google Shape;689;p34"/>
          <p:cNvSpPr/>
          <p:nvPr/>
        </p:nvSpPr>
        <p:spPr>
          <a:xfrm>
            <a:off x="1561975" y="17494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34"/>
          <p:cNvSpPr/>
          <p:nvPr/>
        </p:nvSpPr>
        <p:spPr>
          <a:xfrm>
            <a:off x="1559400" y="22453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34"/>
          <p:cNvSpPr/>
          <p:nvPr/>
        </p:nvSpPr>
        <p:spPr>
          <a:xfrm>
            <a:off x="1559400" y="28174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p34"/>
          <p:cNvSpPr/>
          <p:nvPr/>
        </p:nvSpPr>
        <p:spPr>
          <a:xfrm>
            <a:off x="1561975" y="302037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34"/>
          <p:cNvSpPr/>
          <p:nvPr/>
        </p:nvSpPr>
        <p:spPr>
          <a:xfrm>
            <a:off x="1559400" y="32371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34"/>
          <p:cNvSpPr/>
          <p:nvPr/>
        </p:nvSpPr>
        <p:spPr>
          <a:xfrm>
            <a:off x="1559400" y="340250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34"/>
          <p:cNvSpPr/>
          <p:nvPr/>
        </p:nvSpPr>
        <p:spPr>
          <a:xfrm>
            <a:off x="1561975" y="351192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34"/>
          <p:cNvSpPr/>
          <p:nvPr/>
        </p:nvSpPr>
        <p:spPr>
          <a:xfrm>
            <a:off x="1559400" y="36213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7" name="Google Shape;697;p34"/>
          <p:cNvSpPr/>
          <p:nvPr/>
        </p:nvSpPr>
        <p:spPr>
          <a:xfrm>
            <a:off x="1559400" y="374802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8" name="Google Shape;698;p34"/>
          <p:cNvSpPr/>
          <p:nvPr/>
        </p:nvSpPr>
        <p:spPr>
          <a:xfrm>
            <a:off x="1559400" y="391757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9" name="Google Shape;699;p34"/>
          <p:cNvSpPr/>
          <p:nvPr/>
        </p:nvSpPr>
        <p:spPr>
          <a:xfrm>
            <a:off x="1559400" y="153922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" name="Google Shape;700;p34"/>
          <p:cNvSpPr/>
          <p:nvPr/>
        </p:nvSpPr>
        <p:spPr>
          <a:xfrm>
            <a:off x="1559400" y="1644338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1" name="Google Shape;701;p34"/>
          <p:cNvSpPr/>
          <p:nvPr/>
        </p:nvSpPr>
        <p:spPr>
          <a:xfrm>
            <a:off x="1561975" y="185455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" name="Google Shape;702;p34"/>
          <p:cNvSpPr/>
          <p:nvPr/>
        </p:nvSpPr>
        <p:spPr>
          <a:xfrm>
            <a:off x="1561975" y="19974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34"/>
          <p:cNvSpPr/>
          <p:nvPr/>
        </p:nvSpPr>
        <p:spPr>
          <a:xfrm>
            <a:off x="1561975" y="212137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p34"/>
          <p:cNvSpPr/>
          <p:nvPr/>
        </p:nvSpPr>
        <p:spPr>
          <a:xfrm>
            <a:off x="1559400" y="236932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5" name="Google Shape;705;p34"/>
          <p:cNvSpPr/>
          <p:nvPr/>
        </p:nvSpPr>
        <p:spPr>
          <a:xfrm>
            <a:off x="1559400" y="2671563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6" name="Google Shape;706;p34"/>
          <p:cNvSpPr/>
          <p:nvPr/>
        </p:nvSpPr>
        <p:spPr>
          <a:xfrm>
            <a:off x="1561975" y="38402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p34"/>
          <p:cNvSpPr/>
          <p:nvPr/>
        </p:nvSpPr>
        <p:spPr>
          <a:xfrm>
            <a:off x="1559400" y="24933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8" name="Google Shape;708;p34"/>
          <p:cNvSpPr/>
          <p:nvPr/>
        </p:nvSpPr>
        <p:spPr>
          <a:xfrm>
            <a:off x="1559400" y="261727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9" name="Google Shape;709;p34"/>
          <p:cNvSpPr txBox="1"/>
          <p:nvPr/>
        </p:nvSpPr>
        <p:spPr>
          <a:xfrm>
            <a:off x="1275150" y="1271925"/>
            <a:ext cx="1172100" cy="1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Score = 1</a:t>
            </a:r>
            <a:endParaRPr sz="800"/>
          </a:p>
        </p:txBody>
      </p:sp>
      <p:sp>
        <p:nvSpPr>
          <p:cNvPr id="710" name="Google Shape;710;p34"/>
          <p:cNvSpPr txBox="1"/>
          <p:nvPr/>
        </p:nvSpPr>
        <p:spPr>
          <a:xfrm>
            <a:off x="1275150" y="4015125"/>
            <a:ext cx="1172100" cy="1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Score = 0</a:t>
            </a:r>
            <a:endParaRPr sz="8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4B4EA66-0E8C-6949-AE82-E33DAA6AA77F}"/>
              </a:ext>
            </a:extLst>
          </p:cNvPr>
          <p:cNvSpPr txBox="1"/>
          <p:nvPr/>
        </p:nvSpPr>
        <p:spPr>
          <a:xfrm>
            <a:off x="5143500" y="4762500"/>
            <a:ext cx="30828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Recall = Sensitivity = True Pos / Pos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005E6BE-8E3D-E043-BD83-BB27AAD3E8B2}"/>
              </a:ext>
            </a:extLst>
          </p:cNvPr>
          <p:cNvSpPr txBox="1"/>
          <p:nvPr/>
        </p:nvSpPr>
        <p:spPr>
          <a:xfrm>
            <a:off x="141077" y="1891255"/>
            <a:ext cx="130035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Precision</a:t>
            </a:r>
          </a:p>
          <a:p>
            <a:r>
              <a:rPr lang="en-US" dirty="0"/>
              <a:t>= True Pos / </a:t>
            </a:r>
          </a:p>
          <a:p>
            <a:r>
              <a:rPr lang="en-US" dirty="0"/>
              <a:t>Predicted Pos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7EA42B-C647-2242-8906-2CBA1564032B}"/>
              </a:ext>
            </a:extLst>
          </p:cNvPr>
          <p:cNvSpPr txBox="1"/>
          <p:nvPr/>
        </p:nvSpPr>
        <p:spPr>
          <a:xfrm>
            <a:off x="2040947" y="1121632"/>
            <a:ext cx="13500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Pos examples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A5BC1C9-695C-1F45-B377-5AC85639CF48}"/>
              </a:ext>
            </a:extLst>
          </p:cNvPr>
          <p:cNvSpPr txBox="1"/>
          <p:nvPr/>
        </p:nvSpPr>
        <p:spPr>
          <a:xfrm>
            <a:off x="2813946" y="1677596"/>
            <a:ext cx="13292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Neg examples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B95419D-2CEB-5847-83CF-6A9126A4761B}"/>
              </a:ext>
            </a:extLst>
          </p:cNvPr>
          <p:cNvSpPr txBox="1"/>
          <p:nvPr/>
        </p:nvSpPr>
        <p:spPr>
          <a:xfrm>
            <a:off x="6461132" y="1813598"/>
            <a:ext cx="23631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AUPRC = Area Under PRC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F912E75-71CD-1A4D-BCB0-842C68B6A116}"/>
              </a:ext>
            </a:extLst>
          </p:cNvPr>
          <p:cNvSpPr txBox="1"/>
          <p:nvPr/>
        </p:nvSpPr>
        <p:spPr>
          <a:xfrm>
            <a:off x="6464613" y="2417068"/>
            <a:ext cx="21098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 Expected precision for</a:t>
            </a:r>
          </a:p>
          <a:p>
            <a:r>
              <a:rPr lang="en-US" dirty="0"/>
              <a:t>Random threshold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A3F5137-B01A-804C-9CBA-3AB09AB60D9E}"/>
              </a:ext>
            </a:extLst>
          </p:cNvPr>
          <p:cNvSpPr txBox="1"/>
          <p:nvPr/>
        </p:nvSpPr>
        <p:spPr>
          <a:xfrm>
            <a:off x="6574143" y="3402500"/>
            <a:ext cx="21547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Precision &gt;= prevalence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32" grpId="0"/>
      <p:bldP spid="3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Summary metrics:</a:t>
            </a:r>
            <a:endParaRPr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E85AF0B-2103-BF48-B706-47DF93AE9E6B}"/>
              </a:ext>
            </a:extLst>
          </p:cNvPr>
          <p:cNvGrpSpPr/>
          <p:nvPr/>
        </p:nvGrpSpPr>
        <p:grpSpPr>
          <a:xfrm>
            <a:off x="1884750" y="1271925"/>
            <a:ext cx="1172100" cy="2862900"/>
            <a:chOff x="1884750" y="1271925"/>
            <a:chExt cx="1172100" cy="2862900"/>
          </a:xfrm>
        </p:grpSpPr>
        <p:cxnSp>
          <p:nvCxnSpPr>
            <p:cNvPr id="716" name="Google Shape;716;p35"/>
            <p:cNvCxnSpPr/>
            <p:nvPr/>
          </p:nvCxnSpPr>
          <p:spPr>
            <a:xfrm>
              <a:off x="2210275" y="1502700"/>
              <a:ext cx="4200" cy="256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17" name="Google Shape;717;p35"/>
            <p:cNvSpPr/>
            <p:nvPr/>
          </p:nvSpPr>
          <p:spPr>
            <a:xfrm>
              <a:off x="2171575" y="2359050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35"/>
            <p:cNvSpPr/>
            <p:nvPr/>
          </p:nvSpPr>
          <p:spPr>
            <a:xfrm>
              <a:off x="2169000" y="2397750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35"/>
            <p:cNvSpPr/>
            <p:nvPr/>
          </p:nvSpPr>
          <p:spPr>
            <a:xfrm>
              <a:off x="2169000" y="2817450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35"/>
            <p:cNvSpPr/>
            <p:nvPr/>
          </p:nvSpPr>
          <p:spPr>
            <a:xfrm>
              <a:off x="2171575" y="3020375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35"/>
            <p:cNvSpPr/>
            <p:nvPr/>
          </p:nvSpPr>
          <p:spPr>
            <a:xfrm>
              <a:off x="2169000" y="3237150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5"/>
            <p:cNvSpPr/>
            <p:nvPr/>
          </p:nvSpPr>
          <p:spPr>
            <a:xfrm>
              <a:off x="2169000" y="3402500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5"/>
            <p:cNvSpPr/>
            <p:nvPr/>
          </p:nvSpPr>
          <p:spPr>
            <a:xfrm>
              <a:off x="2171575" y="3511925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5"/>
            <p:cNvSpPr/>
            <p:nvPr/>
          </p:nvSpPr>
          <p:spPr>
            <a:xfrm>
              <a:off x="2169000" y="3621350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35"/>
            <p:cNvSpPr/>
            <p:nvPr/>
          </p:nvSpPr>
          <p:spPr>
            <a:xfrm>
              <a:off x="2169000" y="3748025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35"/>
            <p:cNvSpPr/>
            <p:nvPr/>
          </p:nvSpPr>
          <p:spPr>
            <a:xfrm>
              <a:off x="2169000" y="3917575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35"/>
            <p:cNvSpPr/>
            <p:nvPr/>
          </p:nvSpPr>
          <p:spPr>
            <a:xfrm>
              <a:off x="2169000" y="1539225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35"/>
            <p:cNvSpPr/>
            <p:nvPr/>
          </p:nvSpPr>
          <p:spPr>
            <a:xfrm>
              <a:off x="2169000" y="1644338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35"/>
            <p:cNvSpPr/>
            <p:nvPr/>
          </p:nvSpPr>
          <p:spPr>
            <a:xfrm>
              <a:off x="2171575" y="1854550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35"/>
            <p:cNvSpPr/>
            <p:nvPr/>
          </p:nvSpPr>
          <p:spPr>
            <a:xfrm>
              <a:off x="2171575" y="1997400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35"/>
            <p:cNvSpPr/>
            <p:nvPr/>
          </p:nvSpPr>
          <p:spPr>
            <a:xfrm>
              <a:off x="2171575" y="2121375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35"/>
            <p:cNvSpPr/>
            <p:nvPr/>
          </p:nvSpPr>
          <p:spPr>
            <a:xfrm>
              <a:off x="2169000" y="2521725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35"/>
            <p:cNvSpPr/>
            <p:nvPr/>
          </p:nvSpPr>
          <p:spPr>
            <a:xfrm>
              <a:off x="2169000" y="2671563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35"/>
            <p:cNvSpPr/>
            <p:nvPr/>
          </p:nvSpPr>
          <p:spPr>
            <a:xfrm>
              <a:off x="2171575" y="2925800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35"/>
            <p:cNvSpPr/>
            <p:nvPr/>
          </p:nvSpPr>
          <p:spPr>
            <a:xfrm>
              <a:off x="2169000" y="1731300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35"/>
            <p:cNvSpPr/>
            <p:nvPr/>
          </p:nvSpPr>
          <p:spPr>
            <a:xfrm>
              <a:off x="2169000" y="2236275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35"/>
            <p:cNvSpPr txBox="1"/>
            <p:nvPr/>
          </p:nvSpPr>
          <p:spPr>
            <a:xfrm>
              <a:off x="1884750" y="1271925"/>
              <a:ext cx="1172100" cy="11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Score = 1</a:t>
              </a:r>
              <a:endParaRPr sz="800"/>
            </a:p>
          </p:txBody>
        </p:sp>
        <p:sp>
          <p:nvSpPr>
            <p:cNvPr id="738" name="Google Shape;738;p35"/>
            <p:cNvSpPr txBox="1"/>
            <p:nvPr/>
          </p:nvSpPr>
          <p:spPr>
            <a:xfrm>
              <a:off x="1884750" y="4015125"/>
              <a:ext cx="1172100" cy="11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Score = 0</a:t>
              </a:r>
              <a:endParaRPr sz="800"/>
            </a:p>
          </p:txBody>
        </p:sp>
      </p:grpSp>
      <p:cxnSp>
        <p:nvCxnSpPr>
          <p:cNvPr id="739" name="Google Shape;739;p35"/>
          <p:cNvCxnSpPr/>
          <p:nvPr/>
        </p:nvCxnSpPr>
        <p:spPr>
          <a:xfrm>
            <a:off x="5791675" y="1502700"/>
            <a:ext cx="4200" cy="2567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40" name="Google Shape;740;p35"/>
          <p:cNvSpPr/>
          <p:nvPr/>
        </p:nvSpPr>
        <p:spPr>
          <a:xfrm>
            <a:off x="5752975" y="24352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1" name="Google Shape;741;p35"/>
          <p:cNvSpPr/>
          <p:nvPr/>
        </p:nvSpPr>
        <p:spPr>
          <a:xfrm>
            <a:off x="5750400" y="23977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" name="Google Shape;742;p35"/>
          <p:cNvSpPr/>
          <p:nvPr/>
        </p:nvSpPr>
        <p:spPr>
          <a:xfrm>
            <a:off x="5750400" y="28174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3" name="Google Shape;743;p35"/>
          <p:cNvSpPr/>
          <p:nvPr/>
        </p:nvSpPr>
        <p:spPr>
          <a:xfrm>
            <a:off x="5752975" y="347757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4" name="Google Shape;744;p35"/>
          <p:cNvSpPr/>
          <p:nvPr/>
        </p:nvSpPr>
        <p:spPr>
          <a:xfrm>
            <a:off x="5750400" y="37705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p35"/>
          <p:cNvSpPr/>
          <p:nvPr/>
        </p:nvSpPr>
        <p:spPr>
          <a:xfrm>
            <a:off x="5750400" y="363110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p35"/>
          <p:cNvSpPr/>
          <p:nvPr/>
        </p:nvSpPr>
        <p:spPr>
          <a:xfrm>
            <a:off x="5752975" y="389292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35"/>
          <p:cNvSpPr/>
          <p:nvPr/>
        </p:nvSpPr>
        <p:spPr>
          <a:xfrm>
            <a:off x="5750400" y="36213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35"/>
          <p:cNvSpPr/>
          <p:nvPr/>
        </p:nvSpPr>
        <p:spPr>
          <a:xfrm>
            <a:off x="5750400" y="374802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35"/>
          <p:cNvSpPr/>
          <p:nvPr/>
        </p:nvSpPr>
        <p:spPr>
          <a:xfrm>
            <a:off x="5750400" y="391757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35"/>
          <p:cNvSpPr/>
          <p:nvPr/>
        </p:nvSpPr>
        <p:spPr>
          <a:xfrm>
            <a:off x="5750400" y="153922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35"/>
          <p:cNvSpPr/>
          <p:nvPr/>
        </p:nvSpPr>
        <p:spPr>
          <a:xfrm>
            <a:off x="5750400" y="1644338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35"/>
          <p:cNvSpPr/>
          <p:nvPr/>
        </p:nvSpPr>
        <p:spPr>
          <a:xfrm>
            <a:off x="5752975" y="185455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35"/>
          <p:cNvSpPr/>
          <p:nvPr/>
        </p:nvSpPr>
        <p:spPr>
          <a:xfrm>
            <a:off x="5752975" y="16926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35"/>
          <p:cNvSpPr/>
          <p:nvPr/>
        </p:nvSpPr>
        <p:spPr>
          <a:xfrm>
            <a:off x="5752975" y="181657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35"/>
          <p:cNvSpPr/>
          <p:nvPr/>
        </p:nvSpPr>
        <p:spPr>
          <a:xfrm>
            <a:off x="5750400" y="252172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35"/>
          <p:cNvSpPr/>
          <p:nvPr/>
        </p:nvSpPr>
        <p:spPr>
          <a:xfrm>
            <a:off x="5750400" y="2671563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35"/>
          <p:cNvSpPr/>
          <p:nvPr/>
        </p:nvSpPr>
        <p:spPr>
          <a:xfrm>
            <a:off x="5752975" y="29258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8" name="Google Shape;758;p35"/>
          <p:cNvSpPr/>
          <p:nvPr/>
        </p:nvSpPr>
        <p:spPr>
          <a:xfrm>
            <a:off x="5750400" y="17313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9" name="Google Shape;759;p35"/>
          <p:cNvSpPr/>
          <p:nvPr/>
        </p:nvSpPr>
        <p:spPr>
          <a:xfrm>
            <a:off x="5750400" y="200767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0" name="Google Shape;760;p35"/>
          <p:cNvSpPr txBox="1"/>
          <p:nvPr/>
        </p:nvSpPr>
        <p:spPr>
          <a:xfrm>
            <a:off x="5466150" y="1271925"/>
            <a:ext cx="1172100" cy="1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Score = 1</a:t>
            </a:r>
            <a:endParaRPr sz="800"/>
          </a:p>
        </p:txBody>
      </p:sp>
      <p:sp>
        <p:nvSpPr>
          <p:cNvPr id="761" name="Google Shape;761;p35"/>
          <p:cNvSpPr txBox="1"/>
          <p:nvPr/>
        </p:nvSpPr>
        <p:spPr>
          <a:xfrm>
            <a:off x="5466150" y="4015125"/>
            <a:ext cx="1172100" cy="1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Score = 0</a:t>
            </a:r>
            <a:endParaRPr sz="800"/>
          </a:p>
        </p:txBody>
      </p:sp>
      <p:sp>
        <p:nvSpPr>
          <p:cNvPr id="762" name="Google Shape;762;p35"/>
          <p:cNvSpPr txBox="1"/>
          <p:nvPr/>
        </p:nvSpPr>
        <p:spPr>
          <a:xfrm>
            <a:off x="927200" y="4392450"/>
            <a:ext cx="7044000" cy="3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models scoring the same data set. Is one of them better than the other?</a:t>
            </a:r>
            <a:endParaRPr/>
          </a:p>
        </p:txBody>
      </p:sp>
      <p:sp>
        <p:nvSpPr>
          <p:cNvPr id="763" name="Google Shape;763;p35"/>
          <p:cNvSpPr txBox="1"/>
          <p:nvPr/>
        </p:nvSpPr>
        <p:spPr>
          <a:xfrm>
            <a:off x="786200" y="2662775"/>
            <a:ext cx="921600" cy="3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A</a:t>
            </a:r>
            <a:endParaRPr/>
          </a:p>
        </p:txBody>
      </p:sp>
      <p:sp>
        <p:nvSpPr>
          <p:cNvPr id="764" name="Google Shape;764;p35"/>
          <p:cNvSpPr txBox="1"/>
          <p:nvPr/>
        </p:nvSpPr>
        <p:spPr>
          <a:xfrm>
            <a:off x="6272600" y="2586575"/>
            <a:ext cx="921600" cy="3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B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Summary metrics: Log-Loss vs Brier Score</a:t>
            </a:r>
            <a:endParaRPr dirty="0"/>
          </a:p>
        </p:txBody>
      </p:sp>
      <p:sp>
        <p:nvSpPr>
          <p:cNvPr id="770" name="Google Shape;770;p36"/>
          <p:cNvSpPr txBox="1">
            <a:spLocks noGrp="1"/>
          </p:cNvSpPr>
          <p:nvPr>
            <p:ph type="body" idx="1"/>
          </p:nvPr>
        </p:nvSpPr>
        <p:spPr>
          <a:xfrm>
            <a:off x="311700" y="1325625"/>
            <a:ext cx="5912700" cy="352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Same ranking, and therefore the same AUROC, AUPRC, accuracy!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" dirty="0"/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Rewards confident correct answers, heavily penalizes confident wrong answers.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One perfectly confident wrong prediction is fatal.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dirty="0"/>
              <a:t>-&gt; Well-</a:t>
            </a:r>
            <a:r>
              <a:rPr lang="en" b="1" dirty="0"/>
              <a:t>calibrated</a:t>
            </a:r>
            <a:r>
              <a:rPr lang="en" dirty="0"/>
              <a:t> model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 dirty="0"/>
              <a:t>Proper</a:t>
            </a:r>
            <a:r>
              <a:rPr lang="en" dirty="0"/>
              <a:t> scoring rule: Minimized at              </a:t>
            </a:r>
            <a:endParaRPr dirty="0"/>
          </a:p>
        </p:txBody>
      </p:sp>
      <p:cxnSp>
        <p:nvCxnSpPr>
          <p:cNvPr id="771" name="Google Shape;771;p36"/>
          <p:cNvCxnSpPr/>
          <p:nvPr/>
        </p:nvCxnSpPr>
        <p:spPr>
          <a:xfrm>
            <a:off x="6629875" y="1578900"/>
            <a:ext cx="4200" cy="2567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72" name="Google Shape;772;p36"/>
          <p:cNvSpPr/>
          <p:nvPr/>
        </p:nvSpPr>
        <p:spPr>
          <a:xfrm>
            <a:off x="6591175" y="24352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3" name="Google Shape;773;p36"/>
          <p:cNvSpPr/>
          <p:nvPr/>
        </p:nvSpPr>
        <p:spPr>
          <a:xfrm>
            <a:off x="6588600" y="24739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4" name="Google Shape;774;p36"/>
          <p:cNvSpPr/>
          <p:nvPr/>
        </p:nvSpPr>
        <p:spPr>
          <a:xfrm>
            <a:off x="6588600" y="28936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5" name="Google Shape;775;p36"/>
          <p:cNvSpPr/>
          <p:nvPr/>
        </p:nvSpPr>
        <p:spPr>
          <a:xfrm>
            <a:off x="6591175" y="309657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6" name="Google Shape;776;p36"/>
          <p:cNvSpPr/>
          <p:nvPr/>
        </p:nvSpPr>
        <p:spPr>
          <a:xfrm>
            <a:off x="6588600" y="33133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7" name="Google Shape;777;p36"/>
          <p:cNvSpPr/>
          <p:nvPr/>
        </p:nvSpPr>
        <p:spPr>
          <a:xfrm>
            <a:off x="6588600" y="347870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8" name="Google Shape;778;p36"/>
          <p:cNvSpPr/>
          <p:nvPr/>
        </p:nvSpPr>
        <p:spPr>
          <a:xfrm>
            <a:off x="6591175" y="358812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9" name="Google Shape;779;p36"/>
          <p:cNvSpPr/>
          <p:nvPr/>
        </p:nvSpPr>
        <p:spPr>
          <a:xfrm>
            <a:off x="6588600" y="36975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0" name="Google Shape;780;p36"/>
          <p:cNvSpPr/>
          <p:nvPr/>
        </p:nvSpPr>
        <p:spPr>
          <a:xfrm>
            <a:off x="6588600" y="382422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1" name="Google Shape;781;p36"/>
          <p:cNvSpPr/>
          <p:nvPr/>
        </p:nvSpPr>
        <p:spPr>
          <a:xfrm>
            <a:off x="6588600" y="399377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2" name="Google Shape;782;p36"/>
          <p:cNvSpPr/>
          <p:nvPr/>
        </p:nvSpPr>
        <p:spPr>
          <a:xfrm>
            <a:off x="6588600" y="161542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3" name="Google Shape;783;p36"/>
          <p:cNvSpPr/>
          <p:nvPr/>
        </p:nvSpPr>
        <p:spPr>
          <a:xfrm>
            <a:off x="6588600" y="1720538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4" name="Google Shape;784;p36"/>
          <p:cNvSpPr/>
          <p:nvPr/>
        </p:nvSpPr>
        <p:spPr>
          <a:xfrm>
            <a:off x="6591175" y="193075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5" name="Google Shape;785;p36"/>
          <p:cNvSpPr/>
          <p:nvPr/>
        </p:nvSpPr>
        <p:spPr>
          <a:xfrm>
            <a:off x="6591175" y="20736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6" name="Google Shape;786;p36"/>
          <p:cNvSpPr/>
          <p:nvPr/>
        </p:nvSpPr>
        <p:spPr>
          <a:xfrm>
            <a:off x="6591175" y="219757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7" name="Google Shape;787;p36"/>
          <p:cNvSpPr/>
          <p:nvPr/>
        </p:nvSpPr>
        <p:spPr>
          <a:xfrm>
            <a:off x="6588600" y="259792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8" name="Google Shape;788;p36"/>
          <p:cNvSpPr/>
          <p:nvPr/>
        </p:nvSpPr>
        <p:spPr>
          <a:xfrm>
            <a:off x="6588600" y="2747763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9" name="Google Shape;789;p36"/>
          <p:cNvSpPr/>
          <p:nvPr/>
        </p:nvSpPr>
        <p:spPr>
          <a:xfrm>
            <a:off x="6591175" y="30020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0" name="Google Shape;790;p36"/>
          <p:cNvSpPr/>
          <p:nvPr/>
        </p:nvSpPr>
        <p:spPr>
          <a:xfrm>
            <a:off x="6588600" y="18075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1" name="Google Shape;791;p36"/>
          <p:cNvSpPr/>
          <p:nvPr/>
        </p:nvSpPr>
        <p:spPr>
          <a:xfrm>
            <a:off x="6588600" y="231247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2" name="Google Shape;792;p36"/>
          <p:cNvSpPr txBox="1"/>
          <p:nvPr/>
        </p:nvSpPr>
        <p:spPr>
          <a:xfrm>
            <a:off x="6304350" y="1348125"/>
            <a:ext cx="1172100" cy="1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Score = 1</a:t>
            </a:r>
            <a:endParaRPr sz="800"/>
          </a:p>
        </p:txBody>
      </p:sp>
      <p:sp>
        <p:nvSpPr>
          <p:cNvPr id="793" name="Google Shape;793;p36"/>
          <p:cNvSpPr txBox="1"/>
          <p:nvPr/>
        </p:nvSpPr>
        <p:spPr>
          <a:xfrm>
            <a:off x="6304350" y="4091325"/>
            <a:ext cx="1172100" cy="1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Score = 0</a:t>
            </a:r>
            <a:endParaRPr sz="800"/>
          </a:p>
        </p:txBody>
      </p:sp>
      <p:cxnSp>
        <p:nvCxnSpPr>
          <p:cNvPr id="794" name="Google Shape;794;p36"/>
          <p:cNvCxnSpPr/>
          <p:nvPr/>
        </p:nvCxnSpPr>
        <p:spPr>
          <a:xfrm>
            <a:off x="8153875" y="1578900"/>
            <a:ext cx="4200" cy="2567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95" name="Google Shape;795;p36"/>
          <p:cNvSpPr/>
          <p:nvPr/>
        </p:nvSpPr>
        <p:spPr>
          <a:xfrm>
            <a:off x="8115175" y="25114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6" name="Google Shape;796;p36"/>
          <p:cNvSpPr/>
          <p:nvPr/>
        </p:nvSpPr>
        <p:spPr>
          <a:xfrm>
            <a:off x="8112600" y="24739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7" name="Google Shape;797;p36"/>
          <p:cNvSpPr/>
          <p:nvPr/>
        </p:nvSpPr>
        <p:spPr>
          <a:xfrm>
            <a:off x="8112600" y="28936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8" name="Google Shape;798;p36"/>
          <p:cNvSpPr/>
          <p:nvPr/>
        </p:nvSpPr>
        <p:spPr>
          <a:xfrm>
            <a:off x="8115175" y="355377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9" name="Google Shape;799;p36"/>
          <p:cNvSpPr/>
          <p:nvPr/>
        </p:nvSpPr>
        <p:spPr>
          <a:xfrm>
            <a:off x="8112600" y="38467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0" name="Google Shape;800;p36"/>
          <p:cNvSpPr/>
          <p:nvPr/>
        </p:nvSpPr>
        <p:spPr>
          <a:xfrm>
            <a:off x="8112600" y="370730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1" name="Google Shape;801;p36"/>
          <p:cNvSpPr/>
          <p:nvPr/>
        </p:nvSpPr>
        <p:spPr>
          <a:xfrm>
            <a:off x="8115175" y="396912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2" name="Google Shape;802;p36"/>
          <p:cNvSpPr/>
          <p:nvPr/>
        </p:nvSpPr>
        <p:spPr>
          <a:xfrm>
            <a:off x="8112600" y="36975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3" name="Google Shape;803;p36"/>
          <p:cNvSpPr/>
          <p:nvPr/>
        </p:nvSpPr>
        <p:spPr>
          <a:xfrm>
            <a:off x="8112600" y="382422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4" name="Google Shape;804;p36"/>
          <p:cNvSpPr/>
          <p:nvPr/>
        </p:nvSpPr>
        <p:spPr>
          <a:xfrm>
            <a:off x="8112600" y="399377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5" name="Google Shape;805;p36"/>
          <p:cNvSpPr/>
          <p:nvPr/>
        </p:nvSpPr>
        <p:spPr>
          <a:xfrm>
            <a:off x="8112600" y="161542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6" name="Google Shape;806;p36"/>
          <p:cNvSpPr/>
          <p:nvPr/>
        </p:nvSpPr>
        <p:spPr>
          <a:xfrm>
            <a:off x="8112600" y="1720538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7" name="Google Shape;807;p36"/>
          <p:cNvSpPr/>
          <p:nvPr/>
        </p:nvSpPr>
        <p:spPr>
          <a:xfrm>
            <a:off x="8115175" y="193075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8" name="Google Shape;808;p36"/>
          <p:cNvSpPr/>
          <p:nvPr/>
        </p:nvSpPr>
        <p:spPr>
          <a:xfrm>
            <a:off x="8115175" y="17688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9" name="Google Shape;809;p36"/>
          <p:cNvSpPr/>
          <p:nvPr/>
        </p:nvSpPr>
        <p:spPr>
          <a:xfrm>
            <a:off x="8115175" y="189277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0" name="Google Shape;810;p36"/>
          <p:cNvSpPr/>
          <p:nvPr/>
        </p:nvSpPr>
        <p:spPr>
          <a:xfrm>
            <a:off x="8112600" y="259792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1" name="Google Shape;811;p36"/>
          <p:cNvSpPr/>
          <p:nvPr/>
        </p:nvSpPr>
        <p:spPr>
          <a:xfrm>
            <a:off x="8112600" y="2747763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2" name="Google Shape;812;p36"/>
          <p:cNvSpPr/>
          <p:nvPr/>
        </p:nvSpPr>
        <p:spPr>
          <a:xfrm>
            <a:off x="8115175" y="30020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3" name="Google Shape;813;p36"/>
          <p:cNvSpPr/>
          <p:nvPr/>
        </p:nvSpPr>
        <p:spPr>
          <a:xfrm>
            <a:off x="8112600" y="18075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4" name="Google Shape;814;p36"/>
          <p:cNvSpPr/>
          <p:nvPr/>
        </p:nvSpPr>
        <p:spPr>
          <a:xfrm>
            <a:off x="8112600" y="208387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5" name="Google Shape;815;p36"/>
          <p:cNvSpPr txBox="1"/>
          <p:nvPr/>
        </p:nvSpPr>
        <p:spPr>
          <a:xfrm>
            <a:off x="7828350" y="1348125"/>
            <a:ext cx="1172100" cy="1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Score = 1</a:t>
            </a:r>
            <a:endParaRPr sz="800"/>
          </a:p>
        </p:txBody>
      </p:sp>
      <p:sp>
        <p:nvSpPr>
          <p:cNvPr id="816" name="Google Shape;816;p36"/>
          <p:cNvSpPr txBox="1"/>
          <p:nvPr/>
        </p:nvSpPr>
        <p:spPr>
          <a:xfrm>
            <a:off x="7828350" y="4091325"/>
            <a:ext cx="1172100" cy="1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Score = 0</a:t>
            </a:r>
            <a:endParaRPr sz="8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799DBA-0184-094D-88D4-42EBF66C6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113" y="2107611"/>
            <a:ext cx="6096000" cy="469900"/>
          </a:xfrm>
          <a:prstGeom prst="rect">
            <a:avLst/>
          </a:prstGeom>
        </p:spPr>
      </p:pic>
      <p:pic>
        <p:nvPicPr>
          <p:cNvPr id="6" name="Picture 5" descr="A picture containing object, clock&#10;&#10;Description automatically generated">
            <a:extLst>
              <a:ext uri="{FF2B5EF4-FFF2-40B4-BE49-F238E27FC236}">
                <a16:creationId xmlns:a16="http://schemas.microsoft.com/office/drawing/2014/main" id="{0AECC4A6-190B-CA44-8D99-1017832C10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6600" y="3875425"/>
            <a:ext cx="850900" cy="431800"/>
          </a:xfrm>
          <a:prstGeom prst="rect">
            <a:avLst/>
          </a:prstGeom>
        </p:spPr>
      </p:pic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91A1290-2C31-F347-BC54-E1728DCECA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5863" y="4450825"/>
            <a:ext cx="3746500" cy="495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21011"/>
            <a:ext cx="8520600" cy="572700"/>
          </a:xfrm>
        </p:spPr>
        <p:txBody>
          <a:bodyPr/>
          <a:lstStyle/>
          <a:p>
            <a:r>
              <a:rPr lang="en-US" dirty="0"/>
              <a:t>Calibration vs Discriminative Power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0425" y="640973"/>
            <a:ext cx="4432285" cy="44322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-272716" y="-1748589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11700" y="1340643"/>
            <a:ext cx="1976636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Logistic (</a:t>
            </a:r>
            <a:r>
              <a:rPr lang="en-US" dirty="0" err="1"/>
              <a:t>th</a:t>
            </a:r>
            <a:r>
              <a:rPr lang="en-US" dirty="0"/>
              <a:t>=0.5):</a:t>
            </a:r>
          </a:p>
          <a:p>
            <a:r>
              <a:rPr lang="en-US" dirty="0"/>
              <a:t>  Precision: 0.872</a:t>
            </a:r>
          </a:p>
          <a:p>
            <a:r>
              <a:rPr lang="en-US" dirty="0"/>
              <a:t>  Recall: 0.851</a:t>
            </a:r>
          </a:p>
          <a:p>
            <a:r>
              <a:rPr lang="en-US" dirty="0"/>
              <a:t>  F1: 0.862</a:t>
            </a:r>
          </a:p>
          <a:p>
            <a:r>
              <a:rPr lang="en-US" dirty="0">
                <a:solidFill>
                  <a:srgbClr val="FF0000"/>
                </a:solidFill>
              </a:rPr>
              <a:t>  Brier: 0.099</a:t>
            </a:r>
          </a:p>
          <a:p>
            <a:endParaRPr lang="en-US" dirty="0"/>
          </a:p>
          <a:p>
            <a:r>
              <a:rPr lang="en-US" dirty="0"/>
              <a:t>SVC (</a:t>
            </a:r>
            <a:r>
              <a:rPr lang="en-US" dirty="0" err="1"/>
              <a:t>th</a:t>
            </a:r>
            <a:r>
              <a:rPr lang="en-US" dirty="0"/>
              <a:t>=0.5):</a:t>
            </a:r>
          </a:p>
          <a:p>
            <a:r>
              <a:rPr lang="en-US" dirty="0"/>
              <a:t>  Precision: 0.872</a:t>
            </a:r>
          </a:p>
          <a:p>
            <a:r>
              <a:rPr lang="en-US" dirty="0"/>
              <a:t>  Recall: 0.852</a:t>
            </a:r>
          </a:p>
          <a:p>
            <a:r>
              <a:rPr lang="en-US" dirty="0"/>
              <a:t>  F1: 0.862</a:t>
            </a:r>
          </a:p>
          <a:p>
            <a:r>
              <a:rPr lang="en-US" dirty="0">
                <a:solidFill>
                  <a:srgbClr val="FF0000"/>
                </a:solidFill>
              </a:rPr>
              <a:t>  Brier: 0.163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191618-C538-D04C-86A3-0952BA12E197}"/>
              </a:ext>
            </a:extLst>
          </p:cNvPr>
          <p:cNvSpPr txBox="1"/>
          <p:nvPr/>
        </p:nvSpPr>
        <p:spPr>
          <a:xfrm>
            <a:off x="7854041" y="3249387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27A2E8-0B20-894E-B98D-D866F24F5249}"/>
              </a:ext>
            </a:extLst>
          </p:cNvPr>
          <p:cNvSpPr txBox="1"/>
          <p:nvPr/>
        </p:nvSpPr>
        <p:spPr>
          <a:xfrm>
            <a:off x="1975737" y="1340643"/>
            <a:ext cx="17972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Fraction of Positives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CC9632-05C1-6346-99AA-4B996322FDFA}"/>
              </a:ext>
            </a:extLst>
          </p:cNvPr>
          <p:cNvSpPr txBox="1"/>
          <p:nvPr/>
        </p:nvSpPr>
        <p:spPr>
          <a:xfrm>
            <a:off x="2288336" y="3802856"/>
            <a:ext cx="10005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Histogram</a:t>
            </a:r>
          </a:p>
        </p:txBody>
      </p:sp>
    </p:spTree>
    <p:extLst>
      <p:ext uri="{BB962C8B-B14F-4D97-AF65-F5344CB8AC3E}">
        <p14:creationId xmlns:p14="http://schemas.microsoft.com/office/powerpoint/2010/main" val="13868546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Unsupervised Learning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 P(x) is a measure of fit in Probabilistic models (GMM, Factor Analysis)</a:t>
            </a:r>
          </a:p>
          <a:p>
            <a:pPr lvl="1"/>
            <a:r>
              <a:rPr lang="en-US" dirty="0"/>
              <a:t>High log P(x) on training set, but low log P(x) on test set is a measure of overfitting</a:t>
            </a:r>
          </a:p>
          <a:p>
            <a:pPr lvl="1"/>
            <a:r>
              <a:rPr lang="en-US" dirty="0"/>
              <a:t>Raw value of log P(x) hard to interpret in isolation</a:t>
            </a:r>
          </a:p>
          <a:p>
            <a:pPr marL="596900" lvl="1" indent="0">
              <a:buNone/>
            </a:pPr>
            <a:endParaRPr lang="en-US" dirty="0"/>
          </a:p>
          <a:p>
            <a:r>
              <a:rPr lang="en-US" dirty="0"/>
              <a:t>K-means is trickier (because of fixed covariance assumption)</a:t>
            </a:r>
          </a:p>
        </p:txBody>
      </p:sp>
    </p:spTree>
    <p:extLst>
      <p:ext uri="{BB962C8B-B14F-4D97-AF65-F5344CB8AC3E}">
        <p14:creationId xmlns:p14="http://schemas.microsoft.com/office/powerpoint/2010/main" val="10600357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Class Imbalance</a:t>
            </a:r>
            <a:endParaRPr dirty="0"/>
          </a:p>
        </p:txBody>
      </p:sp>
      <p:sp>
        <p:nvSpPr>
          <p:cNvPr id="823" name="Google Shape;823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Symptom: Prevalence &lt; 5% (no strict definition)</a:t>
            </a:r>
            <a:endParaRPr sz="1600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 dirty="0"/>
              <a:t>Metrics: May not be meaningful.</a:t>
            </a:r>
            <a:endParaRPr sz="1600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 dirty="0"/>
              <a:t>Learning: May not focus on minority class examples at all</a:t>
            </a: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 dirty="0"/>
              <a:t>(majority class can overwhelm logistic regression, to a lesser extent SVM)</a:t>
            </a:r>
            <a:endParaRPr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happen to the metrics under class imbalance?</a:t>
            </a:r>
            <a:endParaRPr dirty="0"/>
          </a:p>
        </p:txBody>
      </p:sp>
      <p:sp>
        <p:nvSpPr>
          <p:cNvPr id="829" name="Google Shape;829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Accuracy: Blindly predicts majority class -&gt; prevalence is the baseline.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Log-Loss: Majority class can dominate the loss.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/>
              <a:t>AUROC: Easy to keep AUC high by scoring most negatives very low.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/>
              <a:t>AUPRC: Somewhat more robust than AUROC. But other challenges.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dirty="0"/>
              <a:t>In general:     Accuracy  &lt; AUROC  &lt; AUPRC</a:t>
            </a:r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oogle Shape;716;p35">
            <a:extLst>
              <a:ext uri="{FF2B5EF4-FFF2-40B4-BE49-F238E27FC236}">
                <a16:creationId xmlns:a16="http://schemas.microsoft.com/office/drawing/2014/main" id="{0A5FF50E-421B-0947-833C-C776E443F369}"/>
              </a:ext>
            </a:extLst>
          </p:cNvPr>
          <p:cNvCxnSpPr/>
          <p:nvPr/>
        </p:nvCxnSpPr>
        <p:spPr>
          <a:xfrm>
            <a:off x="1728267" y="737335"/>
            <a:ext cx="6417" cy="39225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Google Shape;719;p35">
            <a:extLst>
              <a:ext uri="{FF2B5EF4-FFF2-40B4-BE49-F238E27FC236}">
                <a16:creationId xmlns:a16="http://schemas.microsoft.com/office/drawing/2014/main" id="{1B3F6AA6-4865-4648-89E9-911F5FC17C45}"/>
              </a:ext>
            </a:extLst>
          </p:cNvPr>
          <p:cNvSpPr/>
          <p:nvPr/>
        </p:nvSpPr>
        <p:spPr>
          <a:xfrm>
            <a:off x="1665206" y="2306419"/>
            <a:ext cx="124670" cy="137962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20;p35">
            <a:extLst>
              <a:ext uri="{FF2B5EF4-FFF2-40B4-BE49-F238E27FC236}">
                <a16:creationId xmlns:a16="http://schemas.microsoft.com/office/drawing/2014/main" id="{A6A7E479-7D6B-CE4B-B9D4-E09BF1DA1BC2}"/>
              </a:ext>
            </a:extLst>
          </p:cNvPr>
          <p:cNvSpPr/>
          <p:nvPr/>
        </p:nvSpPr>
        <p:spPr>
          <a:xfrm>
            <a:off x="1669140" y="3056069"/>
            <a:ext cx="124670" cy="137962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721;p35">
            <a:extLst>
              <a:ext uri="{FF2B5EF4-FFF2-40B4-BE49-F238E27FC236}">
                <a16:creationId xmlns:a16="http://schemas.microsoft.com/office/drawing/2014/main" id="{0D3C55B7-BEF6-974D-BA3D-AA9BD89E598F}"/>
              </a:ext>
            </a:extLst>
          </p:cNvPr>
          <p:cNvSpPr/>
          <p:nvPr/>
        </p:nvSpPr>
        <p:spPr>
          <a:xfrm>
            <a:off x="1665206" y="3387262"/>
            <a:ext cx="124670" cy="137962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722;p35">
            <a:extLst>
              <a:ext uri="{FF2B5EF4-FFF2-40B4-BE49-F238E27FC236}">
                <a16:creationId xmlns:a16="http://schemas.microsoft.com/office/drawing/2014/main" id="{04BAD32D-6530-D14E-9339-93405C19C0CB}"/>
              </a:ext>
            </a:extLst>
          </p:cNvPr>
          <p:cNvSpPr/>
          <p:nvPr/>
        </p:nvSpPr>
        <p:spPr>
          <a:xfrm>
            <a:off x="1665206" y="3639887"/>
            <a:ext cx="124670" cy="137962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723;p35">
            <a:extLst>
              <a:ext uri="{FF2B5EF4-FFF2-40B4-BE49-F238E27FC236}">
                <a16:creationId xmlns:a16="http://schemas.microsoft.com/office/drawing/2014/main" id="{3C0993CB-A1C6-434B-82A1-AFE094C3ACFA}"/>
              </a:ext>
            </a:extLst>
          </p:cNvPr>
          <p:cNvSpPr/>
          <p:nvPr/>
        </p:nvSpPr>
        <p:spPr>
          <a:xfrm>
            <a:off x="1669140" y="3807069"/>
            <a:ext cx="124670" cy="137962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724;p35">
            <a:extLst>
              <a:ext uri="{FF2B5EF4-FFF2-40B4-BE49-F238E27FC236}">
                <a16:creationId xmlns:a16="http://schemas.microsoft.com/office/drawing/2014/main" id="{2F07D3FB-B2BB-4941-8B5B-BDC414CBB260}"/>
              </a:ext>
            </a:extLst>
          </p:cNvPr>
          <p:cNvSpPr/>
          <p:nvPr/>
        </p:nvSpPr>
        <p:spPr>
          <a:xfrm>
            <a:off x="1665206" y="3974251"/>
            <a:ext cx="124670" cy="137962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725;p35">
            <a:extLst>
              <a:ext uri="{FF2B5EF4-FFF2-40B4-BE49-F238E27FC236}">
                <a16:creationId xmlns:a16="http://schemas.microsoft.com/office/drawing/2014/main" id="{2E98B186-447F-964B-AB02-4B812ECB1072}"/>
              </a:ext>
            </a:extLst>
          </p:cNvPr>
          <p:cNvSpPr/>
          <p:nvPr/>
        </p:nvSpPr>
        <p:spPr>
          <a:xfrm>
            <a:off x="1665206" y="4167787"/>
            <a:ext cx="124670" cy="137962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726;p35">
            <a:extLst>
              <a:ext uri="{FF2B5EF4-FFF2-40B4-BE49-F238E27FC236}">
                <a16:creationId xmlns:a16="http://schemas.microsoft.com/office/drawing/2014/main" id="{17D642C8-129B-044D-B292-CCDF8B0D6B76}"/>
              </a:ext>
            </a:extLst>
          </p:cNvPr>
          <p:cNvSpPr/>
          <p:nvPr/>
        </p:nvSpPr>
        <p:spPr>
          <a:xfrm>
            <a:off x="1665206" y="4426829"/>
            <a:ext cx="124670" cy="137962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730;p35">
            <a:extLst>
              <a:ext uri="{FF2B5EF4-FFF2-40B4-BE49-F238E27FC236}">
                <a16:creationId xmlns:a16="http://schemas.microsoft.com/office/drawing/2014/main" id="{0E850880-95CD-0542-AFE3-B0B881C12DF9}"/>
              </a:ext>
            </a:extLst>
          </p:cNvPr>
          <p:cNvSpPr/>
          <p:nvPr/>
        </p:nvSpPr>
        <p:spPr>
          <a:xfrm>
            <a:off x="1669140" y="1493147"/>
            <a:ext cx="124670" cy="137962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731;p35">
            <a:extLst>
              <a:ext uri="{FF2B5EF4-FFF2-40B4-BE49-F238E27FC236}">
                <a16:creationId xmlns:a16="http://schemas.microsoft.com/office/drawing/2014/main" id="{98C7711E-EBBB-C24E-8D21-6E65C6A1009E}"/>
              </a:ext>
            </a:extLst>
          </p:cNvPr>
          <p:cNvSpPr/>
          <p:nvPr/>
        </p:nvSpPr>
        <p:spPr>
          <a:xfrm>
            <a:off x="1669140" y="1682559"/>
            <a:ext cx="124670" cy="137962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734;p35">
            <a:extLst>
              <a:ext uri="{FF2B5EF4-FFF2-40B4-BE49-F238E27FC236}">
                <a16:creationId xmlns:a16="http://schemas.microsoft.com/office/drawing/2014/main" id="{634BCCDE-1A3D-FD40-9C3E-F0FCCD144F56}"/>
              </a:ext>
            </a:extLst>
          </p:cNvPr>
          <p:cNvSpPr/>
          <p:nvPr/>
        </p:nvSpPr>
        <p:spPr>
          <a:xfrm>
            <a:off x="1669140" y="2049926"/>
            <a:ext cx="124670" cy="137962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736;p35">
            <a:extLst>
              <a:ext uri="{FF2B5EF4-FFF2-40B4-BE49-F238E27FC236}">
                <a16:creationId xmlns:a16="http://schemas.microsoft.com/office/drawing/2014/main" id="{30D642C0-3D7E-EE4F-A474-E0F3F43FF681}"/>
              </a:ext>
            </a:extLst>
          </p:cNvPr>
          <p:cNvSpPr/>
          <p:nvPr/>
        </p:nvSpPr>
        <p:spPr>
          <a:xfrm>
            <a:off x="1665206" y="1858105"/>
            <a:ext cx="124670" cy="137962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737;p35">
            <a:extLst>
              <a:ext uri="{FF2B5EF4-FFF2-40B4-BE49-F238E27FC236}">
                <a16:creationId xmlns:a16="http://schemas.microsoft.com/office/drawing/2014/main" id="{72AF0FD3-9CFD-D34F-AC36-9C60C099A005}"/>
              </a:ext>
            </a:extLst>
          </p:cNvPr>
          <p:cNvSpPr txBox="1"/>
          <p:nvPr/>
        </p:nvSpPr>
        <p:spPr>
          <a:xfrm>
            <a:off x="1230923" y="384752"/>
            <a:ext cx="179075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Score = 1</a:t>
            </a:r>
            <a:endParaRPr sz="800"/>
          </a:p>
        </p:txBody>
      </p:sp>
      <p:sp>
        <p:nvSpPr>
          <p:cNvPr id="27" name="Google Shape;738;p35">
            <a:extLst>
              <a:ext uri="{FF2B5EF4-FFF2-40B4-BE49-F238E27FC236}">
                <a16:creationId xmlns:a16="http://schemas.microsoft.com/office/drawing/2014/main" id="{6C445B6D-4615-9649-BB17-5222F60C6ADE}"/>
              </a:ext>
            </a:extLst>
          </p:cNvPr>
          <p:cNvSpPr txBox="1"/>
          <p:nvPr/>
        </p:nvSpPr>
        <p:spPr>
          <a:xfrm>
            <a:off x="1230923" y="4575868"/>
            <a:ext cx="179075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Score = 0</a:t>
            </a:r>
            <a:endParaRPr sz="800"/>
          </a:p>
        </p:txBody>
      </p:sp>
      <p:sp>
        <p:nvSpPr>
          <p:cNvPr id="28" name="Google Shape;719;p35">
            <a:extLst>
              <a:ext uri="{FF2B5EF4-FFF2-40B4-BE49-F238E27FC236}">
                <a16:creationId xmlns:a16="http://schemas.microsoft.com/office/drawing/2014/main" id="{9DC3BCBA-5871-094C-AF72-248ABED7BD7B}"/>
              </a:ext>
            </a:extLst>
          </p:cNvPr>
          <p:cNvSpPr/>
          <p:nvPr/>
        </p:nvSpPr>
        <p:spPr>
          <a:xfrm>
            <a:off x="1676926" y="1280644"/>
            <a:ext cx="124670" cy="137962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719;p35">
            <a:extLst>
              <a:ext uri="{FF2B5EF4-FFF2-40B4-BE49-F238E27FC236}">
                <a16:creationId xmlns:a16="http://schemas.microsoft.com/office/drawing/2014/main" id="{09078B8E-3495-E546-B1A6-38F22301C9D1}"/>
              </a:ext>
            </a:extLst>
          </p:cNvPr>
          <p:cNvSpPr/>
          <p:nvPr/>
        </p:nvSpPr>
        <p:spPr>
          <a:xfrm>
            <a:off x="1671061" y="1081348"/>
            <a:ext cx="124670" cy="137962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719;p35">
            <a:extLst>
              <a:ext uri="{FF2B5EF4-FFF2-40B4-BE49-F238E27FC236}">
                <a16:creationId xmlns:a16="http://schemas.microsoft.com/office/drawing/2014/main" id="{AD699EDC-4AD4-4E48-A1BD-0C072B903E4C}"/>
              </a:ext>
            </a:extLst>
          </p:cNvPr>
          <p:cNvSpPr/>
          <p:nvPr/>
        </p:nvSpPr>
        <p:spPr>
          <a:xfrm>
            <a:off x="1671061" y="835166"/>
            <a:ext cx="124670" cy="137962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719;p35">
            <a:extLst>
              <a:ext uri="{FF2B5EF4-FFF2-40B4-BE49-F238E27FC236}">
                <a16:creationId xmlns:a16="http://schemas.microsoft.com/office/drawing/2014/main" id="{6A4B6302-EA67-594D-905A-DC93E5861E8E}"/>
              </a:ext>
            </a:extLst>
          </p:cNvPr>
          <p:cNvSpPr/>
          <p:nvPr/>
        </p:nvSpPr>
        <p:spPr>
          <a:xfrm>
            <a:off x="1671061" y="1011012"/>
            <a:ext cx="124670" cy="137962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7FBB77C-4F7C-5E4D-9DE6-C1D191359B7D}"/>
              </a:ext>
            </a:extLst>
          </p:cNvPr>
          <p:cNvSpPr txBox="1"/>
          <p:nvPr/>
        </p:nvSpPr>
        <p:spPr>
          <a:xfrm>
            <a:off x="316523" y="930768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F5537CF-ACEC-2C4E-88AA-2A833A687642}"/>
              </a:ext>
            </a:extLst>
          </p:cNvPr>
          <p:cNvSpPr txBox="1"/>
          <p:nvPr/>
        </p:nvSpPr>
        <p:spPr>
          <a:xfrm>
            <a:off x="316523" y="1641692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D667374-2FC6-1841-BDC3-0A0C5882C051}"/>
              </a:ext>
            </a:extLst>
          </p:cNvPr>
          <p:cNvSpPr txBox="1"/>
          <p:nvPr/>
        </p:nvSpPr>
        <p:spPr>
          <a:xfrm>
            <a:off x="325137" y="3108780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98%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19767DF-68E9-4E4C-9705-FADB971A1989}"/>
              </a:ext>
            </a:extLst>
          </p:cNvPr>
          <p:cNvGrpSpPr/>
          <p:nvPr/>
        </p:nvGrpSpPr>
        <p:grpSpPr>
          <a:xfrm>
            <a:off x="2032719" y="259855"/>
            <a:ext cx="6307990" cy="4810422"/>
            <a:chOff x="2032719" y="259855"/>
            <a:chExt cx="6307990" cy="4810422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76E0C36-F879-2E4B-B296-FC76591B5AA9}"/>
                </a:ext>
              </a:extLst>
            </p:cNvPr>
            <p:cNvSpPr/>
            <p:nvPr/>
          </p:nvSpPr>
          <p:spPr>
            <a:xfrm>
              <a:off x="3675185" y="737336"/>
              <a:ext cx="4413738" cy="402035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4000" b="1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6747FF1-EC4F-A74E-B5DB-0006CFD304FD}"/>
                </a:ext>
              </a:extLst>
            </p:cNvPr>
            <p:cNvSpPr txBox="1"/>
            <p:nvPr/>
          </p:nvSpPr>
          <p:spPr>
            <a:xfrm>
              <a:off x="5251913" y="259855"/>
              <a:ext cx="126028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Rotated ROC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09EE8CC-D846-5E48-9C01-DE0ADD283F81}"/>
                </a:ext>
              </a:extLst>
            </p:cNvPr>
            <p:cNvSpPr txBox="1"/>
            <p:nvPr/>
          </p:nvSpPr>
          <p:spPr>
            <a:xfrm>
              <a:off x="2032719" y="1558911"/>
              <a:ext cx="156164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Specificity</a:t>
              </a:r>
            </a:p>
            <a:p>
              <a:r>
                <a:rPr lang="en-US" dirty="0"/>
                <a:t>= True Neg / Neg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812B8A9-493D-3C4F-BA97-0AC6F87E8937}"/>
                </a:ext>
              </a:extLst>
            </p:cNvPr>
            <p:cNvSpPr txBox="1"/>
            <p:nvPr/>
          </p:nvSpPr>
          <p:spPr>
            <a:xfrm>
              <a:off x="5959929" y="4762500"/>
              <a:ext cx="2380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Sensitivity = True Pos / Pos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491841AF-6444-F84D-9B60-B5EE5DFB3BBB}"/>
              </a:ext>
            </a:extLst>
          </p:cNvPr>
          <p:cNvGrpSpPr/>
          <p:nvPr/>
        </p:nvGrpSpPr>
        <p:grpSpPr>
          <a:xfrm>
            <a:off x="3675185" y="737335"/>
            <a:ext cx="4413738" cy="4020357"/>
            <a:chOff x="3675185" y="737335"/>
            <a:chExt cx="4413738" cy="4020357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73D6F7F-0396-B34E-9F8A-3D229133FAA8}"/>
                </a:ext>
              </a:extLst>
            </p:cNvPr>
            <p:cNvCxnSpPr/>
            <p:nvPr/>
          </p:nvCxnSpPr>
          <p:spPr>
            <a:xfrm>
              <a:off x="3675185" y="737335"/>
              <a:ext cx="0" cy="543309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FF24A90-710B-F147-89F6-479C54FAEEF4}"/>
                </a:ext>
              </a:extLst>
            </p:cNvPr>
            <p:cNvCxnSpPr/>
            <p:nvPr/>
          </p:nvCxnSpPr>
          <p:spPr>
            <a:xfrm>
              <a:off x="3675185" y="1273715"/>
              <a:ext cx="4413738" cy="0"/>
            </a:xfrm>
            <a:prstGeom prst="line">
              <a:avLst/>
            </a:prstGeom>
            <a:ln w="508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9F3408C1-2EA8-8943-B10A-D1654DB22C10}"/>
                </a:ext>
              </a:extLst>
            </p:cNvPr>
            <p:cNvCxnSpPr>
              <a:cxnSpLocks/>
            </p:cNvCxnSpPr>
            <p:nvPr/>
          </p:nvCxnSpPr>
          <p:spPr>
            <a:xfrm>
              <a:off x="8083062" y="1239882"/>
              <a:ext cx="0" cy="3517810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63F1A8A-761F-3F45-B961-1827560F93FF}"/>
              </a:ext>
            </a:extLst>
          </p:cNvPr>
          <p:cNvGrpSpPr/>
          <p:nvPr/>
        </p:nvGrpSpPr>
        <p:grpSpPr>
          <a:xfrm>
            <a:off x="653145" y="935715"/>
            <a:ext cx="2655224" cy="482891"/>
            <a:chOff x="653145" y="935715"/>
            <a:chExt cx="2655224" cy="482891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6328F69-A89D-5346-BD4C-59E909A677A0}"/>
                </a:ext>
              </a:extLst>
            </p:cNvPr>
            <p:cNvSpPr txBox="1"/>
            <p:nvPr/>
          </p:nvSpPr>
          <p:spPr>
            <a:xfrm>
              <a:off x="2039136" y="935715"/>
              <a:ext cx="126923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“Fraudulent”</a:t>
              </a:r>
            </a:p>
          </p:txBody>
        </p: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C522BDD5-647D-9947-B78F-21004613501F}"/>
                </a:ext>
              </a:extLst>
            </p:cNvPr>
            <p:cNvCxnSpPr>
              <a:cxnSpLocks/>
            </p:cNvCxnSpPr>
            <p:nvPr/>
          </p:nvCxnSpPr>
          <p:spPr>
            <a:xfrm>
              <a:off x="653145" y="1418606"/>
              <a:ext cx="2188029" cy="0"/>
            </a:xfrm>
            <a:prstGeom prst="line">
              <a:avLst/>
            </a:prstGeom>
            <a:ln w="50800">
              <a:solidFill>
                <a:schemeClr val="accent5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40FF1E48-0728-1846-A10F-626CC4285D04}"/>
              </a:ext>
            </a:extLst>
          </p:cNvPr>
          <p:cNvSpPr txBox="1"/>
          <p:nvPr/>
        </p:nvSpPr>
        <p:spPr>
          <a:xfrm>
            <a:off x="4538064" y="2616338"/>
            <a:ext cx="2843729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AUC = 98/99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724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Multi-class</a:t>
            </a:r>
            <a:endParaRPr dirty="0"/>
          </a:p>
        </p:txBody>
      </p:sp>
      <p:sp>
        <p:nvSpPr>
          <p:cNvPr id="835" name="Google Shape;835;p3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Confusion matrix will be N * N (still want heavy diagonals, light off-diagonals)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Most metrics (except accuracy) generally </a:t>
            </a:r>
            <a:r>
              <a:rPr lang="en-US" dirty="0"/>
              <a:t>analyzed</a:t>
            </a:r>
            <a:r>
              <a:rPr lang="en" dirty="0"/>
              <a:t> as multiple 1-vs-many</a:t>
            </a:r>
            <a:endParaRPr lang="en-US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Multiclass variants of AUROC and AUPRC (micro vs macro averaging)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Class imbalance is common (both in absolute and relative sense)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Cost sensitive learning techniques (also helps in binary Imbalance)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Assign weights for each block in the confusion matrix.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Incorporate weights into the loss function.</a:t>
            </a:r>
            <a:endParaRPr lang="en-US" dirty="0"/>
          </a:p>
          <a:p>
            <a:pPr marL="139700" indent="0">
              <a:buSzPts val="1400"/>
              <a:buNone/>
            </a:pPr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Metrics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800100"/>
            <a:ext cx="8520600" cy="3768775"/>
          </a:xfrm>
        </p:spPr>
        <p:txBody>
          <a:bodyPr/>
          <a:lstStyle/>
          <a:p>
            <a:pPr marL="0" lvl="0" indent="0">
              <a:spcBef>
                <a:spcPts val="1600"/>
              </a:spcBef>
              <a:buNone/>
            </a:pPr>
            <a:r>
              <a:rPr lang="en-US" dirty="0" err="1"/>
              <a:t>Som</a:t>
            </a:r>
            <a:r>
              <a:rPr lang="en" dirty="0"/>
              <a:t>e</a:t>
            </a:r>
            <a:r>
              <a:rPr lang="en-US" dirty="0"/>
              <a:t> common</a:t>
            </a:r>
            <a:r>
              <a:rPr lang="en" dirty="0"/>
              <a:t> patterns:</a:t>
            </a:r>
          </a:p>
          <a:p>
            <a:pPr lvl="0">
              <a:spcBef>
                <a:spcPts val="1600"/>
              </a:spcBef>
              <a:buChar char="-"/>
            </a:pPr>
            <a:r>
              <a:rPr lang="en" dirty="0"/>
              <a:t>High precision is hard constraint, do best recall (search engine results, grammar correction): Intolerant to FP</a:t>
            </a:r>
            <a:endParaRPr lang="en-US" dirty="0"/>
          </a:p>
          <a:p>
            <a:pPr lvl="1">
              <a:buChar char="-"/>
            </a:pPr>
            <a:r>
              <a:rPr lang="en-US" dirty="0"/>
              <a:t>Metric: Recall at Precision = XX %</a:t>
            </a:r>
            <a:endParaRPr lang="en" dirty="0"/>
          </a:p>
          <a:p>
            <a:pPr lvl="0">
              <a:buChar char="-"/>
            </a:pPr>
            <a:r>
              <a:rPr lang="en" dirty="0"/>
              <a:t>High recall is hard constraint, do best precision (medical diagnosis)</a:t>
            </a:r>
            <a:r>
              <a:rPr lang="en-US" dirty="0"/>
              <a:t>: Intolerant </a:t>
            </a:r>
            <a:r>
              <a:rPr lang="en" dirty="0"/>
              <a:t>to FN</a:t>
            </a:r>
            <a:endParaRPr lang="en-US" dirty="0"/>
          </a:p>
          <a:p>
            <a:pPr lvl="1">
              <a:buChar char="-"/>
            </a:pPr>
            <a:r>
              <a:rPr lang="en-US" dirty="0"/>
              <a:t>Metric: Precision at Recall = 100 %</a:t>
            </a:r>
            <a:endParaRPr lang="en" dirty="0"/>
          </a:p>
          <a:p>
            <a:pPr lvl="0">
              <a:buChar char="-"/>
            </a:pPr>
            <a:r>
              <a:rPr lang="en" dirty="0"/>
              <a:t>Capacity constrained</a:t>
            </a:r>
            <a:r>
              <a:rPr lang="en-US" dirty="0"/>
              <a:t> (by K)</a:t>
            </a:r>
          </a:p>
          <a:p>
            <a:pPr lvl="1">
              <a:buChar char="-"/>
            </a:pPr>
            <a:r>
              <a:rPr lang="en-US" dirty="0"/>
              <a:t>Metric:</a:t>
            </a:r>
            <a:r>
              <a:rPr lang="en" dirty="0"/>
              <a:t> Precision in top-K</a:t>
            </a:r>
            <a:r>
              <a:rPr lang="en-US" dirty="0"/>
              <a:t>.</a:t>
            </a:r>
          </a:p>
          <a:p>
            <a:pPr lvl="0">
              <a:buChar char="-"/>
            </a:pPr>
            <a:r>
              <a:rPr lang="en-US" dirty="0"/>
              <a:t>……</a:t>
            </a:r>
          </a:p>
        </p:txBody>
      </p:sp>
    </p:spTree>
    <p:extLst>
      <p:ext uri="{BB962C8B-B14F-4D97-AF65-F5344CB8AC3E}">
        <p14:creationId xmlns:p14="http://schemas.microsoft.com/office/powerpoint/2010/main" val="792048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0"/>
          <p:cNvSpPr txBox="1">
            <a:spLocks noGrp="1"/>
          </p:cNvSpPr>
          <p:nvPr>
            <p:ph type="title"/>
          </p:nvPr>
        </p:nvSpPr>
        <p:spPr>
          <a:xfrm>
            <a:off x="311700" y="2121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1277</TotalTime>
  <Words>2780</Words>
  <Application>Microsoft Macintosh PowerPoint</Application>
  <PresentationFormat>On-screen Show (16:9)</PresentationFormat>
  <Paragraphs>703</Paragraphs>
  <Slides>31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3" baseType="lpstr">
      <vt:lpstr>Arial</vt:lpstr>
      <vt:lpstr>Simple Light</vt:lpstr>
      <vt:lpstr>Evaluation Metrics CS229</vt:lpstr>
      <vt:lpstr>Topics</vt:lpstr>
      <vt:lpstr>Why are metrics important?</vt:lpstr>
      <vt:lpstr>Binary Classification</vt:lpstr>
      <vt:lpstr>Score based models</vt:lpstr>
      <vt:lpstr>Threshold -&gt; Classifier -&gt; Point Metrics</vt:lpstr>
      <vt:lpstr>Point metrics: Confusion Matrix</vt:lpstr>
      <vt:lpstr>Point metrics: True Positives </vt:lpstr>
      <vt:lpstr>Point metrics: True Negatives </vt:lpstr>
      <vt:lpstr>Point metrics: False Positives </vt:lpstr>
      <vt:lpstr>Point metrics: False Negatives </vt:lpstr>
      <vt:lpstr>FP and FN also called Type-1 and Type-2 errors</vt:lpstr>
      <vt:lpstr>Point metrics: Accuracy </vt:lpstr>
      <vt:lpstr>Point metrics: Precision </vt:lpstr>
      <vt:lpstr>Point metrics: Positive Recall (Sensitivity) </vt:lpstr>
      <vt:lpstr>Point metrics: Negative Recall (Specificity) </vt:lpstr>
      <vt:lpstr>Point metrics: F1-score </vt:lpstr>
      <vt:lpstr>Point metrics: Changing threshold </vt:lpstr>
      <vt:lpstr>PowerPoint Presentation</vt:lpstr>
      <vt:lpstr>Summary metrics: Rotated ROC (Sen vs. Spec)</vt:lpstr>
      <vt:lpstr>Summary metrics: PRC (Recall vs. Precision)</vt:lpstr>
      <vt:lpstr>Summary metrics:</vt:lpstr>
      <vt:lpstr>Summary metrics: Log-Loss vs Brier Score</vt:lpstr>
      <vt:lpstr>Calibration vs Discriminative Power</vt:lpstr>
      <vt:lpstr>Unsupervised Learning</vt:lpstr>
      <vt:lpstr>Class Imbalance</vt:lpstr>
      <vt:lpstr>What happen to the metrics under class imbalance?</vt:lpstr>
      <vt:lpstr>PowerPoint Presentation</vt:lpstr>
      <vt:lpstr>Multi-class</vt:lpstr>
      <vt:lpstr>Choosing Metrics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Evaluation Metrics (Classifiers)</dc:title>
  <cp:lastModifiedBy>Yining Chen</cp:lastModifiedBy>
  <cp:revision>36</cp:revision>
  <dcterms:modified xsi:type="dcterms:W3CDTF">2020-05-01T16:24:24Z</dcterms:modified>
</cp:coreProperties>
</file>